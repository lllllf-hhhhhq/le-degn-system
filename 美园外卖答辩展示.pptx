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74" r:id="rId7"/>
    <p:sldId id="275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8" r:id="rId16"/>
    <p:sldId id="266" r:id="rId17"/>
    <p:sldId id="279" r:id="rId18"/>
    <p:sldId id="267" r:id="rId19"/>
    <p:sldId id="280" r:id="rId20"/>
    <p:sldId id="268" r:id="rId21"/>
    <p:sldId id="281" r:id="rId22"/>
    <p:sldId id="269" r:id="rId23"/>
    <p:sldId id="270" r:id="rId24"/>
    <p:sldId id="271" r:id="rId25"/>
    <p:sldId id="276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基于Android的手机外卖管理系统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914400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6" name="Text 4"/>
          <p:cNvSpPr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信息系统分析与设计 课程设计答辩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  ·  马鸣远  ·  王略帆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2026.07</a:t>
            </a:r>
            <a:endParaRPr lang="en-US" sz="1300" dirty="0"/>
          </a:p>
        </p:txBody>
      </p:sp>
      <p:sp>
        <p:nvSpPr>
          <p:cNvPr id="11" name="Shape 5"/>
          <p:cNvSpPr/>
          <p:nvPr>
            <p:custDataLst>
              <p:tags r:id="rId1"/>
            </p:custDataLst>
          </p:nvPr>
        </p:nvSpPr>
        <p:spPr>
          <a:xfrm>
            <a:off x="7084060" y="379095"/>
            <a:ext cx="1283335" cy="159131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2" name="Text 6"/>
          <p:cNvSpPr/>
          <p:nvPr>
            <p:custDataLst>
              <p:tags r:id="rId2"/>
            </p:custDataLst>
          </p:nvPr>
        </p:nvSpPr>
        <p:spPr>
          <a:xfrm>
            <a:off x="7219950" y="641985"/>
            <a:ext cx="146621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 40%</a:t>
            </a:r>
            <a:endParaRPr lang="en-US" sz="1200" b="1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7"/>
          <p:cNvSpPr/>
          <p:nvPr>
            <p:custDataLst>
              <p:tags r:id="rId3"/>
            </p:custDataLst>
          </p:nvPr>
        </p:nvSpPr>
        <p:spPr>
          <a:xfrm>
            <a:off x="7266940" y="417195"/>
            <a:ext cx="409575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4" name="Text 8"/>
          <p:cNvSpPr/>
          <p:nvPr>
            <p:custDataLst>
              <p:tags r:id="rId4"/>
            </p:custDataLst>
          </p:nvPr>
        </p:nvSpPr>
        <p:spPr>
          <a:xfrm>
            <a:off x="7266940" y="913130"/>
            <a:ext cx="1466215" cy="1029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版本演进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软删除机制</a:t>
            </a:r>
            <a:endParaRPr lang="en-US" sz="9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9"/>
          <p:cNvSpPr/>
          <p:nvPr>
            <p:custDataLst>
              <p:tags r:id="rId5"/>
            </p:custDataLst>
          </p:nvPr>
        </p:nvSpPr>
        <p:spPr>
          <a:xfrm>
            <a:off x="7084060" y="1980565"/>
            <a:ext cx="1283335" cy="155702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6" name="Text 10"/>
          <p:cNvSpPr/>
          <p:nvPr>
            <p:custDataLst>
              <p:tags r:id="rId6"/>
            </p:custDataLst>
          </p:nvPr>
        </p:nvSpPr>
        <p:spPr>
          <a:xfrm>
            <a:off x="7219950" y="2195195"/>
            <a:ext cx="146621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马鸣远  30%</a:t>
            </a:r>
            <a:endParaRPr lang="en-US" sz="1200" b="1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1"/>
          <p:cNvSpPr/>
          <p:nvPr>
            <p:custDataLst>
              <p:tags r:id="rId7"/>
            </p:custDataLst>
          </p:nvPr>
        </p:nvSpPr>
        <p:spPr>
          <a:xfrm>
            <a:off x="7266940" y="2018665"/>
            <a:ext cx="409575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8" name="Text 12"/>
          <p:cNvSpPr/>
          <p:nvPr>
            <p:custDataLst>
              <p:tags r:id="rId8"/>
            </p:custDataLst>
          </p:nvPr>
        </p:nvSpPr>
        <p:spPr>
          <a:xfrm>
            <a:off x="7266940" y="2514600"/>
            <a:ext cx="1466215" cy="1029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业务逻辑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状态机设计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购物车约束</a:t>
            </a:r>
            <a:endParaRPr lang="en-US" sz="9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3"/>
          <p:cNvSpPr/>
          <p:nvPr>
            <p:custDataLst>
              <p:tags r:id="rId9"/>
            </p:custDataLst>
          </p:nvPr>
        </p:nvSpPr>
        <p:spPr>
          <a:xfrm>
            <a:off x="7084060" y="3537585"/>
            <a:ext cx="1276985" cy="1463675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0" name="Text 14"/>
          <p:cNvSpPr/>
          <p:nvPr>
            <p:custDataLst>
              <p:tags r:id="rId10"/>
            </p:custDataLst>
          </p:nvPr>
        </p:nvSpPr>
        <p:spPr>
          <a:xfrm>
            <a:off x="7305675" y="3820795"/>
            <a:ext cx="146621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王略帆  30%</a:t>
            </a:r>
            <a:endParaRPr lang="en-US" sz="1200" b="1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5"/>
          <p:cNvSpPr/>
          <p:nvPr>
            <p:custDataLst>
              <p:tags r:id="rId11"/>
            </p:custDataLst>
          </p:nvPr>
        </p:nvSpPr>
        <p:spPr>
          <a:xfrm>
            <a:off x="7266940" y="3575685"/>
            <a:ext cx="409575" cy="762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2" name="Text 16"/>
          <p:cNvSpPr/>
          <p:nvPr>
            <p:custDataLst>
              <p:tags r:id="rId12"/>
            </p:custDataLst>
          </p:nvPr>
        </p:nvSpPr>
        <p:spPr>
          <a:xfrm>
            <a:off x="7352030" y="4071620"/>
            <a:ext cx="1466215" cy="1029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数据建模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编码规范</a:t>
            </a:r>
            <a:endParaRPr lang="en-US" sz="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DFD设计</a:t>
            </a:r>
            <a:endParaRPr lang="en-US" sz="9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数据库设计与工程决策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FF6B35">
              <a:alpha val="15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28346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8" name="Text 6"/>
          <p:cNvSpPr/>
          <p:nvPr/>
        </p:nvSpPr>
        <p:spPr>
          <a:xfrm>
            <a:off x="502920" y="14813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1097280" cy="27432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10" name="Text 8"/>
          <p:cNvSpPr/>
          <p:nvPr/>
        </p:nvSpPr>
        <p:spPr>
          <a:xfrm>
            <a:off x="502920" y="18653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Android + Java 全开源技术栈，生态成熟稳定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SQLite 嵌入式数据库，无需独立服务器部署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MVC 分层架构，三层职责清晰分离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兼容 Android 5.0 ~ 13，覆盖绝大多数设备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28346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3" name="Text 11"/>
          <p:cNvSpPr/>
          <p:nvPr/>
        </p:nvSpPr>
        <p:spPr>
          <a:xfrm>
            <a:off x="3337560" y="14813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847088"/>
            <a:ext cx="1097280" cy="27432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15" name="Text 13"/>
          <p:cNvSpPr/>
          <p:nvPr/>
        </p:nvSpPr>
        <p:spPr>
          <a:xfrm>
            <a:off x="3337560" y="18653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全技术栈零商业授权，无付费第三方依赖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纯本地运行架构，无需配置后端服务器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开发投入仅为三人10个工作日时间成本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零运维成本，应用可直接安装使用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28346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8" name="Text 16"/>
          <p:cNvSpPr/>
          <p:nvPr/>
        </p:nvSpPr>
        <p:spPr>
          <a:xfrm>
            <a:off x="6172200" y="14813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1097280" cy="274320"/>
          </a:xfrm>
          <a:prstGeom prst="rect">
            <a:avLst/>
          </a:prstGeom>
          <a:solidFill>
            <a:srgbClr val="2ECC71"/>
          </a:solidFill>
        </p:spPr>
      </p:sp>
      <p:sp>
        <p:nvSpPr>
          <p:cNvPr id="20" name="Text 18"/>
          <p:cNvSpPr/>
          <p:nvPr/>
        </p:nvSpPr>
        <p:spPr>
          <a:xfrm>
            <a:off x="6172200" y="18653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完全可行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遵循 Material Design 设计规范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交互模式借鉴主流外卖应用通用范式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三类用户独立界面，角色互不干扰</a:t>
            </a:r>
            <a:endParaRPr lang="en-US" sz="1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同步提示 + 异步广播双通道反馈机制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项目计划与核心业务规则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项目实施阶段（瀑布模型，两周六阶段）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08176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31520" y="140817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6.22-23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3716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 + 项目计划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1673352"/>
            <a:ext cx="22860" cy="2286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3" name="Shape 11"/>
          <p:cNvSpPr/>
          <p:nvPr/>
        </p:nvSpPr>
        <p:spPr>
          <a:xfrm>
            <a:off x="731520" y="1755648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4" name="Text 12"/>
          <p:cNvSpPr/>
          <p:nvPr/>
        </p:nvSpPr>
        <p:spPr>
          <a:xfrm>
            <a:off x="731520" y="17556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171907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6.24-25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7190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 + 业务建模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17190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马鸣远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0392" y="2020824"/>
            <a:ext cx="22860" cy="2286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9" name="Shape 17"/>
          <p:cNvSpPr/>
          <p:nvPr/>
        </p:nvSpPr>
        <p:spPr>
          <a:xfrm>
            <a:off x="731520" y="2103120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731520" y="21031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6654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6.26/29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0665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数据流图 + 数据字典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0665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王略帆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" y="2368296"/>
            <a:ext cx="22860" cy="2286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25" name="Shape 23"/>
          <p:cNvSpPr/>
          <p:nvPr/>
        </p:nvSpPr>
        <p:spPr>
          <a:xfrm>
            <a:off x="731520" y="2450592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6" name="Text 24"/>
          <p:cNvSpPr/>
          <p:nvPr/>
        </p:nvSpPr>
        <p:spPr>
          <a:xfrm>
            <a:off x="731520" y="24505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2414016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6.30-7.1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241401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概要设计 + 详细设计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24140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马鸣远 / 王略帆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" y="2715768"/>
            <a:ext cx="22860" cy="2286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31" name="Shape 29"/>
          <p:cNvSpPr/>
          <p:nvPr/>
        </p:nvSpPr>
        <p:spPr>
          <a:xfrm>
            <a:off x="731520" y="2798064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31520" y="279806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27614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7.2-3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5960" y="27614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 + 编码实现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27614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 / 马鸣远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" y="3063240"/>
            <a:ext cx="22860" cy="2286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37" name="Shape 35"/>
          <p:cNvSpPr/>
          <p:nvPr/>
        </p:nvSpPr>
        <p:spPr>
          <a:xfrm>
            <a:off x="731520" y="3145536"/>
            <a:ext cx="256032" cy="256032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8" name="Text 36"/>
          <p:cNvSpPr/>
          <p:nvPr/>
        </p:nvSpPr>
        <p:spPr>
          <a:xfrm>
            <a:off x="731520" y="31455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310896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1089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报告撰写 + 答辩准备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31089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崔桐浩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914400"/>
            <a:ext cx="13716" cy="320040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43" name="Text 41"/>
          <p:cNvSpPr/>
          <p:nvPr/>
        </p:nvSpPr>
        <p:spPr>
          <a:xfrm>
            <a:off x="5852160" y="1005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七条核心业务规则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52160" y="123444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（从代码逆向还原）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160020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商品列表只显示正常商家在售商品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19476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购物车一次只能买同一商家商品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52160" y="229514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订单状态按主线单向流转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264261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封禁商家拒绝登录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852160" y="29900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已删除数据可追溯且用户名可回收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52160" y="3337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用户名对未删除用户不可重复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36850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图片存本地文件，数据库仅存路径</a:t>
            </a:r>
            <a:endParaRPr lang="en-US" sz="1000" dirty="0"/>
          </a:p>
        </p:txBody>
      </p:sp>
      <p:sp>
        <p:nvSpPr>
          <p:cNvPr id="5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数据库三版本安全演进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29200" cy="96012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8" name="Shape 6"/>
          <p:cNvSpPr/>
          <p:nvPr/>
        </p:nvSpPr>
        <p:spPr>
          <a:xfrm>
            <a:off x="731520" y="1417320"/>
            <a:ext cx="36576" cy="96012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9" name="Text 7"/>
          <p:cNvSpPr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  → 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新增两个字段：营业时间 opening_hours、店铺图片路径 store_image_uri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029200" cy="13258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" cy="132588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3" name="Text 11"/>
          <p:cNvSpPr/>
          <p:nvPr/>
        </p:nvSpPr>
        <p:spPr>
          <a:xfrm>
            <a:off x="91440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  →  v3 （四步安全迁移）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重命名旧表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创建新表（移除 UNIQUE 约束）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迁移数据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删除旧表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188720" cy="5943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6858000" y="111556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基础四表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52360" y="1691640"/>
            <a:ext cx="22860" cy="5029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9" name="Shape 17"/>
          <p:cNvSpPr/>
          <p:nvPr/>
        </p:nvSpPr>
        <p:spPr>
          <a:xfrm>
            <a:off x="6858000" y="2194560"/>
            <a:ext cx="1188720" cy="5943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858000" y="221284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254203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+店铺扩展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2788920"/>
            <a:ext cx="22860" cy="5029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23" name="Shape 21"/>
          <p:cNvSpPr/>
          <p:nvPr/>
        </p:nvSpPr>
        <p:spPr>
          <a:xfrm>
            <a:off x="6858000" y="3291840"/>
            <a:ext cx="1188720" cy="5943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6858000" y="3310128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6393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软删除支持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为什么移除UNIQUE？ → 支持软删除后用户名回收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软删除 + 用户名回收机制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商家注销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956816"/>
            <a:ext cx="13716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9" name="Shape 7"/>
          <p:cNvSpPr/>
          <p:nvPr/>
        </p:nvSpPr>
        <p:spPr>
          <a:xfrm>
            <a:off x="2514600" y="146304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status =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(软删除)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956816"/>
            <a:ext cx="13716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2" name="Shape 10"/>
          <p:cNvSpPr/>
          <p:nvPr/>
        </p:nvSpPr>
        <p:spPr>
          <a:xfrm>
            <a:off x="4297680" y="146304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4630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数据保留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可追溯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956816"/>
            <a:ext cx="13716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15" name="Shape 13"/>
          <p:cNvSpPr/>
          <p:nvPr/>
        </p:nvSpPr>
        <p:spPr>
          <a:xfrm>
            <a:off x="6080760" y="1463040"/>
            <a:ext cx="1645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4630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用户名释放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可重新注册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137160" cy="13716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8" name="Text 16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登录查询时自动过滤已删除用户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88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已删除用户无法登录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137160" cy="13716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1" name="Text 19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商品列表查询时跳过已删除商家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商品自动对买家隐藏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137160" cy="13716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注册校验时排除已删除用户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用户名可被新用户注册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20116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4个核心实体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4组 1:N 关系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单表三角色（role字段区分）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 外键通过业务SQL逆向还原</a:t>
            </a:r>
            <a:endParaRPr lang="en-US" sz="1200" dirty="0"/>
          </a:p>
        </p:txBody>
      </p:sp>
      <p:pic>
        <p:nvPicPr>
          <p:cNvPr id="7" name="Image 0" descr="C:\Users\dell\Desktop\le_degn_system\report_images\cui2\media\image2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17520" y="731520"/>
            <a:ext cx="57607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17520" y="4572000"/>
            <a:ext cx="5760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图：系统数据库 E-R 图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核心业务逻辑设计与实现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马鸣远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657600"/>
            <a:ext cx="1828800" cy="1645920"/>
          </a:xfrm>
          <a:prstGeom prst="rect">
            <a:avLst/>
          </a:prstGeom>
          <a:solidFill>
            <a:srgbClr val="FF6B35">
              <a:alpha val="15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87400" y="1676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订单五状态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0850" y="986155"/>
            <a:ext cx="1234440" cy="685800"/>
          </a:xfrm>
          <a:prstGeom prst="rect">
            <a:avLst/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850" y="103187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850" y="137020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已支付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05330" y="986155"/>
            <a:ext cx="1234440" cy="685800"/>
          </a:xfrm>
          <a:prstGeom prst="rect">
            <a:avLst/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5330" y="103187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05330" y="137020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59810" y="986155"/>
            <a:ext cx="1234440" cy="685800"/>
          </a:xfrm>
          <a:prstGeom prst="rect">
            <a:avLst/>
          </a:prstGeom>
          <a:solidFill>
            <a:srgbClr val="F8F9FA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9810" y="103187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delivering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59810" y="137020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配送中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14290" y="986155"/>
            <a:ext cx="123444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4290" y="103187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14290" y="137020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 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0850" y="2286635"/>
            <a:ext cx="123444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0850" y="231203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canceled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0850" y="265036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已取消 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85290" y="1319911"/>
            <a:ext cx="32004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3" name="Text 21"/>
          <p:cNvSpPr/>
          <p:nvPr/>
        </p:nvSpPr>
        <p:spPr>
          <a:xfrm>
            <a:off x="1639570" y="100901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商家接单</a:t>
            </a:r>
            <a:endParaRPr lang="en-US" sz="800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39770" y="1319911"/>
            <a:ext cx="32004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5" name="Text 23"/>
          <p:cNvSpPr/>
          <p:nvPr/>
        </p:nvSpPr>
        <p:spPr>
          <a:xfrm>
            <a:off x="3194050" y="100901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商家配送</a:t>
            </a:r>
            <a:endParaRPr lang="en-US" sz="800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94250" y="1319911"/>
            <a:ext cx="320040" cy="2286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7" name="Text 25"/>
          <p:cNvSpPr/>
          <p:nvPr/>
        </p:nvSpPr>
        <p:spPr>
          <a:xfrm>
            <a:off x="4748530" y="100901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买家确认</a:t>
            </a:r>
            <a:endParaRPr lang="en-US" sz="800" dirty="0">
              <a:solidFill>
                <a:srgbClr val="FF6B3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68070" y="1671955"/>
            <a:ext cx="22860" cy="50292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9" name="Text 27"/>
          <p:cNvSpPr/>
          <p:nvPr/>
        </p:nvSpPr>
        <p:spPr>
          <a:xfrm>
            <a:off x="1141222" y="1717675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买家取消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1810" y="3241040"/>
            <a:ext cx="2871470" cy="384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状态更新通过统一的状态更新方法实现，确保原子性操作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1810" y="3861435"/>
            <a:ext cx="2853690" cy="59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订单列表根据角色和状态动态显示对应的操作按钮（接单/配送/确认收货/取消）</a:t>
            </a:r>
            <a:endParaRPr lang="en-US" sz="1200" dirty="0"/>
          </a:p>
        </p:txBody>
      </p:sp>
      <p:pic>
        <p:nvPicPr>
          <p:cNvPr id="32" name="Image 0" descr="C:\Users\dell\Desktop\le_degn_system\report_images\cui2\media\image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752850" y="1844675"/>
            <a:ext cx="4813935" cy="273748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69280" y="4617720"/>
            <a:ext cx="32004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用例图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同商家购物车约束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加购新商品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1691640"/>
            <a:ext cx="22860" cy="36576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0" name="Shape 8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1" name="Text 9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0756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获取当前购物车商家编号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00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与购物车中已有商品的商家对比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" y="2377440"/>
            <a:ext cx="22860" cy="36576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5" name="Shape 13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与新商品所属商家比对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 → 加入成功  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 → 弹窗提示阻断  ✗</a:t>
            </a:r>
            <a:endParaRPr lang="en-US" sz="1400" dirty="0"/>
          </a:p>
        </p:txBody>
      </p:sp>
      <p:pic>
        <p:nvPicPr>
          <p:cNvPr id="22" name="Image 1" descr="C:\Users\dell\Desktop\le_degn_system\report_images\ma2\media\image5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58895" y="523240"/>
            <a:ext cx="4874260" cy="330581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" y="4343400"/>
            <a:ext cx="3840480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25" name="Text 21"/>
          <p:cNvSpPr/>
          <p:nvPr/>
        </p:nvSpPr>
        <p:spPr>
          <a:xfrm>
            <a:off x="731520" y="443484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购物车采用全局唯一实例管理 — 结算前进行购物车非空和商家有效性双重校验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登录与角色分流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 → 校验 → 会话保存 → 三向跳转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0" name="Text 7"/>
          <p:cNvSpPr/>
          <p:nvPr/>
        </p:nvSpPr>
        <p:spPr>
          <a:xfrm>
            <a:off x="6440170" y="184023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App启动 → 初始化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检测是否已登录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已登录→按角色自动跳转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 → 管控页面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 → 商品管理页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 → 商品浏览页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未登录→填写表单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数据库查询校验账号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封禁账号→拒绝并提示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正常账号→保存会话→跳转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登录与角色分流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 → 校验 → 会话保存 → 三向跳转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pic>
        <p:nvPicPr>
          <p:cNvPr id="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440" y="695960"/>
            <a:ext cx="2331720" cy="415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买家下单全链路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 → 搜索 → 加购 → 结算 → 广播通知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2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0" name="Text 7"/>
          <p:cNvSpPr/>
          <p:nvPr/>
        </p:nvSpPr>
        <p:spPr>
          <a:xfrm>
            <a:off x="6506210" y="205740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双重过滤展示商品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排除已删除商家和已下架商品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输入即搜实时过滤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按商品名称和描述匹配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加购时同商家校验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不同商家→提示先清空购物车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结算生成订单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下单成功→清空购物车+广播通知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买家下单全链路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 → 搜索 → 加购 → 结算 → 广播通知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2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9" name="矩形: 圆角 3"/>
          <p:cNvSpPr/>
          <p:nvPr/>
        </p:nvSpPr>
        <p:spPr>
          <a:xfrm>
            <a:off x="6167120" y="44450"/>
            <a:ext cx="1656080" cy="3076575"/>
          </a:xfrm>
          <a:prstGeom prst="roundRect">
            <a:avLst>
              <a:gd name="adj" fmla="val 8600"/>
            </a:avLst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blurRad="254000" stA="75000" endPos="15000" dist="635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3"/>
          <p:cNvSpPr/>
          <p:nvPr/>
        </p:nvSpPr>
        <p:spPr>
          <a:xfrm>
            <a:off x="7306945" y="1730375"/>
            <a:ext cx="1562735" cy="2750185"/>
          </a:xfrm>
          <a:prstGeom prst="roundRect">
            <a:avLst>
              <a:gd name="adj" fmla="val 8600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blurRad="254000" stA="75000" endPos="15000" dist="635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商家商品与订单管理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商品增删改查 + 图片本地存储 + 接单配送两阶段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3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0" name="Text 7"/>
          <p:cNvSpPr/>
          <p:nvPr/>
        </p:nvSpPr>
        <p:spPr>
          <a:xfrm>
            <a:off x="6506210" y="189738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商品新增与编辑双模式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通过传递商品信息自动识别模式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图片保存到手机本地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图片存为文件，数据库只记录路径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减小数据库体积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订单处理两个关键操作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待接单→接单→开始配送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已接单→开始配送→配送中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账号注销→软删除机制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标记为已删除，用户名可回收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商家商品与订单管理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商品增删改查 + 图片本地存储 + 接单配送两阶段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3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pic>
        <p:nvPicPr>
          <p:cNvPr id="2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780" y="274320"/>
            <a:ext cx="1543050" cy="274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285" y="922655"/>
            <a:ext cx="1517015" cy="270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780" y="2025015"/>
            <a:ext cx="1530350" cy="272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管理员商家状态管控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商家列表 → 封禁/解封 → 提示反馈 → 刷新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4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10" name="Text 7"/>
          <p:cNvSpPr/>
          <p:nvPr/>
        </p:nvSpPr>
        <p:spPr>
          <a:xfrm>
            <a:off x="6435090" y="157861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系统预置管理员账号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仅拥有商家状态管理权限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加载全部商家列表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列表形式展示所有商家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点击弹出管理菜单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选择封禁或解封操作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已注销的商家跳过操作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执行状态更新并刷新列表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操作后弹出提示并自动刷新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管理员商家状态管控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商家列表 → 封禁/解封 → 提示反馈 → 刷新</a:t>
            </a:r>
            <a:endParaRPr lang="en-US" sz="1200" dirty="0"/>
          </a:p>
        </p:txBody>
      </p:sp>
      <p:pic>
        <p:nvPicPr>
          <p:cNvPr id="7" name="Image 0" descr="C:\Users\dell\Desktop\le_degn_system\report_images\ma2\media\image4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60120"/>
            <a:ext cx="566928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005840"/>
            <a:ext cx="13716" cy="3474720"/>
          </a:xfrm>
          <a:prstGeom prst="rect">
            <a:avLst/>
          </a:prstGeom>
          <a:solidFill>
            <a:srgbClr val="B0B0B0"/>
          </a:solidFill>
        </p:spPr>
      </p:sp>
      <p:pic>
        <p:nvPicPr>
          <p:cNvPr id="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035" y="943610"/>
            <a:ext cx="1996440" cy="35547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数据建模与编码规范设计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王略帆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2700000">
            <a:off x="6858000" y="3474720"/>
            <a:ext cx="1645920" cy="1645920"/>
          </a:xfrm>
          <a:prstGeom prst="rect">
            <a:avLst/>
          </a:prstGeom>
          <a:solidFill>
            <a:srgbClr val="FF6B35">
              <a:alpha val="15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数据流图与复合型 D5 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365760"/>
            <a:ext cx="2286000" cy="27432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7" name="Text 5"/>
          <p:cNvSpPr/>
          <p:nvPr/>
        </p:nvSpPr>
        <p:spPr>
          <a:xfrm>
            <a:off x="6400800" y="3840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3外部实体 · 6处理 · 5存储</a:t>
            </a:r>
            <a:endParaRPr lang="en-US" sz="1000" dirty="0"/>
          </a:p>
        </p:txBody>
      </p:sp>
      <p:pic>
        <p:nvPicPr>
          <p:cNvPr id="8" name="Image 0" descr="C:\Users\dell\Desktop\le_degn_system\report_images\wang2\media\image1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729615"/>
            <a:ext cx="7783830" cy="2682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94400" y="3411855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图：系统数据流图（DFD）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561465" y="3438525"/>
          <a:ext cx="5205095" cy="1170305"/>
        </p:xfrm>
        <a:graphic>
          <a:graphicData uri="http://schemas.openxmlformats.org/drawingml/2006/table">
            <a:tbl>
              <a:tblPr/>
              <a:tblGrid>
                <a:gridCol w="1710055"/>
                <a:gridCol w="1487170"/>
                <a:gridCol w="200787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存储类型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生命周期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数据内容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SharedPreferences</a:t>
                      </a:r>
                      <a:endParaRPr lang="en-US" sz="9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退出登录时清空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user_id, role, username 等5键值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CartManager</a:t>
                      </a:r>
                      <a:endParaRPr lang="en-US" sz="9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进程退出时清空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 → Quantity 映射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Internal Files</a:t>
                      </a:r>
                      <a:endParaRPr lang="en-US" sz="9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永久保存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商品/店铺图片文件</a:t>
                      </a:r>
                      <a:endParaRPr 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marL="101600" marR="101600" marT="38100" marB="38100">
                    <a:lnL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信息分类编码设计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200400" cy="8686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8" name="Shape 6"/>
          <p:cNvSpPr/>
          <p:nvPr/>
        </p:nvSpPr>
        <p:spPr>
          <a:xfrm>
            <a:off x="731520" y="1280160"/>
            <a:ext cx="36576" cy="86868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9" name="Text 7"/>
          <p:cNvSpPr/>
          <p:nvPr/>
        </p:nvSpPr>
        <p:spPr>
          <a:xfrm>
            <a:off x="914400" y="1325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英文枚举语义化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"已支付" 一目了然，比用数字1 更直观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200400" cy="8686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3" name="Shape 11"/>
          <p:cNvSpPr/>
          <p:nvPr/>
        </p:nvSpPr>
        <p:spPr>
          <a:xfrm>
            <a:off x="731520" y="2331720"/>
            <a:ext cx="36576" cy="86868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5877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整数单向唯一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= 否定  1 = 肯定  2 = 软删除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200400" cy="8686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8" name="Shape 16"/>
          <p:cNvSpPr/>
          <p:nvPr/>
        </p:nvSpPr>
        <p:spPr>
          <a:xfrm>
            <a:off x="731520" y="3383280"/>
            <a:ext cx="36576" cy="86868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9" name="Text 17"/>
          <p:cNvSpPr/>
          <p:nvPr/>
        </p:nvSpPr>
        <p:spPr>
          <a:xfrm>
            <a:off x="914400" y="342900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6393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编码即业务节点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70655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编码值 = 外卖流程关键阶段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0" y="12801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订单状态编码表（"一表双用"）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297680" y="1645920"/>
          <a:ext cx="4206240" cy="13716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371600"/>
                <a:gridCol w="100584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编码值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下一状态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操作角色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paid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待接单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accepted / canceled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 / 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accepted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已接单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delivering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delivering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配送中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completed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completed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已完成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canceled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已取消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0B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297680" y="324612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6B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一表双用：编码含义 + 状态机转换路径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80560" y="378523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用户角色编码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4342765" y="3990975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admin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管理员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merchant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商家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buyer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买家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5760720" y="378523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账号状态编码</a:t>
            </a:r>
            <a:endParaRPr lang="en-US" sz="10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/>
        </p:nvGraphicFramePr>
        <p:xfrm>
          <a:off x="5760720" y="3968115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正常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封禁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已删除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7040880" y="378523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商品状态编码</a:t>
            </a:r>
            <a:endParaRPr lang="en-US" sz="1000" dirty="0"/>
          </a:p>
        </p:txBody>
      </p:sp>
      <p:graphicFrame>
        <p:nvGraphicFramePr>
          <p:cNvPr id="65" name="Table 3"/>
          <p:cNvGraphicFramePr>
            <a:graphicFrameLocks noGrp="1"/>
          </p:cNvGraphicFramePr>
          <p:nvPr/>
        </p:nvGraphicFramePr>
        <p:xfrm>
          <a:off x="7040880" y="3968115"/>
          <a:ext cx="1188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上架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下架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5"/>
          <p:cNvSpPr/>
          <p:nvPr/>
        </p:nvSpPr>
        <p:spPr>
          <a:xfrm>
            <a:off x="674370" y="4544695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共计4套编码体系 · 13个编码值 · 覆盖系统全部状态标识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371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美园外卖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12064" y="4754880"/>
            <a:ext cx="8119872" cy="2286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4" name="Text 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数据字典概览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四张核心数据表 · 28个字段 · 完整约束与业务含义标注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051560"/>
          <a:ext cx="384048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用户编号，自增主键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登录名（业务唯一）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admin/merchant/buyer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1正常 / 0封禁 / 2已删除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store_name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商家店铺名称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850392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products 表（8字段）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/>
        </p:nvGraphicFramePr>
        <p:xfrm>
          <a:off x="4846320" y="1051560"/>
          <a:ext cx="384048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merchant_id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所属商家编号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商品名称（必填）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REAL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商品价格（必填）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1上架 / 0下架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2542032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orders 表（7字段）</a:t>
            </a:r>
            <a:endParaRPr lang="en-US" sz="12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/>
        </p:nvGraphicFramePr>
        <p:xfrm>
          <a:off x="457200" y="2743200"/>
          <a:ext cx="384048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订单编号，自增主键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buyer_id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下单买家编号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merchant_id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接单商家编号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total_price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REAL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订单总金额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paid/accepted/delivering/completed/canceled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846320" y="2542032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addresses 表（3字段）</a:t>
            </a:r>
            <a:endParaRPr lang="en-US" sz="12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/>
        </p:nvGraphicFramePr>
        <p:xfrm>
          <a:off x="4846320" y="274320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8288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9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 PK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地址编号，自增主键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user_id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INTEGER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所属用户编号（NOT NULL）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detail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TEXT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收货地址详细描述（NOT NULL）</a:t>
                      </a:r>
                      <a:endParaRPr lang="en-US" sz="8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2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3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4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5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6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7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8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9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10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11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12.xml><?xml version="1.0" encoding="utf-8"?>
<p:tagLst xmlns:p="http://schemas.openxmlformats.org/presentationml/2006/main">
  <p:tag name="KSO_WM_DIAGRAM_VIRTUALLY_FRAME" val="{&quot;height&quot;:180,&quot;left&quot;:72,&quot;top&quot;:158.4,&quot;width&quot;:586.8}"/>
</p:tagLst>
</file>

<file path=ppt/tags/tag13.xml><?xml version="1.0" encoding="utf-8"?>
<p:tagLst xmlns:p="http://schemas.openxmlformats.org/presentationml/2006/main">
  <p:tag name="TABLE_ENDDRAG_ORIGIN_RECT" val="409*92"/>
  <p:tag name="TABLE_ENDDRAG_RECT" val="108*282*409*9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3215</Words>
  <Application>WPS 演示</Application>
  <PresentationFormat>On-screen Show (16:9)</PresentationFormat>
  <Paragraphs>708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Arial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美园外卖 - 答辩展示</dc:title>
  <dc:creator>崔桐浩, 马鸣远, 王略帆</dc:creator>
  <dc:subject>PptxGenJS Presentation</dc:subject>
  <cp:lastModifiedBy>物流费</cp:lastModifiedBy>
  <cp:revision>2</cp:revision>
  <dcterms:created xsi:type="dcterms:W3CDTF">2026-07-02T02:16:00Z</dcterms:created>
  <dcterms:modified xsi:type="dcterms:W3CDTF">2026-07-02T03:18:32Z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5CF57A1B56CF468D905048B6FDF2902F_12</vt:lpwstr>
  </property>
</Properties>
</file>