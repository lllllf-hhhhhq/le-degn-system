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838"/>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D9488"/>
          </a:solidFill>
          <a:ln/>
        </p:spPr>
      </p:sp>
      <p:sp>
        <p:nvSpPr>
          <p:cNvPr id="3" name="Text 1"/>
          <p:cNvSpPr/>
          <p:nvPr/>
        </p:nvSpPr>
        <p:spPr>
          <a:xfrm>
            <a:off x="914400" y="1645920"/>
            <a:ext cx="10360152" cy="1645920"/>
          </a:xfrm>
          <a:prstGeom prst="rect">
            <a:avLst/>
          </a:prstGeom>
          <a:noFill/>
          <a:ln/>
        </p:spPr>
        <p:txBody>
          <a:bodyPr wrap="square" rtlCol="0" anchor="ctr"/>
          <a:lstStyle/>
          <a:p>
            <a:pPr algn="ctr" indent="0" marL="0">
              <a:buNone/>
            </a:pPr>
            <a:r>
              <a:rPr lang="en-US" sz="3800" b="1" dirty="0">
                <a:solidFill>
                  <a:srgbClr val="FFFFFF"/>
                </a:solidFill>
                <a:latin typeface="Microsoft YaHei" pitchFamily="34" charset="0"/>
                <a:ea typeface="Microsoft YaHei" pitchFamily="34" charset="-122"/>
                <a:cs typeface="Microsoft YaHei" pitchFamily="34" charset="-120"/>
              </a:rPr>
              <a:t>学术论文写作模式深度解析</a:t>
            </a:r>
            <a:endParaRPr lang="en-US" sz="3800" dirty="0"/>
          </a:p>
        </p:txBody>
      </p:sp>
      <p:sp>
        <p:nvSpPr>
          <p:cNvPr id="4" name="Text 2"/>
          <p:cNvSpPr/>
          <p:nvPr/>
        </p:nvSpPr>
        <p:spPr>
          <a:xfrm>
            <a:off x="914400" y="3474720"/>
            <a:ext cx="10360152" cy="731520"/>
          </a:xfrm>
          <a:prstGeom prst="rect">
            <a:avLst/>
          </a:prstGeom>
          <a:noFill/>
          <a:ln/>
        </p:spPr>
        <p:txBody>
          <a:bodyPr wrap="square" rtlCol="0" anchor="ctr"/>
          <a:lstStyle/>
          <a:p>
            <a:pPr algn="ctr" indent="0" marL="0">
              <a:buNone/>
            </a:pPr>
            <a:r>
              <a:rPr lang="en-US" sz="1800" dirty="0">
                <a:solidFill>
                  <a:srgbClr val="14B8A6"/>
                </a:solidFill>
                <a:latin typeface="Microsoft YaHei" pitchFamily="34" charset="0"/>
                <a:ea typeface="Microsoft YaHei" pitchFamily="34" charset="-122"/>
                <a:cs typeface="Microsoft YaHei" pitchFamily="34" charset="-120"/>
              </a:rPr>
              <a:t>—— 《控制与决策》 vs Transportation Research Part E ——</a:t>
            </a:r>
            <a:endParaRPr lang="en-US" sz="1800" dirty="0"/>
          </a:p>
          <a:p>
            <a:pPr algn="ctr" indent="0" marL="0">
              <a:buNone/>
            </a:pPr>
            <a:r>
              <a:rPr lang="en-US" sz="1800" dirty="0">
                <a:solidFill>
                  <a:srgbClr val="14B8A6"/>
                </a:solidFill>
                <a:latin typeface="Microsoft YaHei" pitchFamily="34" charset="0"/>
                <a:ea typeface="Microsoft YaHei" pitchFamily="34" charset="-122"/>
                <a:cs typeface="Microsoft YaHei" pitchFamily="34" charset="-120"/>
              </a:rPr>
              <a:t>十篇经典案例 · 四要素结构拆解 · 写作策略优化</a:t>
            </a:r>
            <a:endParaRPr lang="en-US" sz="1800" dirty="0"/>
          </a:p>
        </p:txBody>
      </p:sp>
      <p:sp>
        <p:nvSpPr>
          <p:cNvPr id="5" name="Shape 3"/>
          <p:cNvSpPr/>
          <p:nvPr/>
        </p:nvSpPr>
        <p:spPr>
          <a:xfrm>
            <a:off x="4114800" y="4572000"/>
            <a:ext cx="3959352" cy="36576"/>
          </a:xfrm>
          <a:prstGeom prst="rect">
            <a:avLst/>
          </a:prstGeom>
          <a:solidFill>
            <a:srgbClr val="0D9488"/>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汇报纲要</a:t>
            </a:r>
            <a:endParaRPr lang="en-US" sz="2800" dirty="0"/>
          </a:p>
        </p:txBody>
      </p:sp>
      <p:sp>
        <p:nvSpPr>
          <p:cNvPr id="4" name="Shape 2"/>
          <p:cNvSpPr/>
          <p:nvPr/>
        </p:nvSpPr>
        <p:spPr>
          <a:xfrm>
            <a:off x="731520" y="914400"/>
            <a:ext cx="2286000" cy="36576"/>
          </a:xfrm>
          <a:prstGeom prst="rect">
            <a:avLst/>
          </a:prstGeom>
          <a:solidFill>
            <a:srgbClr val="0D9488"/>
          </a:solidFill>
          <a:ln/>
        </p:spPr>
      </p:sp>
      <p:sp>
        <p:nvSpPr>
          <p:cNvPr id="5" name="Text 3"/>
          <p:cNvSpPr/>
          <p:nvPr/>
        </p:nvSpPr>
        <p:spPr>
          <a:xfrm>
            <a:off x="731520" y="1234440"/>
            <a:ext cx="4572000" cy="320040"/>
          </a:xfrm>
          <a:prstGeom prst="rect">
            <a:avLst/>
          </a:prstGeom>
          <a:noFill/>
          <a:ln/>
        </p:spPr>
        <p:txBody>
          <a:bodyPr wrap="square" rtlCol="0" anchor="ctr"/>
          <a:lstStyle/>
          <a:p>
            <a:pPr indent="0" marL="0">
              <a:buNone/>
            </a:pPr>
            <a:r>
              <a:rPr lang="en-US" sz="1500" b="1" dirty="0">
                <a:solidFill>
                  <a:srgbClr val="0D9488"/>
                </a:solidFill>
                <a:latin typeface="Microsoft YaHei" pitchFamily="34" charset="0"/>
                <a:ea typeface="Microsoft YaHei" pitchFamily="34" charset="-122"/>
                <a:cs typeface="Microsoft YaHei" pitchFamily="34" charset="-120"/>
              </a:rPr>
              <a:t>第一部分：期刊背景与写作规范</a:t>
            </a:r>
            <a:endParaRPr lang="en-US" sz="1500" dirty="0"/>
          </a:p>
        </p:txBody>
      </p:sp>
      <p:sp>
        <p:nvSpPr>
          <p:cNvPr id="6" name="Text 4"/>
          <p:cNvSpPr/>
          <p:nvPr/>
        </p:nvSpPr>
        <p:spPr>
          <a:xfrm>
            <a:off x="1188720" y="1581912"/>
            <a:ext cx="9601200" cy="274320"/>
          </a:xfrm>
          <a:prstGeom prst="rect">
            <a:avLst/>
          </a:prstGeom>
          <a:noFill/>
          <a:ln/>
        </p:spPr>
        <p:txBody>
          <a:bodyPr wrap="square" rtlCol="0" anchor="ctr"/>
          <a:lstStyle/>
          <a:p>
            <a:pPr indent="0" marL="0">
              <a:buNone/>
            </a:pPr>
            <a:r>
              <a:rPr lang="en-US" sz="1300" dirty="0">
                <a:solidFill>
                  <a:srgbClr val="334155"/>
                </a:solidFill>
                <a:latin typeface="Microsoft YaHei" pitchFamily="34" charset="0"/>
                <a:ea typeface="Microsoft YaHei" pitchFamily="34" charset="-122"/>
                <a:cs typeface="Microsoft YaHei" pitchFamily="34" charset="-120"/>
              </a:rPr>
              <a:t>▸  控制与决策 期刊介绍与审稿特点</a:t>
            </a:r>
            <a:endParaRPr lang="en-US" sz="1300" dirty="0"/>
          </a:p>
        </p:txBody>
      </p:sp>
      <p:sp>
        <p:nvSpPr>
          <p:cNvPr id="7" name="Text 5"/>
          <p:cNvSpPr/>
          <p:nvPr/>
        </p:nvSpPr>
        <p:spPr>
          <a:xfrm>
            <a:off x="1188720" y="1856232"/>
            <a:ext cx="9601200" cy="274320"/>
          </a:xfrm>
          <a:prstGeom prst="rect">
            <a:avLst/>
          </a:prstGeom>
          <a:noFill/>
          <a:ln/>
        </p:spPr>
        <p:txBody>
          <a:bodyPr wrap="square" rtlCol="0" anchor="ctr"/>
          <a:lstStyle/>
          <a:p>
            <a:pPr indent="0" marL="0">
              <a:buNone/>
            </a:pPr>
            <a:r>
              <a:rPr lang="en-US" sz="1300" dirty="0">
                <a:solidFill>
                  <a:srgbClr val="334155"/>
                </a:solidFill>
                <a:latin typeface="Microsoft YaHei" pitchFamily="34" charset="0"/>
                <a:ea typeface="Microsoft YaHei" pitchFamily="34" charset="-122"/>
                <a:cs typeface="Microsoft YaHei" pitchFamily="34" charset="-120"/>
              </a:rPr>
              <a:t>▸  Transportation Research Part E 期刊介绍与审稿特点</a:t>
            </a:r>
            <a:endParaRPr lang="en-US" sz="1300" dirty="0"/>
          </a:p>
        </p:txBody>
      </p:sp>
      <p:sp>
        <p:nvSpPr>
          <p:cNvPr id="8" name="Text 6"/>
          <p:cNvSpPr/>
          <p:nvPr/>
        </p:nvSpPr>
        <p:spPr>
          <a:xfrm>
            <a:off x="1188720" y="2130552"/>
            <a:ext cx="9601200" cy="274320"/>
          </a:xfrm>
          <a:prstGeom prst="rect">
            <a:avLst/>
          </a:prstGeom>
          <a:noFill/>
          <a:ln/>
        </p:spPr>
        <p:txBody>
          <a:bodyPr wrap="square" rtlCol="0" anchor="ctr"/>
          <a:lstStyle/>
          <a:p>
            <a:pPr indent="0" marL="0">
              <a:buNone/>
            </a:pPr>
            <a:r>
              <a:rPr lang="en-US" sz="1300" dirty="0">
                <a:solidFill>
                  <a:srgbClr val="334155"/>
                </a:solidFill>
                <a:latin typeface="Microsoft YaHei" pitchFamily="34" charset="0"/>
                <a:ea typeface="Microsoft YaHei" pitchFamily="34" charset="-122"/>
                <a:cs typeface="Microsoft YaHei" pitchFamily="34" charset="-120"/>
              </a:rPr>
              <a:t>▸  两刊对比表</a:t>
            </a:r>
            <a:endParaRPr lang="en-US" sz="1300" dirty="0"/>
          </a:p>
        </p:txBody>
      </p:sp>
      <p:sp>
        <p:nvSpPr>
          <p:cNvPr id="9" name="Text 7"/>
          <p:cNvSpPr/>
          <p:nvPr/>
        </p:nvSpPr>
        <p:spPr>
          <a:xfrm>
            <a:off x="731520" y="2514600"/>
            <a:ext cx="4572000" cy="320040"/>
          </a:xfrm>
          <a:prstGeom prst="rect">
            <a:avLst/>
          </a:prstGeom>
          <a:noFill/>
          <a:ln/>
        </p:spPr>
        <p:txBody>
          <a:bodyPr wrap="square" rtlCol="0" anchor="ctr"/>
          <a:lstStyle/>
          <a:p>
            <a:pPr indent="0" marL="0">
              <a:buNone/>
            </a:pPr>
            <a:r>
              <a:rPr lang="en-US" sz="1500" b="1" dirty="0">
                <a:solidFill>
                  <a:srgbClr val="0D9488"/>
                </a:solidFill>
                <a:latin typeface="Microsoft YaHei" pitchFamily="34" charset="0"/>
                <a:ea typeface="Microsoft YaHei" pitchFamily="34" charset="-122"/>
                <a:cs typeface="Microsoft YaHei" pitchFamily="34" charset="-120"/>
              </a:rPr>
              <a:t>第二部分：10篇经典案例深度解析</a:t>
            </a:r>
            <a:endParaRPr lang="en-US" sz="1500" dirty="0"/>
          </a:p>
        </p:txBody>
      </p:sp>
      <p:sp>
        <p:nvSpPr>
          <p:cNvPr id="10" name="Text 8"/>
          <p:cNvSpPr/>
          <p:nvPr/>
        </p:nvSpPr>
        <p:spPr>
          <a:xfrm>
            <a:off x="1188720" y="2862072"/>
            <a:ext cx="9601200" cy="274320"/>
          </a:xfrm>
          <a:prstGeom prst="rect">
            <a:avLst/>
          </a:prstGeom>
          <a:noFill/>
          <a:ln/>
        </p:spPr>
        <p:txBody>
          <a:bodyPr wrap="square" rtlCol="0" anchor="ctr"/>
          <a:lstStyle/>
          <a:p>
            <a:pPr indent="0" marL="0">
              <a:buNone/>
            </a:pPr>
            <a:r>
              <a:rPr lang="en-US" sz="1300" dirty="0">
                <a:solidFill>
                  <a:srgbClr val="334155"/>
                </a:solidFill>
                <a:latin typeface="Microsoft YaHei" pitchFamily="34" charset="0"/>
                <a:ea typeface="Microsoft YaHei" pitchFamily="34" charset="-122"/>
                <a:cs typeface="Microsoft YaHei" pitchFamily="34" charset="-120"/>
              </a:rPr>
              <a:t>▸  控制与决策 案例 1-5（含3篇真实论文 + 2篇代表性案例）</a:t>
            </a:r>
            <a:endParaRPr lang="en-US" sz="1300" dirty="0"/>
          </a:p>
        </p:txBody>
      </p:sp>
      <p:sp>
        <p:nvSpPr>
          <p:cNvPr id="11" name="Text 9"/>
          <p:cNvSpPr/>
          <p:nvPr/>
        </p:nvSpPr>
        <p:spPr>
          <a:xfrm>
            <a:off x="1188720" y="3136392"/>
            <a:ext cx="9601200" cy="274320"/>
          </a:xfrm>
          <a:prstGeom prst="rect">
            <a:avLst/>
          </a:prstGeom>
          <a:noFill/>
          <a:ln/>
        </p:spPr>
        <p:txBody>
          <a:bodyPr wrap="square" rtlCol="0" anchor="ctr"/>
          <a:lstStyle/>
          <a:p>
            <a:pPr indent="0" marL="0">
              <a:buNone/>
            </a:pPr>
            <a:r>
              <a:rPr lang="en-US" sz="1300" dirty="0">
                <a:solidFill>
                  <a:srgbClr val="334155"/>
                </a:solidFill>
                <a:latin typeface="Microsoft YaHei" pitchFamily="34" charset="0"/>
                <a:ea typeface="Microsoft YaHei" pitchFamily="34" charset="-122"/>
                <a:cs typeface="Microsoft YaHei" pitchFamily="34" charset="-120"/>
              </a:rPr>
              <a:t>▸  TR-E 案例 6-10（含2篇真实论文 + 3篇代表性案例）</a:t>
            </a:r>
            <a:endParaRPr lang="en-US" sz="1300" dirty="0"/>
          </a:p>
        </p:txBody>
      </p:sp>
      <p:sp>
        <p:nvSpPr>
          <p:cNvPr id="12" name="Text 10"/>
          <p:cNvSpPr/>
          <p:nvPr/>
        </p:nvSpPr>
        <p:spPr>
          <a:xfrm>
            <a:off x="731520" y="3520440"/>
            <a:ext cx="4572000" cy="320040"/>
          </a:xfrm>
          <a:prstGeom prst="rect">
            <a:avLst/>
          </a:prstGeom>
          <a:noFill/>
          <a:ln/>
        </p:spPr>
        <p:txBody>
          <a:bodyPr wrap="square" rtlCol="0" anchor="ctr"/>
          <a:lstStyle/>
          <a:p>
            <a:pPr indent="0" marL="0">
              <a:buNone/>
            </a:pPr>
            <a:r>
              <a:rPr lang="en-US" sz="1500" b="1" dirty="0">
                <a:solidFill>
                  <a:srgbClr val="0D9488"/>
                </a:solidFill>
                <a:latin typeface="Microsoft YaHei" pitchFamily="34" charset="0"/>
                <a:ea typeface="Microsoft YaHei" pitchFamily="34" charset="-122"/>
                <a:cs typeface="Microsoft YaHei" pitchFamily="34" charset="-120"/>
              </a:rPr>
              <a:t>第三部分：跨案例模式提取与写作建议</a:t>
            </a:r>
            <a:endParaRPr lang="en-US" sz="1500" dirty="0"/>
          </a:p>
        </p:txBody>
      </p:sp>
      <p:sp>
        <p:nvSpPr>
          <p:cNvPr id="13" name="Text 11"/>
          <p:cNvSpPr/>
          <p:nvPr/>
        </p:nvSpPr>
        <p:spPr>
          <a:xfrm>
            <a:off x="1188720" y="3867912"/>
            <a:ext cx="9601200" cy="274320"/>
          </a:xfrm>
          <a:prstGeom prst="rect">
            <a:avLst/>
          </a:prstGeom>
          <a:noFill/>
          <a:ln/>
        </p:spPr>
        <p:txBody>
          <a:bodyPr wrap="square" rtlCol="0" anchor="ctr"/>
          <a:lstStyle/>
          <a:p>
            <a:pPr indent="0" marL="0">
              <a:buNone/>
            </a:pPr>
            <a:r>
              <a:rPr lang="en-US" sz="1300" dirty="0">
                <a:solidFill>
                  <a:srgbClr val="334155"/>
                </a:solidFill>
                <a:latin typeface="Microsoft YaHei" pitchFamily="34" charset="0"/>
                <a:ea typeface="Microsoft YaHei" pitchFamily="34" charset="-122"/>
                <a:cs typeface="Microsoft YaHei" pitchFamily="34" charset="-120"/>
              </a:rPr>
              <a:t>▸  结构模式对比与关键差异</a:t>
            </a:r>
            <a:endParaRPr lang="en-US" sz="1300" dirty="0"/>
          </a:p>
        </p:txBody>
      </p:sp>
      <p:sp>
        <p:nvSpPr>
          <p:cNvPr id="14" name="Text 12"/>
          <p:cNvSpPr/>
          <p:nvPr/>
        </p:nvSpPr>
        <p:spPr>
          <a:xfrm>
            <a:off x="1188720" y="4142232"/>
            <a:ext cx="9601200" cy="274320"/>
          </a:xfrm>
          <a:prstGeom prst="rect">
            <a:avLst/>
          </a:prstGeom>
          <a:noFill/>
          <a:ln/>
        </p:spPr>
        <p:txBody>
          <a:bodyPr wrap="square" rtlCol="0" anchor="ctr"/>
          <a:lstStyle/>
          <a:p>
            <a:pPr indent="0" marL="0">
              <a:buNone/>
            </a:pPr>
            <a:r>
              <a:rPr lang="en-US" sz="1300" dirty="0">
                <a:solidFill>
                  <a:srgbClr val="334155"/>
                </a:solidFill>
                <a:latin typeface="Microsoft YaHei" pitchFamily="34" charset="0"/>
                <a:ea typeface="Microsoft YaHei" pitchFamily="34" charset="-122"/>
                <a:cs typeface="Microsoft YaHei" pitchFamily="34" charset="-120"/>
              </a:rPr>
              <a:t>▸  中国学者常见问题诊断</a:t>
            </a:r>
            <a:endParaRPr lang="en-US" sz="1300" dirty="0"/>
          </a:p>
        </p:txBody>
      </p:sp>
      <p:sp>
        <p:nvSpPr>
          <p:cNvPr id="15" name="Text 13"/>
          <p:cNvSpPr/>
          <p:nvPr/>
        </p:nvSpPr>
        <p:spPr>
          <a:xfrm>
            <a:off x="1188720" y="4416552"/>
            <a:ext cx="9601200" cy="274320"/>
          </a:xfrm>
          <a:prstGeom prst="rect">
            <a:avLst/>
          </a:prstGeom>
          <a:noFill/>
          <a:ln/>
        </p:spPr>
        <p:txBody>
          <a:bodyPr wrap="square" rtlCol="0" anchor="ctr"/>
          <a:lstStyle/>
          <a:p>
            <a:pPr indent="0" marL="0">
              <a:buNone/>
            </a:pPr>
            <a:r>
              <a:rPr lang="en-US" sz="1300" dirty="0">
                <a:solidFill>
                  <a:srgbClr val="334155"/>
                </a:solidFill>
                <a:latin typeface="Microsoft YaHei" pitchFamily="34" charset="0"/>
                <a:ea typeface="Microsoft YaHei" pitchFamily="34" charset="-122"/>
                <a:cs typeface="Microsoft YaHei" pitchFamily="34" charset="-120"/>
              </a:rPr>
              <a:t>▸  从控制与决策到TR-E的转化策略</a:t>
            </a:r>
            <a:endParaRPr lang="en-US" sz="1300" dirty="0"/>
          </a:p>
        </p:txBody>
      </p:sp>
      <p:sp>
        <p:nvSpPr>
          <p:cNvPr id="16" name="Text 14"/>
          <p:cNvSpPr/>
          <p:nvPr/>
        </p:nvSpPr>
        <p:spPr>
          <a:xfrm>
            <a:off x="731520" y="4800600"/>
            <a:ext cx="4572000" cy="320040"/>
          </a:xfrm>
          <a:prstGeom prst="rect">
            <a:avLst/>
          </a:prstGeom>
          <a:noFill/>
          <a:ln/>
        </p:spPr>
        <p:txBody>
          <a:bodyPr wrap="square" rtlCol="0" anchor="ctr"/>
          <a:lstStyle/>
          <a:p>
            <a:pPr indent="0" marL="0">
              <a:buNone/>
            </a:pPr>
            <a:r>
              <a:rPr lang="en-US" sz="1500" b="1" dirty="0">
                <a:solidFill>
                  <a:srgbClr val="0D9488"/>
                </a:solidFill>
                <a:latin typeface="Microsoft YaHei" pitchFamily="34" charset="0"/>
                <a:ea typeface="Microsoft YaHei" pitchFamily="34" charset="-122"/>
                <a:cs typeface="Microsoft YaHei" pitchFamily="34" charset="-120"/>
              </a:rPr>
              <a:t>第四部分：写作优化方案</a:t>
            </a:r>
            <a:endParaRPr lang="en-US" sz="1500" dirty="0"/>
          </a:p>
        </p:txBody>
      </p:sp>
      <p:sp>
        <p:nvSpPr>
          <p:cNvPr id="17" name="Text 15"/>
          <p:cNvSpPr/>
          <p:nvPr/>
        </p:nvSpPr>
        <p:spPr>
          <a:xfrm>
            <a:off x="1188720" y="5148072"/>
            <a:ext cx="9601200" cy="274320"/>
          </a:xfrm>
          <a:prstGeom prst="rect">
            <a:avLst/>
          </a:prstGeom>
          <a:noFill/>
          <a:ln/>
        </p:spPr>
        <p:txBody>
          <a:bodyPr wrap="square" rtlCol="0" anchor="ctr"/>
          <a:lstStyle/>
          <a:p>
            <a:pPr indent="0" marL="0">
              <a:buNone/>
            </a:pPr>
            <a:r>
              <a:rPr lang="en-US" sz="1300" dirty="0">
                <a:solidFill>
                  <a:srgbClr val="334155"/>
                </a:solidFill>
                <a:latin typeface="Microsoft YaHei" pitchFamily="34" charset="0"/>
                <a:ea typeface="Microsoft YaHei" pitchFamily="34" charset="-122"/>
                <a:cs typeface="Microsoft YaHei" pitchFamily="34" charset="-120"/>
              </a:rPr>
              <a:t>▸  结构映射与句型模板库</a:t>
            </a:r>
            <a:endParaRPr lang="en-US" sz="1300" dirty="0"/>
          </a:p>
        </p:txBody>
      </p:sp>
      <p:sp>
        <p:nvSpPr>
          <p:cNvPr id="18" name="Text 16"/>
          <p:cNvSpPr/>
          <p:nvPr/>
        </p:nvSpPr>
        <p:spPr>
          <a:xfrm>
            <a:off x="1188720" y="5422392"/>
            <a:ext cx="9601200" cy="274320"/>
          </a:xfrm>
          <a:prstGeom prst="rect">
            <a:avLst/>
          </a:prstGeom>
          <a:noFill/>
          <a:ln/>
        </p:spPr>
        <p:txBody>
          <a:bodyPr wrap="square" rtlCol="0" anchor="ctr"/>
          <a:lstStyle/>
          <a:p>
            <a:pPr indent="0" marL="0">
              <a:buNone/>
            </a:pPr>
            <a:r>
              <a:rPr lang="en-US" sz="1300" dirty="0">
                <a:solidFill>
                  <a:srgbClr val="334155"/>
                </a:solidFill>
                <a:latin typeface="Microsoft YaHei" pitchFamily="34" charset="0"/>
                <a:ea typeface="Microsoft YaHei" pitchFamily="34" charset="-122"/>
                <a:cs typeface="Microsoft YaHei" pitchFamily="34" charset="-120"/>
              </a:rPr>
              <a:t>▸  常见陷阱与规避策略</a:t>
            </a:r>
            <a:endParaRPr lang="en-US" sz="1300" dirty="0"/>
          </a:p>
        </p:txBody>
      </p:sp>
      <p:sp>
        <p:nvSpPr>
          <p:cNvPr id="19" name="Text 17"/>
          <p:cNvSpPr/>
          <p:nvPr/>
        </p:nvSpPr>
        <p:spPr>
          <a:xfrm>
            <a:off x="1188720" y="5696712"/>
            <a:ext cx="9601200" cy="274320"/>
          </a:xfrm>
          <a:prstGeom prst="rect">
            <a:avLst/>
          </a:prstGeom>
          <a:noFill/>
          <a:ln/>
        </p:spPr>
        <p:txBody>
          <a:bodyPr wrap="square" rtlCol="0" anchor="ctr"/>
          <a:lstStyle/>
          <a:p>
            <a:pPr indent="0" marL="0">
              <a:buNone/>
            </a:pPr>
            <a:r>
              <a:rPr lang="en-US" sz="1300" dirty="0">
                <a:solidFill>
                  <a:srgbClr val="334155"/>
                </a:solidFill>
                <a:latin typeface="Microsoft YaHei" pitchFamily="34" charset="0"/>
                <a:ea typeface="Microsoft YaHei" pitchFamily="34" charset="-122"/>
                <a:cs typeface="Microsoft YaHei" pitchFamily="34" charset="-120"/>
              </a:rPr>
              <a:t>▸  投稿工具与资源推荐</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6EE"/>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控制与决策 期刊概览</a:t>
            </a:r>
            <a:endParaRPr lang="en-US" sz="2800" dirty="0"/>
          </a:p>
        </p:txBody>
      </p:sp>
      <p:sp>
        <p:nvSpPr>
          <p:cNvPr id="4" name="Shape 2"/>
          <p:cNvSpPr/>
          <p:nvPr/>
        </p:nvSpPr>
        <p:spPr>
          <a:xfrm>
            <a:off x="731520" y="914400"/>
            <a:ext cx="2286000" cy="36576"/>
          </a:xfrm>
          <a:prstGeom prst="rect">
            <a:avLst/>
          </a:prstGeom>
          <a:solidFill>
            <a:srgbClr val="0D9488"/>
          </a:solidFill>
          <a:ln/>
        </p:spPr>
      </p:sp>
      <p:sp>
        <p:nvSpPr>
          <p:cNvPr id="5" name="Shape 3"/>
          <p:cNvSpPr/>
          <p:nvPr/>
        </p:nvSpPr>
        <p:spPr>
          <a:xfrm>
            <a:off x="731520" y="1234440"/>
            <a:ext cx="5029200" cy="1645920"/>
          </a:xfrm>
          <a:prstGeom prst="rect">
            <a:avLst>
              <a:gd name="adj" fmla="val 5556"/>
            </a:avLst>
          </a:prstGeom>
          <a:solidFill>
            <a:srgbClr val="FFFFFF"/>
          </a:solidFill>
          <a:ln/>
          <a:effectLst>
            <a:outerShdw sx="100000" sy="100000" kx="0" ky="0" algn="bl" rotWithShape="0" blurRad="50800" dist="12700" dir="16200000">
              <a:srgbClr val="CCCCCC">
                <a:alpha val="30000"/>
              </a:srgbClr>
            </a:outerShdw>
          </a:effectLst>
        </p:spPr>
      </p:sp>
      <p:sp>
        <p:nvSpPr>
          <p:cNvPr id="6" name="Shape 4"/>
          <p:cNvSpPr/>
          <p:nvPr/>
        </p:nvSpPr>
        <p:spPr>
          <a:xfrm>
            <a:off x="731520" y="1325880"/>
            <a:ext cx="54864" cy="1463040"/>
          </a:xfrm>
          <a:prstGeom prst="rect">
            <a:avLst/>
          </a:prstGeom>
          <a:solidFill>
            <a:srgbClr val="8B1A1A"/>
          </a:solidFill>
          <a:ln/>
        </p:spPr>
      </p:sp>
      <p:sp>
        <p:nvSpPr>
          <p:cNvPr id="7" name="Text 5"/>
          <p:cNvSpPr/>
          <p:nvPr/>
        </p:nvSpPr>
        <p:spPr>
          <a:xfrm>
            <a:off x="960120" y="1325880"/>
            <a:ext cx="466344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期刊基本信息</a:t>
            </a:r>
            <a:endParaRPr lang="en-US" sz="1400" dirty="0"/>
          </a:p>
        </p:txBody>
      </p:sp>
      <p:sp>
        <p:nvSpPr>
          <p:cNvPr id="8" name="Text 6"/>
          <p:cNvSpPr/>
          <p:nvPr/>
        </p:nvSpPr>
        <p:spPr>
          <a:xfrm>
            <a:off x="960120" y="1691640"/>
            <a:ext cx="4663440" cy="105156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主办：东北大学</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级别：EI摘要/中文核心期刊</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出版周期：月刊</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学科领域：控制理论、运筹学、智能系统</a:t>
            </a:r>
            <a:endParaRPr lang="en-US" sz="1100" dirty="0"/>
          </a:p>
        </p:txBody>
      </p:sp>
      <p:sp>
        <p:nvSpPr>
          <p:cNvPr id="9" name="Shape 7"/>
          <p:cNvSpPr/>
          <p:nvPr/>
        </p:nvSpPr>
        <p:spPr>
          <a:xfrm>
            <a:off x="6217920" y="1234440"/>
            <a:ext cx="5212080" cy="1645920"/>
          </a:xfrm>
          <a:prstGeom prst="rect">
            <a:avLst>
              <a:gd name="adj" fmla="val 5556"/>
            </a:avLst>
          </a:prstGeom>
          <a:solidFill>
            <a:srgbClr val="FFFFFF"/>
          </a:solidFill>
          <a:ln/>
          <a:effectLst>
            <a:outerShdw sx="100000" sy="100000" kx="0" ky="0" algn="bl" rotWithShape="0" blurRad="50800" dist="12700" dir="16200000">
              <a:srgbClr val="CCCCCC">
                <a:alpha val="30000"/>
              </a:srgbClr>
            </a:outerShdw>
          </a:effectLst>
        </p:spPr>
      </p:sp>
      <p:sp>
        <p:nvSpPr>
          <p:cNvPr id="10" name="Shape 8"/>
          <p:cNvSpPr/>
          <p:nvPr/>
        </p:nvSpPr>
        <p:spPr>
          <a:xfrm>
            <a:off x="6217920" y="1325880"/>
            <a:ext cx="54864" cy="1463040"/>
          </a:xfrm>
          <a:prstGeom prst="rect">
            <a:avLst/>
          </a:prstGeom>
          <a:solidFill>
            <a:srgbClr val="8B1A1A"/>
          </a:solidFill>
          <a:ln/>
        </p:spPr>
      </p:sp>
      <p:sp>
        <p:nvSpPr>
          <p:cNvPr id="11" name="Text 9"/>
          <p:cNvSpPr/>
          <p:nvPr/>
        </p:nvSpPr>
        <p:spPr>
          <a:xfrm>
            <a:off x="6446520" y="1325880"/>
            <a:ext cx="484632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审稿特点</a:t>
            </a:r>
            <a:endParaRPr lang="en-US" sz="1400" dirty="0"/>
          </a:p>
        </p:txBody>
      </p:sp>
      <p:sp>
        <p:nvSpPr>
          <p:cNvPr id="12" name="Text 10"/>
          <p:cNvSpPr/>
          <p:nvPr/>
        </p:nvSpPr>
        <p:spPr>
          <a:xfrm>
            <a:off x="6446520" y="1691640"/>
            <a:ext cx="4846320" cy="105156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强调理论创新与实验验证并重</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重视数学模型与算法设计</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要求定量结果精确到小数点</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偏好对比实验多于单一算例</a:t>
            </a:r>
            <a:endParaRPr lang="en-US" sz="1100" dirty="0"/>
          </a:p>
        </p:txBody>
      </p:sp>
      <p:sp>
        <p:nvSpPr>
          <p:cNvPr id="13" name="Text 11"/>
          <p:cNvSpPr/>
          <p:nvPr/>
        </p:nvSpPr>
        <p:spPr>
          <a:xfrm>
            <a:off x="731520" y="3154680"/>
            <a:ext cx="10725912" cy="2103120"/>
          </a:xfrm>
          <a:prstGeom prst="rect">
            <a:avLst/>
          </a:prstGeom>
          <a:noFill/>
          <a:ln/>
        </p:spPr>
        <p:txBody>
          <a:bodyPr wrap="square" rtlCol="0" anchor="t"/>
          <a:lstStyle/>
          <a:p>
            <a:pPr indent="0" marL="0">
              <a:lnSpc>
                <a:spcPct val="140000"/>
              </a:lnSpc>
              <a:spcAft>
                <a:spcPts val="400"/>
              </a:spcAft>
              <a:buNone/>
            </a:pPr>
            <a:r>
              <a:rPr lang="en-US" sz="1300" dirty="0">
                <a:solidFill>
                  <a:srgbClr val="0F172A"/>
                </a:solidFill>
                <a:latin typeface="Microsoft YaHei" pitchFamily="34" charset="0"/>
                <a:ea typeface="Microsoft YaHei" pitchFamily="34" charset="-122"/>
                <a:cs typeface="Microsoft YaHei" pitchFamily="34" charset="-120"/>
              </a:rPr>
              <a:t>•  编委会由国内控制领域顶尖学者组成，审稿周期通常4-6个月</a:t>
            </a:r>
            <a:pPr indent="0" marL="0">
              <a:lnSpc>
                <a:spcPct val="140000"/>
              </a:lnSpc>
              <a:spcAft>
                <a:spcPts val="400"/>
              </a:spcAft>
              <a:buNone/>
            </a:pPr>
            <a:r>
              <a:rPr lang="en-US" sz="1300" dirty="0">
                <a:solidFill>
                  <a:srgbClr val="0F172A"/>
                </a:solidFill>
                <a:latin typeface="Microsoft YaHei" pitchFamily="34" charset="0"/>
                <a:ea typeface="Microsoft YaHei" pitchFamily="34" charset="-122"/>
                <a:cs typeface="Microsoft YaHei" pitchFamily="34" charset="-120"/>
              </a:rPr>
              <a:t>•  擅长领域包括：自动控制、优化决策、智能交通、生产调度、图像处理等</a:t>
            </a:r>
            <a:pPr indent="0" marL="0">
              <a:lnSpc>
                <a:spcPct val="140000"/>
              </a:lnSpc>
              <a:spcAft>
                <a:spcPts val="400"/>
              </a:spcAft>
              <a:buNone/>
            </a:pPr>
            <a:r>
              <a:rPr lang="en-US" sz="1300" dirty="0">
                <a:solidFill>
                  <a:srgbClr val="0F172A"/>
                </a:solidFill>
                <a:latin typeface="Microsoft YaHei" pitchFamily="34" charset="0"/>
                <a:ea typeface="Microsoft YaHei" pitchFamily="34" charset="-122"/>
                <a:cs typeface="Microsoft YaHei" pitchFamily="34" charset="-120"/>
              </a:rPr>
              <a:t>•  中文写作，摘要通常200-300字，关键词5-8个</a:t>
            </a:r>
            <a:pPr indent="0" marL="0">
              <a:lnSpc>
                <a:spcPct val="140000"/>
              </a:lnSpc>
              <a:spcAft>
                <a:spcPts val="400"/>
              </a:spcAft>
              <a:buNone/>
            </a:pPr>
            <a:r>
              <a:rPr lang="en-US" sz="1300" dirty="0">
                <a:solidFill>
                  <a:srgbClr val="0F172A"/>
                </a:solidFill>
                <a:latin typeface="Microsoft YaHei" pitchFamily="34" charset="0"/>
                <a:ea typeface="Microsoft YaHei" pitchFamily="34" charset="-122"/>
                <a:cs typeface="Microsoft YaHei" pitchFamily="34" charset="-120"/>
              </a:rPr>
              <a:t>•  近年影响因子稳步上升，已成为国内控制与决策领域的旗舰期刊</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6EE"/>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控制与决策 写作规范与四要素结构</a:t>
            </a:r>
            <a:endParaRPr lang="en-US" sz="2800" dirty="0"/>
          </a:p>
        </p:txBody>
      </p:sp>
      <p:sp>
        <p:nvSpPr>
          <p:cNvPr id="4" name="Shape 2"/>
          <p:cNvSpPr/>
          <p:nvPr/>
        </p:nvSpPr>
        <p:spPr>
          <a:xfrm>
            <a:off x="731520" y="914400"/>
            <a:ext cx="2286000" cy="36576"/>
          </a:xfrm>
          <a:prstGeom prst="rect">
            <a:avLst/>
          </a:prstGeom>
          <a:solidFill>
            <a:srgbClr val="0D9488"/>
          </a:solidFill>
          <a:ln/>
        </p:spPr>
      </p:sp>
      <p:sp>
        <p:nvSpPr>
          <p:cNvPr id="5" name="Shape 3"/>
          <p:cNvSpPr/>
          <p:nvPr/>
        </p:nvSpPr>
        <p:spPr>
          <a:xfrm>
            <a:off x="731520" y="1280160"/>
            <a:ext cx="2377440" cy="1737360"/>
          </a:xfrm>
          <a:prstGeom prst="rect">
            <a:avLst>
              <a:gd name="adj" fmla="val 4211"/>
            </a:avLst>
          </a:prstGeom>
          <a:solidFill>
            <a:srgbClr val="FFFFFF"/>
          </a:solidFill>
          <a:ln/>
          <a:effectLst>
            <a:outerShdw sx="100000" sy="100000" kx="0" ky="0" algn="bl" rotWithShape="0" blurRad="38100" dist="12700" dir="16200000">
              <a:srgbClr val="CCCCCC">
                <a:alpha val="30000"/>
              </a:srgbClr>
            </a:outerShdw>
          </a:effectLst>
        </p:spPr>
      </p:sp>
      <p:sp>
        <p:nvSpPr>
          <p:cNvPr id="6" name="Shape 4"/>
          <p:cNvSpPr/>
          <p:nvPr/>
        </p:nvSpPr>
        <p:spPr>
          <a:xfrm>
            <a:off x="731520" y="1280160"/>
            <a:ext cx="2377440" cy="54864"/>
          </a:xfrm>
          <a:prstGeom prst="rect">
            <a:avLst/>
          </a:prstGeom>
          <a:solidFill>
            <a:srgbClr val="DC2626"/>
          </a:solidFill>
          <a:ln/>
        </p:spPr>
      </p:sp>
      <p:sp>
        <p:nvSpPr>
          <p:cNvPr id="7" name="Text 5"/>
          <p:cNvSpPr/>
          <p:nvPr/>
        </p:nvSpPr>
        <p:spPr>
          <a:xfrm>
            <a:off x="731520" y="1417320"/>
            <a:ext cx="2377440" cy="320040"/>
          </a:xfrm>
          <a:prstGeom prst="rect">
            <a:avLst/>
          </a:prstGeom>
          <a:noFill/>
          <a:ln/>
        </p:spPr>
        <p:txBody>
          <a:bodyPr wrap="square" rtlCol="0" anchor="ctr"/>
          <a:lstStyle/>
          <a:p>
            <a:pPr algn="ctr" indent="0" marL="0">
              <a:buNone/>
            </a:pPr>
            <a:r>
              <a:rPr lang="en-US" sz="1800" b="1" dirty="0">
                <a:solidFill>
                  <a:srgbClr val="DC2626"/>
                </a:solidFill>
                <a:latin typeface="Microsoft YaHei" pitchFamily="34" charset="0"/>
                <a:ea typeface="Microsoft YaHei" pitchFamily="34" charset="-122"/>
                <a:cs typeface="Microsoft YaHei" pitchFamily="34" charset="-120"/>
              </a:rPr>
              <a:t>目的</a:t>
            </a:r>
            <a:endParaRPr lang="en-US" sz="1800" dirty="0"/>
          </a:p>
        </p:txBody>
      </p:sp>
      <p:sp>
        <p:nvSpPr>
          <p:cNvPr id="8" name="Text 6"/>
          <p:cNvSpPr/>
          <p:nvPr/>
        </p:nvSpPr>
        <p:spPr>
          <a:xfrm>
            <a:off x="731520" y="1719072"/>
            <a:ext cx="2377440" cy="228600"/>
          </a:xfrm>
          <a:prstGeom prst="rect">
            <a:avLst/>
          </a:prstGeom>
          <a:noFill/>
          <a:ln/>
        </p:spPr>
        <p:txBody>
          <a:bodyPr wrap="square" rtlCol="0" anchor="ctr"/>
          <a:lstStyle/>
          <a:p>
            <a:pPr algn="ctr" indent="0" marL="0">
              <a:buNone/>
            </a:pPr>
            <a:r>
              <a:rPr lang="en-US" sz="1000" i="1" dirty="0">
                <a:solidFill>
                  <a:srgbClr val="64748B"/>
                </a:solidFill>
                <a:latin typeface="Times New Roman" pitchFamily="34" charset="0"/>
                <a:ea typeface="Times New Roman" pitchFamily="34" charset="-122"/>
                <a:cs typeface="Times New Roman" pitchFamily="34" charset="-120"/>
              </a:rPr>
              <a:t>Purpose</a:t>
            </a:r>
            <a:endParaRPr lang="en-US" sz="1000" dirty="0"/>
          </a:p>
        </p:txBody>
      </p:sp>
      <p:sp>
        <p:nvSpPr>
          <p:cNvPr id="9" name="Text 7"/>
          <p:cNvSpPr/>
          <p:nvPr/>
        </p:nvSpPr>
        <p:spPr>
          <a:xfrm>
            <a:off x="868680" y="2011680"/>
            <a:ext cx="2103120" cy="822960"/>
          </a:xfrm>
          <a:prstGeom prst="rect">
            <a:avLst/>
          </a:prstGeom>
          <a:noFill/>
          <a:ln/>
        </p:spPr>
        <p:txBody>
          <a:bodyPr wrap="square" rtlCol="0" anchor="t"/>
          <a:lstStyle/>
          <a:p>
            <a:pPr algn="ctr" indent="0" marL="0">
              <a:lnSpc>
                <a:spcPct val="140000"/>
              </a:lnSpc>
              <a:buNone/>
            </a:pPr>
            <a:r>
              <a:rPr lang="en-US" sz="1000" dirty="0">
                <a:solidFill>
                  <a:srgbClr val="334155"/>
                </a:solidFill>
                <a:latin typeface="Microsoft YaHei" pitchFamily="34" charset="0"/>
                <a:ea typeface="Microsoft YaHei" pitchFamily="34" charset="-122"/>
                <a:cs typeface="Microsoft YaHei" pitchFamily="34" charset="-120"/>
              </a:rPr>
              <a:t>问题描述、研究目标</a:t>
            </a:r>
            <a:endParaRPr lang="en-US" sz="1000" dirty="0"/>
          </a:p>
          <a:p>
            <a:pPr algn="ctr" indent="0" marL="0">
              <a:lnSpc>
                <a:spcPct val="140000"/>
              </a:lnSpc>
              <a:buNone/>
            </a:pPr>
            <a:r>
              <a:rPr lang="en-US" sz="1000" dirty="0">
                <a:solidFill>
                  <a:srgbClr val="334155"/>
                </a:solidFill>
                <a:latin typeface="Microsoft YaHei" pitchFamily="34" charset="0"/>
                <a:ea typeface="Microsoft YaHei" pitchFamily="34" charset="-122"/>
                <a:cs typeface="Microsoft YaHei" pitchFamily="34" charset="-120"/>
              </a:rPr>
              <a:t>“针对...问题”</a:t>
            </a:r>
            <a:endParaRPr lang="en-US" sz="1000" dirty="0"/>
          </a:p>
        </p:txBody>
      </p:sp>
      <p:sp>
        <p:nvSpPr>
          <p:cNvPr id="10" name="Shape 8"/>
          <p:cNvSpPr/>
          <p:nvPr/>
        </p:nvSpPr>
        <p:spPr>
          <a:xfrm>
            <a:off x="3657600" y="1280160"/>
            <a:ext cx="2377440" cy="1737360"/>
          </a:xfrm>
          <a:prstGeom prst="rect">
            <a:avLst>
              <a:gd name="adj" fmla="val 4211"/>
            </a:avLst>
          </a:prstGeom>
          <a:solidFill>
            <a:srgbClr val="FFFFFF"/>
          </a:solidFill>
          <a:ln/>
          <a:effectLst>
            <a:outerShdw sx="100000" sy="100000" kx="0" ky="0" algn="bl" rotWithShape="0" blurRad="38100" dist="12700" dir="16200000">
              <a:srgbClr val="CCCCCC">
                <a:alpha val="30000"/>
              </a:srgbClr>
            </a:outerShdw>
          </a:effectLst>
        </p:spPr>
      </p:sp>
      <p:sp>
        <p:nvSpPr>
          <p:cNvPr id="11" name="Shape 9"/>
          <p:cNvSpPr/>
          <p:nvPr/>
        </p:nvSpPr>
        <p:spPr>
          <a:xfrm>
            <a:off x="3657600" y="1280160"/>
            <a:ext cx="2377440" cy="54864"/>
          </a:xfrm>
          <a:prstGeom prst="rect">
            <a:avLst/>
          </a:prstGeom>
          <a:solidFill>
            <a:srgbClr val="1E3A5F"/>
          </a:solidFill>
          <a:ln/>
        </p:spPr>
      </p:sp>
      <p:sp>
        <p:nvSpPr>
          <p:cNvPr id="12" name="Text 10"/>
          <p:cNvSpPr/>
          <p:nvPr/>
        </p:nvSpPr>
        <p:spPr>
          <a:xfrm>
            <a:off x="3657600" y="1417320"/>
            <a:ext cx="2377440" cy="320040"/>
          </a:xfrm>
          <a:prstGeom prst="rect">
            <a:avLst/>
          </a:prstGeom>
          <a:noFill/>
          <a:ln/>
        </p:spPr>
        <p:txBody>
          <a:bodyPr wrap="square" rtlCol="0" anchor="ctr"/>
          <a:lstStyle/>
          <a:p>
            <a:pPr algn="ctr" indent="0" marL="0">
              <a:buNone/>
            </a:pPr>
            <a:r>
              <a:rPr lang="en-US" sz="1800" b="1" dirty="0">
                <a:solidFill>
                  <a:srgbClr val="1E3A5F"/>
                </a:solidFill>
                <a:latin typeface="Microsoft YaHei" pitchFamily="34" charset="0"/>
                <a:ea typeface="Microsoft YaHei" pitchFamily="34" charset="-122"/>
                <a:cs typeface="Microsoft YaHei" pitchFamily="34" charset="-120"/>
              </a:rPr>
              <a:t>方法</a:t>
            </a:r>
            <a:endParaRPr lang="en-US" sz="1800" dirty="0"/>
          </a:p>
        </p:txBody>
      </p:sp>
      <p:sp>
        <p:nvSpPr>
          <p:cNvPr id="13" name="Text 11"/>
          <p:cNvSpPr/>
          <p:nvPr/>
        </p:nvSpPr>
        <p:spPr>
          <a:xfrm>
            <a:off x="3657600" y="1719072"/>
            <a:ext cx="2377440" cy="228600"/>
          </a:xfrm>
          <a:prstGeom prst="rect">
            <a:avLst/>
          </a:prstGeom>
          <a:noFill/>
          <a:ln/>
        </p:spPr>
        <p:txBody>
          <a:bodyPr wrap="square" rtlCol="0" anchor="ctr"/>
          <a:lstStyle/>
          <a:p>
            <a:pPr algn="ctr" indent="0" marL="0">
              <a:buNone/>
            </a:pPr>
            <a:r>
              <a:rPr lang="en-US" sz="1000" i="1" dirty="0">
                <a:solidFill>
                  <a:srgbClr val="64748B"/>
                </a:solidFill>
                <a:latin typeface="Times New Roman" pitchFamily="34" charset="0"/>
                <a:ea typeface="Times New Roman" pitchFamily="34" charset="-122"/>
                <a:cs typeface="Times New Roman" pitchFamily="34" charset="-120"/>
              </a:rPr>
              <a:t>Method</a:t>
            </a:r>
            <a:endParaRPr lang="en-US" sz="1000" dirty="0"/>
          </a:p>
        </p:txBody>
      </p:sp>
      <p:sp>
        <p:nvSpPr>
          <p:cNvPr id="14" name="Text 12"/>
          <p:cNvSpPr/>
          <p:nvPr/>
        </p:nvSpPr>
        <p:spPr>
          <a:xfrm>
            <a:off x="3794760" y="2011680"/>
            <a:ext cx="2103120" cy="822960"/>
          </a:xfrm>
          <a:prstGeom prst="rect">
            <a:avLst/>
          </a:prstGeom>
          <a:noFill/>
          <a:ln/>
        </p:spPr>
        <p:txBody>
          <a:bodyPr wrap="square" rtlCol="0" anchor="t"/>
          <a:lstStyle/>
          <a:p>
            <a:pPr algn="ctr" indent="0" marL="0">
              <a:lnSpc>
                <a:spcPct val="140000"/>
              </a:lnSpc>
              <a:buNone/>
            </a:pPr>
            <a:r>
              <a:rPr lang="en-US" sz="1000" dirty="0">
                <a:solidFill>
                  <a:srgbClr val="334155"/>
                </a:solidFill>
                <a:latin typeface="Microsoft YaHei" pitchFamily="34" charset="0"/>
                <a:ea typeface="Microsoft YaHei" pitchFamily="34" charset="-122"/>
                <a:cs typeface="Microsoft YaHei" pitchFamily="34" charset="-120"/>
              </a:rPr>
              <a:t>模型构建、算法设计</a:t>
            </a:r>
            <a:endParaRPr lang="en-US" sz="1000" dirty="0"/>
          </a:p>
          <a:p>
            <a:pPr algn="ctr" indent="0" marL="0">
              <a:lnSpc>
                <a:spcPct val="140000"/>
              </a:lnSpc>
              <a:buNone/>
            </a:pPr>
            <a:r>
              <a:rPr lang="en-US" sz="1000" dirty="0">
                <a:solidFill>
                  <a:srgbClr val="334155"/>
                </a:solidFill>
                <a:latin typeface="Microsoft YaHei" pitchFamily="34" charset="0"/>
                <a:ea typeface="Microsoft YaHei" pitchFamily="34" charset="-122"/>
                <a:cs typeface="Microsoft YaHei" pitchFamily="34" charset="-120"/>
              </a:rPr>
              <a:t>“提出...方法”</a:t>
            </a:r>
            <a:endParaRPr lang="en-US" sz="1000" dirty="0"/>
          </a:p>
        </p:txBody>
      </p:sp>
      <p:sp>
        <p:nvSpPr>
          <p:cNvPr id="15" name="Shape 13"/>
          <p:cNvSpPr/>
          <p:nvPr/>
        </p:nvSpPr>
        <p:spPr>
          <a:xfrm>
            <a:off x="6583680" y="1280160"/>
            <a:ext cx="2377440" cy="1737360"/>
          </a:xfrm>
          <a:prstGeom prst="rect">
            <a:avLst>
              <a:gd name="adj" fmla="val 4211"/>
            </a:avLst>
          </a:prstGeom>
          <a:solidFill>
            <a:srgbClr val="FFFFFF"/>
          </a:solidFill>
          <a:ln/>
          <a:effectLst>
            <a:outerShdw sx="100000" sy="100000" kx="0" ky="0" algn="bl" rotWithShape="0" blurRad="38100" dist="12700" dir="16200000">
              <a:srgbClr val="CCCCCC">
                <a:alpha val="30000"/>
              </a:srgbClr>
            </a:outerShdw>
          </a:effectLst>
        </p:spPr>
      </p:sp>
      <p:sp>
        <p:nvSpPr>
          <p:cNvPr id="16" name="Shape 14"/>
          <p:cNvSpPr/>
          <p:nvPr/>
        </p:nvSpPr>
        <p:spPr>
          <a:xfrm>
            <a:off x="6583680" y="1280160"/>
            <a:ext cx="2377440" cy="54864"/>
          </a:xfrm>
          <a:prstGeom prst="rect">
            <a:avLst/>
          </a:prstGeom>
          <a:solidFill>
            <a:srgbClr val="059669"/>
          </a:solidFill>
          <a:ln/>
        </p:spPr>
      </p:sp>
      <p:sp>
        <p:nvSpPr>
          <p:cNvPr id="17" name="Text 15"/>
          <p:cNvSpPr/>
          <p:nvPr/>
        </p:nvSpPr>
        <p:spPr>
          <a:xfrm>
            <a:off x="6583680" y="1417320"/>
            <a:ext cx="2377440" cy="320040"/>
          </a:xfrm>
          <a:prstGeom prst="rect">
            <a:avLst/>
          </a:prstGeom>
          <a:noFill/>
          <a:ln/>
        </p:spPr>
        <p:txBody>
          <a:bodyPr wrap="square" rtlCol="0" anchor="ctr"/>
          <a:lstStyle/>
          <a:p>
            <a:pPr algn="ctr" indent="0" marL="0">
              <a:buNone/>
            </a:pPr>
            <a:r>
              <a:rPr lang="en-US" sz="1800" b="1" dirty="0">
                <a:solidFill>
                  <a:srgbClr val="059669"/>
                </a:solidFill>
                <a:latin typeface="Microsoft YaHei" pitchFamily="34" charset="0"/>
                <a:ea typeface="Microsoft YaHei" pitchFamily="34" charset="-122"/>
                <a:cs typeface="Microsoft YaHei" pitchFamily="34" charset="-120"/>
              </a:rPr>
              <a:t>结果</a:t>
            </a:r>
            <a:endParaRPr lang="en-US" sz="1800" dirty="0"/>
          </a:p>
        </p:txBody>
      </p:sp>
      <p:sp>
        <p:nvSpPr>
          <p:cNvPr id="18" name="Text 16"/>
          <p:cNvSpPr/>
          <p:nvPr/>
        </p:nvSpPr>
        <p:spPr>
          <a:xfrm>
            <a:off x="6583680" y="1719072"/>
            <a:ext cx="2377440" cy="228600"/>
          </a:xfrm>
          <a:prstGeom prst="rect">
            <a:avLst/>
          </a:prstGeom>
          <a:noFill/>
          <a:ln/>
        </p:spPr>
        <p:txBody>
          <a:bodyPr wrap="square" rtlCol="0" anchor="ctr"/>
          <a:lstStyle/>
          <a:p>
            <a:pPr algn="ctr" indent="0" marL="0">
              <a:buNone/>
            </a:pPr>
            <a:r>
              <a:rPr lang="en-US" sz="1000" i="1" dirty="0">
                <a:solidFill>
                  <a:srgbClr val="64748B"/>
                </a:solidFill>
                <a:latin typeface="Times New Roman" pitchFamily="34" charset="0"/>
                <a:ea typeface="Times New Roman" pitchFamily="34" charset="-122"/>
                <a:cs typeface="Times New Roman" pitchFamily="34" charset="-120"/>
              </a:rPr>
              <a:t>Results</a:t>
            </a:r>
            <a:endParaRPr lang="en-US" sz="1000" dirty="0"/>
          </a:p>
        </p:txBody>
      </p:sp>
      <p:sp>
        <p:nvSpPr>
          <p:cNvPr id="19" name="Text 17"/>
          <p:cNvSpPr/>
          <p:nvPr/>
        </p:nvSpPr>
        <p:spPr>
          <a:xfrm>
            <a:off x="6720840" y="2011680"/>
            <a:ext cx="2103120" cy="822960"/>
          </a:xfrm>
          <a:prstGeom prst="rect">
            <a:avLst/>
          </a:prstGeom>
          <a:noFill/>
          <a:ln/>
        </p:spPr>
        <p:txBody>
          <a:bodyPr wrap="square" rtlCol="0" anchor="t"/>
          <a:lstStyle/>
          <a:p>
            <a:pPr algn="ctr" indent="0" marL="0">
              <a:lnSpc>
                <a:spcPct val="140000"/>
              </a:lnSpc>
              <a:buNone/>
            </a:pPr>
            <a:r>
              <a:rPr lang="en-US" sz="1000" dirty="0">
                <a:solidFill>
                  <a:srgbClr val="334155"/>
                </a:solidFill>
                <a:latin typeface="Microsoft YaHei" pitchFamily="34" charset="0"/>
                <a:ea typeface="Microsoft YaHei" pitchFamily="34" charset="-122"/>
                <a:cs typeface="Microsoft YaHei" pitchFamily="34" charset="-120"/>
              </a:rPr>
              <a:t>实验数据、对比分析</a:t>
            </a:r>
            <a:endParaRPr lang="en-US" sz="1000" dirty="0"/>
          </a:p>
          <a:p>
            <a:pPr algn="ctr" indent="0" marL="0">
              <a:lnSpc>
                <a:spcPct val="140000"/>
              </a:lnSpc>
              <a:buNone/>
            </a:pPr>
            <a:r>
              <a:rPr lang="en-US" sz="1000" dirty="0">
                <a:solidFill>
                  <a:srgbClr val="334155"/>
                </a:solidFill>
                <a:latin typeface="Microsoft YaHei" pitchFamily="34" charset="0"/>
                <a:ea typeface="Microsoft YaHei" pitchFamily="34" charset="-122"/>
                <a:cs typeface="Microsoft YaHei" pitchFamily="34" charset="-120"/>
              </a:rPr>
              <a:t>“结果表明...”</a:t>
            </a:r>
            <a:endParaRPr lang="en-US" sz="1000" dirty="0"/>
          </a:p>
        </p:txBody>
      </p:sp>
      <p:sp>
        <p:nvSpPr>
          <p:cNvPr id="20" name="Shape 18"/>
          <p:cNvSpPr/>
          <p:nvPr/>
        </p:nvSpPr>
        <p:spPr>
          <a:xfrm>
            <a:off x="9509760" y="1280160"/>
            <a:ext cx="2377440" cy="1737360"/>
          </a:xfrm>
          <a:prstGeom prst="rect">
            <a:avLst>
              <a:gd name="adj" fmla="val 4211"/>
            </a:avLst>
          </a:prstGeom>
          <a:solidFill>
            <a:srgbClr val="FFFFFF"/>
          </a:solidFill>
          <a:ln/>
          <a:effectLst>
            <a:outerShdw sx="100000" sy="100000" kx="0" ky="0" algn="bl" rotWithShape="0" blurRad="38100" dist="12700" dir="16200000">
              <a:srgbClr val="CCCCCC">
                <a:alpha val="30000"/>
              </a:srgbClr>
            </a:outerShdw>
          </a:effectLst>
        </p:spPr>
      </p:sp>
      <p:sp>
        <p:nvSpPr>
          <p:cNvPr id="21" name="Shape 19"/>
          <p:cNvSpPr/>
          <p:nvPr/>
        </p:nvSpPr>
        <p:spPr>
          <a:xfrm>
            <a:off x="9509760" y="1280160"/>
            <a:ext cx="2377440" cy="54864"/>
          </a:xfrm>
          <a:prstGeom prst="rect">
            <a:avLst/>
          </a:prstGeom>
          <a:solidFill>
            <a:srgbClr val="7C3AED"/>
          </a:solidFill>
          <a:ln/>
        </p:spPr>
      </p:sp>
      <p:sp>
        <p:nvSpPr>
          <p:cNvPr id="22" name="Text 20"/>
          <p:cNvSpPr/>
          <p:nvPr/>
        </p:nvSpPr>
        <p:spPr>
          <a:xfrm>
            <a:off x="9509760" y="1417320"/>
            <a:ext cx="2377440" cy="320040"/>
          </a:xfrm>
          <a:prstGeom prst="rect">
            <a:avLst/>
          </a:prstGeom>
          <a:noFill/>
          <a:ln/>
        </p:spPr>
        <p:txBody>
          <a:bodyPr wrap="square" rtlCol="0" anchor="ctr"/>
          <a:lstStyle/>
          <a:p>
            <a:pPr algn="ctr" indent="0" marL="0">
              <a:buNone/>
            </a:pPr>
            <a:r>
              <a:rPr lang="en-US" sz="1800" b="1" dirty="0">
                <a:solidFill>
                  <a:srgbClr val="7C3AED"/>
                </a:solidFill>
                <a:latin typeface="Microsoft YaHei" pitchFamily="34" charset="0"/>
                <a:ea typeface="Microsoft YaHei" pitchFamily="34" charset="-122"/>
                <a:cs typeface="Microsoft YaHei" pitchFamily="34" charset="-120"/>
              </a:rPr>
              <a:t>结论</a:t>
            </a:r>
            <a:endParaRPr lang="en-US" sz="1800" dirty="0"/>
          </a:p>
        </p:txBody>
      </p:sp>
      <p:sp>
        <p:nvSpPr>
          <p:cNvPr id="23" name="Text 21"/>
          <p:cNvSpPr/>
          <p:nvPr/>
        </p:nvSpPr>
        <p:spPr>
          <a:xfrm>
            <a:off x="9509760" y="1719072"/>
            <a:ext cx="2377440" cy="228600"/>
          </a:xfrm>
          <a:prstGeom prst="rect">
            <a:avLst/>
          </a:prstGeom>
          <a:noFill/>
          <a:ln/>
        </p:spPr>
        <p:txBody>
          <a:bodyPr wrap="square" rtlCol="0" anchor="ctr"/>
          <a:lstStyle/>
          <a:p>
            <a:pPr algn="ctr" indent="0" marL="0">
              <a:buNone/>
            </a:pPr>
            <a:r>
              <a:rPr lang="en-US" sz="1000" i="1" dirty="0">
                <a:solidFill>
                  <a:srgbClr val="64748B"/>
                </a:solidFill>
                <a:latin typeface="Times New Roman" pitchFamily="34" charset="0"/>
                <a:ea typeface="Times New Roman" pitchFamily="34" charset="-122"/>
                <a:cs typeface="Times New Roman" pitchFamily="34" charset="-120"/>
              </a:rPr>
              <a:t>Conclusion</a:t>
            </a:r>
            <a:endParaRPr lang="en-US" sz="1000" dirty="0"/>
          </a:p>
        </p:txBody>
      </p:sp>
      <p:sp>
        <p:nvSpPr>
          <p:cNvPr id="24" name="Text 22"/>
          <p:cNvSpPr/>
          <p:nvPr/>
        </p:nvSpPr>
        <p:spPr>
          <a:xfrm>
            <a:off x="9646920" y="2011680"/>
            <a:ext cx="2103120" cy="822960"/>
          </a:xfrm>
          <a:prstGeom prst="rect">
            <a:avLst/>
          </a:prstGeom>
          <a:noFill/>
          <a:ln/>
        </p:spPr>
        <p:txBody>
          <a:bodyPr wrap="square" rtlCol="0" anchor="t"/>
          <a:lstStyle/>
          <a:p>
            <a:pPr algn="ctr" indent="0" marL="0">
              <a:lnSpc>
                <a:spcPct val="140000"/>
              </a:lnSpc>
              <a:buNone/>
            </a:pPr>
            <a:r>
              <a:rPr lang="en-US" sz="1000" dirty="0">
                <a:solidFill>
                  <a:srgbClr val="334155"/>
                </a:solidFill>
                <a:latin typeface="Microsoft YaHei" pitchFamily="34" charset="0"/>
                <a:ea typeface="Microsoft YaHei" pitchFamily="34" charset="-122"/>
                <a:cs typeface="Microsoft YaHei" pitchFamily="34" charset="-120"/>
              </a:rPr>
              <a:t>理论贡献、应用价值</a:t>
            </a:r>
            <a:endParaRPr lang="en-US" sz="1000" dirty="0"/>
          </a:p>
          <a:p>
            <a:pPr algn="ctr" indent="0" marL="0">
              <a:lnSpc>
                <a:spcPct val="140000"/>
              </a:lnSpc>
              <a:buNone/>
            </a:pPr>
            <a:r>
              <a:rPr lang="en-US" sz="1000" dirty="0">
                <a:solidFill>
                  <a:srgbClr val="334155"/>
                </a:solidFill>
                <a:latin typeface="Microsoft YaHei" pitchFamily="34" charset="0"/>
                <a:ea typeface="Microsoft YaHei" pitchFamily="34" charset="-122"/>
                <a:cs typeface="Microsoft YaHei" pitchFamily="34" charset="-120"/>
              </a:rPr>
              <a:t>“所提出的...”</a:t>
            </a:r>
            <a:endParaRPr lang="en-US" sz="1000" dirty="0"/>
          </a:p>
        </p:txBody>
      </p:sp>
      <p:sp>
        <p:nvSpPr>
          <p:cNvPr id="25" name="Shape 23"/>
          <p:cNvSpPr/>
          <p:nvPr/>
        </p:nvSpPr>
        <p:spPr>
          <a:xfrm>
            <a:off x="731520" y="3246120"/>
            <a:ext cx="10725912" cy="18288"/>
          </a:xfrm>
          <a:prstGeom prst="rect">
            <a:avLst/>
          </a:prstGeom>
          <a:solidFill>
            <a:srgbClr val="E2E8F0"/>
          </a:solidFill>
          <a:ln/>
        </p:spPr>
      </p:sp>
      <p:sp>
        <p:nvSpPr>
          <p:cNvPr id="26" name="Text 24"/>
          <p:cNvSpPr/>
          <p:nvPr/>
        </p:nvSpPr>
        <p:spPr>
          <a:xfrm>
            <a:off x="731520" y="3474720"/>
            <a:ext cx="10725912" cy="2377440"/>
          </a:xfrm>
          <a:prstGeom prst="rect">
            <a:avLst/>
          </a:prstGeom>
          <a:noFill/>
          <a:ln/>
        </p:spPr>
        <p:txBody>
          <a:bodyPr wrap="square" rtlCol="0" anchor="t"/>
          <a:lstStyle/>
          <a:p>
            <a:pPr indent="0" marL="0">
              <a:lnSpc>
                <a:spcPct val="140000"/>
              </a:lnSpc>
              <a:spcAft>
                <a:spcPts val="400"/>
              </a:spcAft>
              <a:buNone/>
            </a:pPr>
            <a:r>
              <a:rPr lang="en-US" sz="1200" dirty="0">
                <a:solidFill>
                  <a:srgbClr val="0F172A"/>
                </a:solidFill>
                <a:latin typeface="Microsoft YaHei" pitchFamily="34" charset="0"/>
                <a:ea typeface="Microsoft YaHei" pitchFamily="34" charset="-122"/>
                <a:cs typeface="Microsoft YaHei" pitchFamily="34" charset="-120"/>
              </a:rPr>
              <a:t>•  摘要必须包含「目的-方法-结果-结论」四要素，缺一不可</a:t>
            </a:r>
            <a:pPr indent="0" marL="0">
              <a:lnSpc>
                <a:spcPct val="140000"/>
              </a:lnSpc>
              <a:spcAft>
                <a:spcPts val="400"/>
              </a:spcAft>
              <a:buNone/>
            </a:pPr>
            <a:r>
              <a:rPr lang="en-US" sz="1200" dirty="0">
                <a:solidFill>
                  <a:srgbClr val="0F172A"/>
                </a:solidFill>
                <a:latin typeface="Microsoft YaHei" pitchFamily="34" charset="0"/>
                <a:ea typeface="Microsoft YaHei" pitchFamily="34" charset="-122"/>
                <a:cs typeface="Microsoft YaHei" pitchFamily="34" charset="-120"/>
              </a:rPr>
              <a:t>•  引言以问题为导向：先交代背景，再指出不足，最后说明本文贡献</a:t>
            </a:r>
            <a:pPr indent="0" marL="0">
              <a:lnSpc>
                <a:spcPct val="140000"/>
              </a:lnSpc>
              <a:spcAft>
                <a:spcPts val="400"/>
              </a:spcAft>
              <a:buNone/>
            </a:pPr>
            <a:r>
              <a:rPr lang="en-US" sz="1200" dirty="0">
                <a:solidFill>
                  <a:srgbClr val="0F172A"/>
                </a:solidFill>
                <a:latin typeface="Microsoft YaHei" pitchFamily="34" charset="0"/>
                <a:ea typeface="Microsoft YaHei" pitchFamily="34" charset="-122"/>
                <a:cs typeface="Microsoft YaHei" pitchFamily="34" charset="-120"/>
              </a:rPr>
              <a:t>•  方法部分采用递进式结构："首先...然后...接着...最后..."</a:t>
            </a:r>
            <a:pPr indent="0" marL="0">
              <a:lnSpc>
                <a:spcPct val="140000"/>
              </a:lnSpc>
              <a:spcAft>
                <a:spcPts val="400"/>
              </a:spcAft>
              <a:buNone/>
            </a:pPr>
            <a:r>
              <a:rPr lang="en-US" sz="1200" dirty="0">
                <a:solidFill>
                  <a:srgbClr val="0F172A"/>
                </a:solidFill>
                <a:latin typeface="Microsoft YaHei" pitchFamily="34" charset="0"/>
                <a:ea typeface="Microsoft YaHei" pitchFamily="34" charset="-122"/>
                <a:cs typeface="Microsoft YaHei" pitchFamily="34" charset="-120"/>
              </a:rPr>
              <a:t>•  结果部分要求定量数据对比：与X相比，本文方法降低Y%</a:t>
            </a:r>
            <a:pPr indent="0" marL="0">
              <a:lnSpc>
                <a:spcPct val="140000"/>
              </a:lnSpc>
              <a:spcAft>
                <a:spcPts val="400"/>
              </a:spcAft>
              <a:buNone/>
            </a:pPr>
            <a:r>
              <a:rPr lang="en-US" sz="1200" dirty="0">
                <a:solidFill>
                  <a:srgbClr val="0F172A"/>
                </a:solidFill>
                <a:latin typeface="Microsoft YaHei" pitchFamily="34" charset="0"/>
                <a:ea typeface="Microsoft YaHei" pitchFamily="34" charset="-122"/>
                <a:cs typeface="Microsoft YaHei" pitchFamily="34" charset="-120"/>
              </a:rPr>
              <a:t>•  结论部分需关联实际应用价值，避免空洞的"具有一定的理论意义"</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Transportation Research Part E 期刊概览</a:t>
            </a:r>
            <a:endParaRPr lang="en-US" sz="2800" dirty="0"/>
          </a:p>
        </p:txBody>
      </p:sp>
      <p:sp>
        <p:nvSpPr>
          <p:cNvPr id="4" name="Shape 2"/>
          <p:cNvSpPr/>
          <p:nvPr/>
        </p:nvSpPr>
        <p:spPr>
          <a:xfrm>
            <a:off x="731520" y="914400"/>
            <a:ext cx="2286000" cy="36576"/>
          </a:xfrm>
          <a:prstGeom prst="rect">
            <a:avLst/>
          </a:prstGeom>
          <a:solidFill>
            <a:srgbClr val="0D9488"/>
          </a:solidFill>
          <a:ln/>
        </p:spPr>
      </p:sp>
      <p:sp>
        <p:nvSpPr>
          <p:cNvPr id="5" name="Shape 3"/>
          <p:cNvSpPr/>
          <p:nvPr/>
        </p:nvSpPr>
        <p:spPr>
          <a:xfrm>
            <a:off x="731520" y="1234440"/>
            <a:ext cx="5029200" cy="1645920"/>
          </a:xfrm>
          <a:prstGeom prst="rect">
            <a:avLst>
              <a:gd name="adj" fmla="val 5556"/>
            </a:avLst>
          </a:prstGeom>
          <a:solidFill>
            <a:srgbClr val="FFFFFF"/>
          </a:solidFill>
          <a:ln/>
          <a:effectLst>
            <a:outerShdw sx="100000" sy="100000" kx="0" ky="0" algn="bl" rotWithShape="0" blurRad="50800" dist="12700" dir="16200000">
              <a:srgbClr val="CCCCCC">
                <a:alpha val="30000"/>
              </a:srgbClr>
            </a:outerShdw>
          </a:effectLst>
        </p:spPr>
      </p:sp>
      <p:sp>
        <p:nvSpPr>
          <p:cNvPr id="6" name="Shape 4"/>
          <p:cNvSpPr/>
          <p:nvPr/>
        </p:nvSpPr>
        <p:spPr>
          <a:xfrm>
            <a:off x="731520" y="1325880"/>
            <a:ext cx="54864" cy="1463040"/>
          </a:xfrm>
          <a:prstGeom prst="rect">
            <a:avLst/>
          </a:prstGeom>
          <a:solidFill>
            <a:srgbClr val="1E3A5F"/>
          </a:solidFill>
          <a:ln/>
        </p:spPr>
      </p:sp>
      <p:sp>
        <p:nvSpPr>
          <p:cNvPr id="7" name="Text 5"/>
          <p:cNvSpPr/>
          <p:nvPr/>
        </p:nvSpPr>
        <p:spPr>
          <a:xfrm>
            <a:off x="960120" y="1325880"/>
            <a:ext cx="466344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Journal Information</a:t>
            </a:r>
            <a:endParaRPr lang="en-US" sz="1400" dirty="0"/>
          </a:p>
        </p:txBody>
      </p:sp>
      <p:sp>
        <p:nvSpPr>
          <p:cNvPr id="8" name="Text 6"/>
          <p:cNvSpPr/>
          <p:nvPr/>
        </p:nvSpPr>
        <p:spPr>
          <a:xfrm>
            <a:off x="960120" y="1691640"/>
            <a:ext cx="4663440" cy="105156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Publisher: Elsevier (SCI/SSCI)</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Impact Factor: ~10.0 (2024)</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Ranking: Q1 in Transportation</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Scope: Logistics, Supply Chain, Freight</a:t>
            </a:r>
            <a:endParaRPr lang="en-US" sz="1100" dirty="0"/>
          </a:p>
        </p:txBody>
      </p:sp>
      <p:sp>
        <p:nvSpPr>
          <p:cNvPr id="9" name="Shape 7"/>
          <p:cNvSpPr/>
          <p:nvPr/>
        </p:nvSpPr>
        <p:spPr>
          <a:xfrm>
            <a:off x="6217920" y="1234440"/>
            <a:ext cx="5212080" cy="1645920"/>
          </a:xfrm>
          <a:prstGeom prst="rect">
            <a:avLst>
              <a:gd name="adj" fmla="val 5556"/>
            </a:avLst>
          </a:prstGeom>
          <a:solidFill>
            <a:srgbClr val="FFFFFF"/>
          </a:solidFill>
          <a:ln/>
          <a:effectLst>
            <a:outerShdw sx="100000" sy="100000" kx="0" ky="0" algn="bl" rotWithShape="0" blurRad="50800" dist="12700" dir="16200000">
              <a:srgbClr val="CCCCCC">
                <a:alpha val="30000"/>
              </a:srgbClr>
            </a:outerShdw>
          </a:effectLst>
        </p:spPr>
      </p:sp>
      <p:sp>
        <p:nvSpPr>
          <p:cNvPr id="10" name="Shape 8"/>
          <p:cNvSpPr/>
          <p:nvPr/>
        </p:nvSpPr>
        <p:spPr>
          <a:xfrm>
            <a:off x="6217920" y="1325880"/>
            <a:ext cx="54864" cy="1463040"/>
          </a:xfrm>
          <a:prstGeom prst="rect">
            <a:avLst/>
          </a:prstGeom>
          <a:solidFill>
            <a:srgbClr val="1E3A5F"/>
          </a:solidFill>
          <a:ln/>
        </p:spPr>
      </p:sp>
      <p:sp>
        <p:nvSpPr>
          <p:cNvPr id="11" name="Text 9"/>
          <p:cNvSpPr/>
          <p:nvPr/>
        </p:nvSpPr>
        <p:spPr>
          <a:xfrm>
            <a:off x="6446520" y="1325880"/>
            <a:ext cx="484632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Review Characteristics</a:t>
            </a:r>
            <a:endParaRPr lang="en-US" sz="1400" dirty="0"/>
          </a:p>
        </p:txBody>
      </p:sp>
      <p:sp>
        <p:nvSpPr>
          <p:cNvPr id="12" name="Text 10"/>
          <p:cNvSpPr/>
          <p:nvPr/>
        </p:nvSpPr>
        <p:spPr>
          <a:xfrm>
            <a:off x="6446520" y="1691640"/>
            <a:ext cx="4846320" cy="105156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Requires both methodological rigor and practical relevance</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Favors papers with managerial insights</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Strong emphasis on sustainability &amp; technology</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Expects comprehensive sensitivity analysis</a:t>
            </a:r>
            <a:endParaRPr lang="en-US" sz="1100" dirty="0"/>
          </a:p>
        </p:txBody>
      </p:sp>
      <p:sp>
        <p:nvSpPr>
          <p:cNvPr id="13" name="Text 11"/>
          <p:cNvSpPr/>
          <p:nvPr/>
        </p:nvSpPr>
        <p:spPr>
          <a:xfrm>
            <a:off x="731520" y="3154680"/>
            <a:ext cx="10725912" cy="2514600"/>
          </a:xfrm>
          <a:prstGeom prst="rect">
            <a:avLst/>
          </a:prstGeom>
          <a:noFill/>
          <a:ln/>
        </p:spPr>
        <p:txBody>
          <a:bodyPr wrap="square" rtlCol="0" anchor="t"/>
          <a:lstStyle/>
          <a:p>
            <a:pPr indent="0" marL="0">
              <a:lnSpc>
                <a:spcPct val="140000"/>
              </a:lnSpc>
              <a:spcAft>
                <a:spcPts val="400"/>
              </a:spcAft>
              <a:buNone/>
            </a:pPr>
            <a:r>
              <a:rPr lang="en-US" sz="1300" dirty="0">
                <a:solidFill>
                  <a:srgbClr val="0F172A"/>
                </a:solidFill>
                <a:latin typeface="Microsoft YaHei" pitchFamily="34" charset="0"/>
                <a:ea typeface="Microsoft YaHei" pitchFamily="34" charset="-122"/>
                <a:cs typeface="Microsoft YaHei" pitchFamily="34" charset="-120"/>
              </a:rPr>
              <a:t>•  TR-E is a leading international journal in transportation and logistics research</a:t>
            </a:r>
            <a:pPr indent="0" marL="0">
              <a:lnSpc>
                <a:spcPct val="140000"/>
              </a:lnSpc>
              <a:spcAft>
                <a:spcPts val="400"/>
              </a:spcAft>
              <a:buNone/>
            </a:pPr>
            <a:r>
              <a:rPr lang="en-US" sz="1300" dirty="0">
                <a:solidFill>
                  <a:srgbClr val="0F172A"/>
                </a:solidFill>
                <a:latin typeface="Microsoft YaHei" pitchFamily="34" charset="0"/>
                <a:ea typeface="Microsoft YaHei" pitchFamily="34" charset="-122"/>
                <a:cs typeface="Microsoft YaHei" pitchFamily="34" charset="-120"/>
              </a:rPr>
              <a:t>•  High standards: theoretical contribution + computational validation + policy implications</a:t>
            </a:r>
            <a:pPr indent="0" marL="0">
              <a:lnSpc>
                <a:spcPct val="140000"/>
              </a:lnSpc>
              <a:spcAft>
                <a:spcPts val="400"/>
              </a:spcAft>
              <a:buNone/>
            </a:pPr>
            <a:r>
              <a:rPr lang="en-US" sz="1300" dirty="0">
                <a:solidFill>
                  <a:srgbClr val="0F172A"/>
                </a:solidFill>
                <a:latin typeface="Microsoft YaHei" pitchFamily="34" charset="0"/>
                <a:ea typeface="Microsoft YaHei" pitchFamily="34" charset="-122"/>
                <a:cs typeface="Microsoft YaHei" pitchFamily="34" charset="-120"/>
              </a:rPr>
              <a:t>•  English writing only; abstracts typically 150-250 words following IMRaD format</a:t>
            </a:r>
            <a:pPr indent="0" marL="0">
              <a:lnSpc>
                <a:spcPct val="140000"/>
              </a:lnSpc>
              <a:spcAft>
                <a:spcPts val="400"/>
              </a:spcAft>
              <a:buNone/>
            </a:pPr>
            <a:r>
              <a:rPr lang="en-US" sz="1300" dirty="0">
                <a:solidFill>
                  <a:srgbClr val="0F172A"/>
                </a:solidFill>
                <a:latin typeface="Microsoft YaHei" pitchFamily="34" charset="0"/>
                <a:ea typeface="Microsoft YaHei" pitchFamily="34" charset="-122"/>
                <a:cs typeface="Microsoft YaHei" pitchFamily="34" charset="-120"/>
              </a:rPr>
              <a:t>•  Editorial board includes top scholars from MIT, Berkeley, TU Delft, NUS, HKUST, etc.</a:t>
            </a:r>
            <a:pPr indent="0" marL="0">
              <a:lnSpc>
                <a:spcPct val="140000"/>
              </a:lnSpc>
              <a:spcAft>
                <a:spcPts val="400"/>
              </a:spcAft>
              <a:buNone/>
            </a:pPr>
            <a:r>
              <a:rPr lang="en-US" sz="1300" dirty="0">
                <a:solidFill>
                  <a:srgbClr val="0F172A"/>
                </a:solidFill>
                <a:latin typeface="Microsoft YaHei" pitchFamily="34" charset="0"/>
                <a:ea typeface="Microsoft YaHei" pitchFamily="34" charset="-122"/>
                <a:cs typeface="Microsoft YaHei" pitchFamily="34" charset="-120"/>
              </a:rPr>
              <a:t>•  Average review cycle: 3-6 months; acceptance rate: ~12-15%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TR-E Writing Rules —— IMRaD Structure</a:t>
            </a:r>
            <a:endParaRPr lang="en-US" sz="2800" dirty="0"/>
          </a:p>
        </p:txBody>
      </p:sp>
      <p:sp>
        <p:nvSpPr>
          <p:cNvPr id="4" name="Shape 2"/>
          <p:cNvSpPr/>
          <p:nvPr/>
        </p:nvSpPr>
        <p:spPr>
          <a:xfrm>
            <a:off x="731520" y="914400"/>
            <a:ext cx="2286000" cy="36576"/>
          </a:xfrm>
          <a:prstGeom prst="rect">
            <a:avLst/>
          </a:prstGeom>
          <a:solidFill>
            <a:srgbClr val="0D9488"/>
          </a:solidFill>
          <a:ln/>
        </p:spPr>
      </p:sp>
      <p:sp>
        <p:nvSpPr>
          <p:cNvPr id="5" name="Shape 3"/>
          <p:cNvSpPr/>
          <p:nvPr/>
        </p:nvSpPr>
        <p:spPr>
          <a:xfrm>
            <a:off x="365760" y="1280160"/>
            <a:ext cx="2468880" cy="1737360"/>
          </a:xfrm>
          <a:prstGeom prst="rect">
            <a:avLst>
              <a:gd name="adj" fmla="val 4211"/>
            </a:avLst>
          </a:prstGeom>
          <a:solidFill>
            <a:srgbClr val="FFFFFF"/>
          </a:solidFill>
          <a:ln/>
          <a:effectLst>
            <a:outerShdw sx="100000" sy="100000" kx="0" ky="0" algn="bl" rotWithShape="0" blurRad="38100" dist="12700" dir="16200000">
              <a:srgbClr val="CCCCCC">
                <a:alpha val="30000"/>
              </a:srgbClr>
            </a:outerShdw>
          </a:effectLst>
        </p:spPr>
      </p:sp>
      <p:sp>
        <p:nvSpPr>
          <p:cNvPr id="6" name="Shape 4"/>
          <p:cNvSpPr/>
          <p:nvPr/>
        </p:nvSpPr>
        <p:spPr>
          <a:xfrm>
            <a:off x="365760" y="1280160"/>
            <a:ext cx="2468880" cy="54864"/>
          </a:xfrm>
          <a:prstGeom prst="rect">
            <a:avLst/>
          </a:prstGeom>
          <a:solidFill>
            <a:srgbClr val="DC2626"/>
          </a:solidFill>
          <a:ln/>
        </p:spPr>
      </p:sp>
      <p:sp>
        <p:nvSpPr>
          <p:cNvPr id="7" name="Text 5"/>
          <p:cNvSpPr/>
          <p:nvPr/>
        </p:nvSpPr>
        <p:spPr>
          <a:xfrm>
            <a:off x="365760" y="1417320"/>
            <a:ext cx="2468880" cy="320040"/>
          </a:xfrm>
          <a:prstGeom prst="rect">
            <a:avLst/>
          </a:prstGeom>
          <a:noFill/>
          <a:ln/>
        </p:spPr>
        <p:txBody>
          <a:bodyPr wrap="square" rtlCol="0" anchor="ctr"/>
          <a:lstStyle/>
          <a:p>
            <a:pPr algn="ctr" indent="0" marL="0">
              <a:buNone/>
            </a:pPr>
            <a:r>
              <a:rPr lang="en-US" sz="1600" b="1" dirty="0">
                <a:solidFill>
                  <a:srgbClr val="DC2626"/>
                </a:solidFill>
                <a:latin typeface="Times New Roman" pitchFamily="34" charset="0"/>
                <a:ea typeface="Times New Roman" pitchFamily="34" charset="-122"/>
                <a:cs typeface="Times New Roman" pitchFamily="34" charset="-120"/>
              </a:rPr>
              <a:t>Introduction</a:t>
            </a:r>
            <a:endParaRPr lang="en-US" sz="1600" dirty="0"/>
          </a:p>
        </p:txBody>
      </p:sp>
      <p:sp>
        <p:nvSpPr>
          <p:cNvPr id="8" name="Text 6"/>
          <p:cNvSpPr/>
          <p:nvPr/>
        </p:nvSpPr>
        <p:spPr>
          <a:xfrm>
            <a:off x="502920" y="1920240"/>
            <a:ext cx="2194560" cy="822960"/>
          </a:xfrm>
          <a:prstGeom prst="rect">
            <a:avLst/>
          </a:prstGeom>
          <a:noFill/>
          <a:ln/>
        </p:spPr>
        <p:txBody>
          <a:bodyPr wrap="square" rtlCol="0" anchor="t"/>
          <a:lstStyle/>
          <a:p>
            <a:pPr algn="ctr" indent="0" marL="0">
              <a:lnSpc>
                <a:spcPct val="150000"/>
              </a:lnSpc>
              <a:buNone/>
            </a:pPr>
            <a:r>
              <a:rPr lang="en-US" sz="1000" dirty="0">
                <a:solidFill>
                  <a:srgbClr val="334155"/>
                </a:solidFill>
                <a:latin typeface="Times New Roman" pitchFamily="34" charset="0"/>
                <a:ea typeface="Times New Roman" pitchFamily="34" charset="-122"/>
                <a:cs typeface="Times New Roman" pitchFamily="34" charset="-120"/>
              </a:rPr>
              <a:t>Research gap</a:t>
            </a:r>
            <a:endParaRPr lang="en-US" sz="1000" dirty="0"/>
          </a:p>
          <a:p>
            <a:pPr algn="ctr" indent="0" marL="0">
              <a:lnSpc>
                <a:spcPct val="150000"/>
              </a:lnSpc>
              <a:buNone/>
            </a:pPr>
            <a:r>
              <a:rPr lang="en-US" sz="1000" dirty="0">
                <a:solidFill>
                  <a:srgbClr val="334155"/>
                </a:solidFill>
                <a:latin typeface="Times New Roman" pitchFamily="34" charset="0"/>
                <a:ea typeface="Times New Roman" pitchFamily="34" charset="-122"/>
                <a:cs typeface="Times New Roman" pitchFamily="34" charset="-120"/>
              </a:rPr>
              <a:t>Contribution statement</a:t>
            </a:r>
            <a:endParaRPr lang="en-US" sz="1000" dirty="0"/>
          </a:p>
        </p:txBody>
      </p:sp>
      <p:sp>
        <p:nvSpPr>
          <p:cNvPr id="9" name="Shape 7"/>
          <p:cNvSpPr/>
          <p:nvPr/>
        </p:nvSpPr>
        <p:spPr>
          <a:xfrm>
            <a:off x="3017520" y="1280160"/>
            <a:ext cx="2468880" cy="1737360"/>
          </a:xfrm>
          <a:prstGeom prst="rect">
            <a:avLst>
              <a:gd name="adj" fmla="val 4211"/>
            </a:avLst>
          </a:prstGeom>
          <a:solidFill>
            <a:srgbClr val="FFFFFF"/>
          </a:solidFill>
          <a:ln/>
          <a:effectLst>
            <a:outerShdw sx="100000" sy="100000" kx="0" ky="0" algn="bl" rotWithShape="0" blurRad="38100" dist="12700" dir="16200000">
              <a:srgbClr val="CCCCCC">
                <a:alpha val="30000"/>
              </a:srgbClr>
            </a:outerShdw>
          </a:effectLst>
        </p:spPr>
      </p:sp>
      <p:sp>
        <p:nvSpPr>
          <p:cNvPr id="10" name="Shape 8"/>
          <p:cNvSpPr/>
          <p:nvPr/>
        </p:nvSpPr>
        <p:spPr>
          <a:xfrm>
            <a:off x="3017520" y="1280160"/>
            <a:ext cx="2468880" cy="54864"/>
          </a:xfrm>
          <a:prstGeom prst="rect">
            <a:avLst/>
          </a:prstGeom>
          <a:solidFill>
            <a:srgbClr val="1E3A5F"/>
          </a:solidFill>
          <a:ln/>
        </p:spPr>
      </p:sp>
      <p:sp>
        <p:nvSpPr>
          <p:cNvPr id="11" name="Text 9"/>
          <p:cNvSpPr/>
          <p:nvPr/>
        </p:nvSpPr>
        <p:spPr>
          <a:xfrm>
            <a:off x="3017520" y="1417320"/>
            <a:ext cx="2468880" cy="320040"/>
          </a:xfrm>
          <a:prstGeom prst="rect">
            <a:avLst/>
          </a:prstGeom>
          <a:noFill/>
          <a:ln/>
        </p:spPr>
        <p:txBody>
          <a:bodyPr wrap="square" rtlCol="0" anchor="ctr"/>
          <a:lstStyle/>
          <a:p>
            <a:pPr algn="ctr" indent="0" marL="0">
              <a:buNone/>
            </a:pPr>
            <a:r>
              <a:rPr lang="en-US" sz="1600" b="1" dirty="0">
                <a:solidFill>
                  <a:srgbClr val="1E3A5F"/>
                </a:solidFill>
                <a:latin typeface="Times New Roman" pitchFamily="34" charset="0"/>
                <a:ea typeface="Times New Roman" pitchFamily="34" charset="-122"/>
                <a:cs typeface="Times New Roman" pitchFamily="34" charset="-120"/>
              </a:rPr>
              <a:t>Methods</a:t>
            </a:r>
            <a:endParaRPr lang="en-US" sz="1600" dirty="0"/>
          </a:p>
        </p:txBody>
      </p:sp>
      <p:sp>
        <p:nvSpPr>
          <p:cNvPr id="12" name="Text 10"/>
          <p:cNvSpPr/>
          <p:nvPr/>
        </p:nvSpPr>
        <p:spPr>
          <a:xfrm>
            <a:off x="3154680" y="1920240"/>
            <a:ext cx="2194560" cy="822960"/>
          </a:xfrm>
          <a:prstGeom prst="rect">
            <a:avLst/>
          </a:prstGeom>
          <a:noFill/>
          <a:ln/>
        </p:spPr>
        <p:txBody>
          <a:bodyPr wrap="square" rtlCol="0" anchor="t"/>
          <a:lstStyle/>
          <a:p>
            <a:pPr algn="ctr" indent="0" marL="0">
              <a:lnSpc>
                <a:spcPct val="150000"/>
              </a:lnSpc>
              <a:buNone/>
            </a:pPr>
            <a:r>
              <a:rPr lang="en-US" sz="1000" dirty="0">
                <a:solidFill>
                  <a:srgbClr val="334155"/>
                </a:solidFill>
                <a:latin typeface="Times New Roman" pitchFamily="34" charset="0"/>
                <a:ea typeface="Times New Roman" pitchFamily="34" charset="-122"/>
                <a:cs typeface="Times New Roman" pitchFamily="34" charset="-120"/>
              </a:rPr>
              <a:t>Model formulation</a:t>
            </a:r>
            <a:endParaRPr lang="en-US" sz="1000" dirty="0"/>
          </a:p>
          <a:p>
            <a:pPr algn="ctr" indent="0" marL="0">
              <a:lnSpc>
                <a:spcPct val="150000"/>
              </a:lnSpc>
              <a:buNone/>
            </a:pPr>
            <a:r>
              <a:rPr lang="en-US" sz="1000" dirty="0">
                <a:solidFill>
                  <a:srgbClr val="334155"/>
                </a:solidFill>
                <a:latin typeface="Times New Roman" pitchFamily="34" charset="0"/>
                <a:ea typeface="Times New Roman" pitchFamily="34" charset="-122"/>
                <a:cs typeface="Times New Roman" pitchFamily="34" charset="-120"/>
              </a:rPr>
              <a:t>Solution approach</a:t>
            </a:r>
            <a:endParaRPr lang="en-US" sz="1000" dirty="0"/>
          </a:p>
        </p:txBody>
      </p:sp>
      <p:sp>
        <p:nvSpPr>
          <p:cNvPr id="13" name="Shape 11"/>
          <p:cNvSpPr/>
          <p:nvPr/>
        </p:nvSpPr>
        <p:spPr>
          <a:xfrm>
            <a:off x="5669280" y="1280160"/>
            <a:ext cx="2468880" cy="1737360"/>
          </a:xfrm>
          <a:prstGeom prst="rect">
            <a:avLst>
              <a:gd name="adj" fmla="val 4211"/>
            </a:avLst>
          </a:prstGeom>
          <a:solidFill>
            <a:srgbClr val="FFFFFF"/>
          </a:solidFill>
          <a:ln/>
          <a:effectLst>
            <a:outerShdw sx="100000" sy="100000" kx="0" ky="0" algn="bl" rotWithShape="0" blurRad="38100" dist="12700" dir="16200000">
              <a:srgbClr val="CCCCCC">
                <a:alpha val="30000"/>
              </a:srgbClr>
            </a:outerShdw>
          </a:effectLst>
        </p:spPr>
      </p:sp>
      <p:sp>
        <p:nvSpPr>
          <p:cNvPr id="14" name="Shape 12"/>
          <p:cNvSpPr/>
          <p:nvPr/>
        </p:nvSpPr>
        <p:spPr>
          <a:xfrm>
            <a:off x="5669280" y="1280160"/>
            <a:ext cx="2468880" cy="54864"/>
          </a:xfrm>
          <a:prstGeom prst="rect">
            <a:avLst/>
          </a:prstGeom>
          <a:solidFill>
            <a:srgbClr val="059669"/>
          </a:solidFill>
          <a:ln/>
        </p:spPr>
      </p:sp>
      <p:sp>
        <p:nvSpPr>
          <p:cNvPr id="15" name="Text 13"/>
          <p:cNvSpPr/>
          <p:nvPr/>
        </p:nvSpPr>
        <p:spPr>
          <a:xfrm>
            <a:off x="5669280" y="1417320"/>
            <a:ext cx="2468880" cy="320040"/>
          </a:xfrm>
          <a:prstGeom prst="rect">
            <a:avLst/>
          </a:prstGeom>
          <a:noFill/>
          <a:ln/>
        </p:spPr>
        <p:txBody>
          <a:bodyPr wrap="square" rtlCol="0" anchor="ctr"/>
          <a:lstStyle/>
          <a:p>
            <a:pPr algn="ctr" indent="0" marL="0">
              <a:buNone/>
            </a:pPr>
            <a:r>
              <a:rPr lang="en-US" sz="1600" b="1" dirty="0">
                <a:solidFill>
                  <a:srgbClr val="059669"/>
                </a:solidFill>
                <a:latin typeface="Times New Roman" pitchFamily="34" charset="0"/>
                <a:ea typeface="Times New Roman" pitchFamily="34" charset="-122"/>
                <a:cs typeface="Times New Roman" pitchFamily="34" charset="-120"/>
              </a:rPr>
              <a:t>Results</a:t>
            </a:r>
            <a:endParaRPr lang="en-US" sz="1600" dirty="0"/>
          </a:p>
        </p:txBody>
      </p:sp>
      <p:sp>
        <p:nvSpPr>
          <p:cNvPr id="16" name="Text 14"/>
          <p:cNvSpPr/>
          <p:nvPr/>
        </p:nvSpPr>
        <p:spPr>
          <a:xfrm>
            <a:off x="5806440" y="1920240"/>
            <a:ext cx="2194560" cy="822960"/>
          </a:xfrm>
          <a:prstGeom prst="rect">
            <a:avLst/>
          </a:prstGeom>
          <a:noFill/>
          <a:ln/>
        </p:spPr>
        <p:txBody>
          <a:bodyPr wrap="square" rtlCol="0" anchor="t"/>
          <a:lstStyle/>
          <a:p>
            <a:pPr algn="ctr" indent="0" marL="0">
              <a:lnSpc>
                <a:spcPct val="150000"/>
              </a:lnSpc>
              <a:buNone/>
            </a:pPr>
            <a:r>
              <a:rPr lang="en-US" sz="1000" dirty="0">
                <a:solidFill>
                  <a:srgbClr val="334155"/>
                </a:solidFill>
                <a:latin typeface="Times New Roman" pitchFamily="34" charset="0"/>
                <a:ea typeface="Times New Roman" pitchFamily="34" charset="-122"/>
                <a:cs typeface="Times New Roman" pitchFamily="34" charset="-120"/>
              </a:rPr>
              <a:t>Numerical experiments</a:t>
            </a:r>
            <a:endParaRPr lang="en-US" sz="1000" dirty="0"/>
          </a:p>
          <a:p>
            <a:pPr algn="ctr" indent="0" marL="0">
              <a:lnSpc>
                <a:spcPct val="150000"/>
              </a:lnSpc>
              <a:buNone/>
            </a:pPr>
            <a:r>
              <a:rPr lang="en-US" sz="1000" dirty="0">
                <a:solidFill>
                  <a:srgbClr val="334155"/>
                </a:solidFill>
                <a:latin typeface="Times New Roman" pitchFamily="34" charset="0"/>
                <a:ea typeface="Times New Roman" pitchFamily="34" charset="-122"/>
                <a:cs typeface="Times New Roman" pitchFamily="34" charset="-120"/>
              </a:rPr>
              <a:t>Sensitivity analysis</a:t>
            </a:r>
            <a:endParaRPr lang="en-US" sz="1000" dirty="0"/>
          </a:p>
        </p:txBody>
      </p:sp>
      <p:sp>
        <p:nvSpPr>
          <p:cNvPr id="17" name="Shape 15"/>
          <p:cNvSpPr/>
          <p:nvPr/>
        </p:nvSpPr>
        <p:spPr>
          <a:xfrm>
            <a:off x="8321040" y="1280160"/>
            <a:ext cx="2468880" cy="1737360"/>
          </a:xfrm>
          <a:prstGeom prst="rect">
            <a:avLst>
              <a:gd name="adj" fmla="val 4211"/>
            </a:avLst>
          </a:prstGeom>
          <a:solidFill>
            <a:srgbClr val="FFFFFF"/>
          </a:solidFill>
          <a:ln/>
          <a:effectLst>
            <a:outerShdw sx="100000" sy="100000" kx="0" ky="0" algn="bl" rotWithShape="0" blurRad="38100" dist="12700" dir="16200000">
              <a:srgbClr val="CCCCCC">
                <a:alpha val="30000"/>
              </a:srgbClr>
            </a:outerShdw>
          </a:effectLst>
        </p:spPr>
      </p:sp>
      <p:sp>
        <p:nvSpPr>
          <p:cNvPr id="18" name="Shape 16"/>
          <p:cNvSpPr/>
          <p:nvPr/>
        </p:nvSpPr>
        <p:spPr>
          <a:xfrm>
            <a:off x="8321040" y="1280160"/>
            <a:ext cx="2468880" cy="54864"/>
          </a:xfrm>
          <a:prstGeom prst="rect">
            <a:avLst/>
          </a:prstGeom>
          <a:solidFill>
            <a:srgbClr val="7C3AED"/>
          </a:solidFill>
          <a:ln/>
        </p:spPr>
      </p:sp>
      <p:sp>
        <p:nvSpPr>
          <p:cNvPr id="19" name="Text 17"/>
          <p:cNvSpPr/>
          <p:nvPr/>
        </p:nvSpPr>
        <p:spPr>
          <a:xfrm>
            <a:off x="8321040" y="1417320"/>
            <a:ext cx="2468880" cy="320040"/>
          </a:xfrm>
          <a:prstGeom prst="rect">
            <a:avLst/>
          </a:prstGeom>
          <a:noFill/>
          <a:ln/>
        </p:spPr>
        <p:txBody>
          <a:bodyPr wrap="square" rtlCol="0" anchor="ctr"/>
          <a:lstStyle/>
          <a:p>
            <a:pPr algn="ctr" indent="0" marL="0">
              <a:buNone/>
            </a:pPr>
            <a:r>
              <a:rPr lang="en-US" sz="1600" b="1" dirty="0">
                <a:solidFill>
                  <a:srgbClr val="7C3AED"/>
                </a:solidFill>
                <a:latin typeface="Times New Roman" pitchFamily="34" charset="0"/>
                <a:ea typeface="Times New Roman" pitchFamily="34" charset="-122"/>
                <a:cs typeface="Times New Roman" pitchFamily="34" charset="-120"/>
              </a:rPr>
              <a:t>Discussion</a:t>
            </a:r>
            <a:endParaRPr lang="en-US" sz="1600" dirty="0"/>
          </a:p>
        </p:txBody>
      </p:sp>
      <p:sp>
        <p:nvSpPr>
          <p:cNvPr id="20" name="Text 18"/>
          <p:cNvSpPr/>
          <p:nvPr/>
        </p:nvSpPr>
        <p:spPr>
          <a:xfrm>
            <a:off x="8458200" y="1920240"/>
            <a:ext cx="2194560" cy="822960"/>
          </a:xfrm>
          <a:prstGeom prst="rect">
            <a:avLst/>
          </a:prstGeom>
          <a:noFill/>
          <a:ln/>
        </p:spPr>
        <p:txBody>
          <a:bodyPr wrap="square" rtlCol="0" anchor="t"/>
          <a:lstStyle/>
          <a:p>
            <a:pPr algn="ctr" indent="0" marL="0">
              <a:lnSpc>
                <a:spcPct val="150000"/>
              </a:lnSpc>
              <a:buNone/>
            </a:pPr>
            <a:r>
              <a:rPr lang="en-US" sz="1000" dirty="0">
                <a:solidFill>
                  <a:srgbClr val="334155"/>
                </a:solidFill>
                <a:latin typeface="Times New Roman" pitchFamily="34" charset="0"/>
                <a:ea typeface="Times New Roman" pitchFamily="34" charset="-122"/>
                <a:cs typeface="Times New Roman" pitchFamily="34" charset="-120"/>
              </a:rPr>
              <a:t>Managerial insights</a:t>
            </a:r>
            <a:endParaRPr lang="en-US" sz="1000" dirty="0"/>
          </a:p>
          <a:p>
            <a:pPr algn="ctr" indent="0" marL="0">
              <a:lnSpc>
                <a:spcPct val="150000"/>
              </a:lnSpc>
              <a:buNone/>
            </a:pPr>
            <a:r>
              <a:rPr lang="en-US" sz="1000" dirty="0">
                <a:solidFill>
                  <a:srgbClr val="334155"/>
                </a:solidFill>
                <a:latin typeface="Times New Roman" pitchFamily="34" charset="0"/>
                <a:ea typeface="Times New Roman" pitchFamily="34" charset="-122"/>
                <a:cs typeface="Times New Roman" pitchFamily="34" charset="-120"/>
              </a:rPr>
              <a:t>Limitations &amp; future</a:t>
            </a:r>
            <a:endParaRPr lang="en-US" sz="1000" dirty="0"/>
          </a:p>
        </p:txBody>
      </p:sp>
      <p:sp>
        <p:nvSpPr>
          <p:cNvPr id="21" name="Shape 19"/>
          <p:cNvSpPr/>
          <p:nvPr/>
        </p:nvSpPr>
        <p:spPr>
          <a:xfrm>
            <a:off x="731520" y="3246120"/>
            <a:ext cx="10725912" cy="18288"/>
          </a:xfrm>
          <a:prstGeom prst="rect">
            <a:avLst/>
          </a:prstGeom>
          <a:solidFill>
            <a:srgbClr val="E2E8F0"/>
          </a:solidFill>
          <a:ln/>
        </p:spPr>
      </p:sp>
      <p:sp>
        <p:nvSpPr>
          <p:cNvPr id="22" name="Text 20"/>
          <p:cNvSpPr/>
          <p:nvPr/>
        </p:nvSpPr>
        <p:spPr>
          <a:xfrm>
            <a:off x="731520" y="3474720"/>
            <a:ext cx="10725912" cy="2377440"/>
          </a:xfrm>
          <a:prstGeom prst="rect">
            <a:avLst/>
          </a:prstGeom>
          <a:noFill/>
          <a:ln/>
        </p:spPr>
        <p:txBody>
          <a:bodyPr wrap="square" rtlCol="0" anchor="t"/>
          <a:lstStyle/>
          <a:p>
            <a:pPr indent="0" marL="0">
              <a:lnSpc>
                <a:spcPct val="140000"/>
              </a:lnSpc>
              <a:spcAft>
                <a:spcPts val="400"/>
              </a:spcAft>
              <a:buNone/>
            </a:pPr>
            <a:r>
              <a:rPr lang="en-US" sz="1200" dirty="0">
                <a:solidFill>
                  <a:srgbClr val="0F172A"/>
                </a:solidFill>
                <a:latin typeface="Microsoft YaHei" pitchFamily="34" charset="0"/>
                <a:ea typeface="Microsoft YaHei" pitchFamily="34" charset="-122"/>
                <a:cs typeface="Microsoft YaHei" pitchFamily="34" charset="-120"/>
              </a:rPr>
              <a:t>•  TR-E abstracts follow a clear IMRaD logic: background gap → approach → key findings → implications</a:t>
            </a:r>
            <a:pPr indent="0" marL="0">
              <a:lnSpc>
                <a:spcPct val="140000"/>
              </a:lnSpc>
              <a:spcAft>
                <a:spcPts val="400"/>
              </a:spcAft>
              <a:buNone/>
            </a:pPr>
            <a:r>
              <a:rPr lang="en-US" sz="1200" dirty="0">
                <a:solidFill>
                  <a:srgbClr val="0F172A"/>
                </a:solidFill>
                <a:latin typeface="Microsoft YaHei" pitchFamily="34" charset="0"/>
                <a:ea typeface="Microsoft YaHei" pitchFamily="34" charset="-122"/>
                <a:cs typeface="Microsoft YaHei" pitchFamily="34" charset="-120"/>
              </a:rPr>
              <a:t>•  Key difference from KZYD: the Discussion/Conclusion section must include Managerial Insights for practitioners</a:t>
            </a:r>
            <a:pPr indent="0" marL="0">
              <a:lnSpc>
                <a:spcPct val="140000"/>
              </a:lnSpc>
              <a:spcAft>
                <a:spcPts val="400"/>
              </a:spcAft>
              <a:buNone/>
            </a:pPr>
            <a:r>
              <a:rPr lang="en-US" sz="1200" dirty="0">
                <a:solidFill>
                  <a:srgbClr val="0F172A"/>
                </a:solidFill>
                <a:latin typeface="Microsoft YaHei" pitchFamily="34" charset="0"/>
                <a:ea typeface="Microsoft YaHei" pitchFamily="34" charset="-122"/>
                <a:cs typeface="Microsoft YaHei" pitchFamily="34" charset="-120"/>
              </a:rPr>
              <a:t>•  Use explicit signposting: "First, ... Second, ... Then, ... Finally, ..."</a:t>
            </a:r>
            <a:pPr indent="0" marL="0">
              <a:lnSpc>
                <a:spcPct val="140000"/>
              </a:lnSpc>
              <a:spcAft>
                <a:spcPts val="400"/>
              </a:spcAft>
              <a:buNone/>
            </a:pPr>
            <a:r>
              <a:rPr lang="en-US" sz="1200" dirty="0">
                <a:solidFill>
                  <a:srgbClr val="0F172A"/>
                </a:solidFill>
                <a:latin typeface="Microsoft YaHei" pitchFamily="34" charset="0"/>
                <a:ea typeface="Microsoft YaHei" pitchFamily="34" charset="-122"/>
                <a:cs typeface="Microsoft YaHei" pitchFamily="34" charset="-120"/>
              </a:rPr>
              <a:t>•  Results must include multiple metrics (cost, emissions, service level) and statistical measures</a:t>
            </a:r>
            <a:pPr indent="0" marL="0">
              <a:lnSpc>
                <a:spcPct val="140000"/>
              </a:lnSpc>
              <a:spcAft>
                <a:spcPts val="400"/>
              </a:spcAft>
              <a:buNone/>
            </a:pPr>
            <a:r>
              <a:rPr lang="en-US" sz="1200" dirty="0">
                <a:solidFill>
                  <a:srgbClr val="0F172A"/>
                </a:solidFill>
                <a:latin typeface="Microsoft YaHei" pitchFamily="34" charset="0"/>
                <a:ea typeface="Microsoft YaHei" pitchFamily="34" charset="-122"/>
                <a:cs typeface="Microsoft YaHei" pitchFamily="34" charset="-120"/>
              </a:rPr>
              <a:t>•  Literature review should position the paper within international research streams — avoid excessive domestic-only citations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两刊对比：控制与决策 vs TR-E</a:t>
            </a:r>
            <a:endParaRPr lang="en-US" sz="2800" dirty="0"/>
          </a:p>
        </p:txBody>
      </p:sp>
      <p:sp>
        <p:nvSpPr>
          <p:cNvPr id="4" name="Shape 2"/>
          <p:cNvSpPr/>
          <p:nvPr/>
        </p:nvSpPr>
        <p:spPr>
          <a:xfrm>
            <a:off x="731520" y="914400"/>
            <a:ext cx="2286000" cy="36576"/>
          </a:xfrm>
          <a:prstGeom prst="rect">
            <a:avLst/>
          </a:prstGeom>
          <a:solidFill>
            <a:srgbClr val="0D9488"/>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188720"/>
          <a:ext cx="10908792" cy="914400"/>
        </p:xfrm>
        <a:graphic>
          <a:graphicData uri="http://schemas.openxmlformats.org/drawingml/2006/table">
            <a:tbl>
              <a:tblPr/>
              <a:tblGrid>
                <a:gridCol w="2560320"/>
                <a:gridCol w="4114800"/>
                <a:gridCol w="4233672"/>
              </a:tblGrid>
              <a:tr h="457200">
                <a:tc>
                  <a:txBody>
                    <a:bodyP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维度</a:t>
                      </a:r>
                      <a:endParaRPr lang="en-US" sz="1300" dirty="0">
                        <a:latin typeface="Microsoft YaHei" charset="0"/>
                        <a:ea typeface="Microsoft YaHei" charset="0"/>
                        <a:cs typeface="Microsoft YaHe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c>
                  <a:txBody>
                    <a:bodyP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控制与决策</a:t>
                      </a:r>
                      <a:endParaRPr lang="en-US" sz="1300" dirty="0">
                        <a:latin typeface="Microsoft YaHei" charset="0"/>
                        <a:ea typeface="Microsoft YaHei" charset="0"/>
                        <a:cs typeface="Microsoft YaHe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B1A1A"/>
                    </a:solidFill>
                  </a:tcPr>
                </a:tc>
                <a:tc>
                  <a:txBody>
                    <a:bodyP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Transportation Research Part E</a:t>
                      </a:r>
                      <a:endParaRPr lang="en-US" sz="1300" dirty="0">
                        <a:latin typeface="Microsoft YaHei" charset="0"/>
                        <a:ea typeface="Microsoft YaHei" charset="0"/>
                        <a:cs typeface="Microsoft YaHe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r>
              <a:tr h="411480">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语言</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中文</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English</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摘要结构</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目的-方法-结果-结论</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IMRaD (Introduction-Methods-Results-Discussion)</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457200">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结果要求</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精确到小数点，百分比对比</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Multi-metric + statistical measures (SD, IQR)</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方法偏好</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数学模型+启发式算法</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MILP + metaheuristic + ML/data-driven</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457200">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创新点强调</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理论创新+实验验证</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Methodology + Managerial Insights + Policy</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典型结构词</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"首先...然后...接着...最后..."</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"First, ... Second, ... Then, ... Finally, ..."</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bl>
          </a:graphicData>
        </a:graphic>
      </p:graphicFrame>
      <p:sp>
        <p:nvSpPr>
          <p:cNvPr id="6" name="Shape 3"/>
          <p:cNvSpPr/>
          <p:nvPr/>
        </p:nvSpPr>
        <p:spPr>
          <a:xfrm>
            <a:off x="640080" y="4754880"/>
            <a:ext cx="10908792" cy="1005840"/>
          </a:xfrm>
          <a:prstGeom prst="rect">
            <a:avLst>
              <a:gd name="adj" fmla="val 4545"/>
            </a:avLst>
          </a:prstGeom>
          <a:solidFill>
            <a:srgbClr val="FEF3C7"/>
          </a:solidFill>
          <a:ln/>
        </p:spPr>
      </p:sp>
      <p:sp>
        <p:nvSpPr>
          <p:cNvPr id="7" name="Text 4"/>
          <p:cNvSpPr/>
          <p:nvPr/>
        </p:nvSpPr>
        <p:spPr>
          <a:xfrm>
            <a:off x="822960" y="4800600"/>
            <a:ext cx="10543032" cy="914400"/>
          </a:xfrm>
          <a:prstGeom prst="rect">
            <a:avLst/>
          </a:prstGeom>
          <a:noFill/>
          <a:ln/>
        </p:spPr>
        <p:txBody>
          <a:bodyPr wrap="square" rtlCol="0" anchor="ctr"/>
          <a:lstStyle/>
          <a:p>
            <a:pPr indent="0" marL="0">
              <a:lnSpc>
                <a:spcPct val="140000"/>
              </a:lnSpc>
              <a:buNone/>
            </a:pPr>
            <a:r>
              <a:rPr lang="en-US" sz="1200" dirty="0">
                <a:solidFill>
                  <a:srgbClr val="92400E"/>
                </a:solidFill>
                <a:latin typeface="Microsoft YaHei" pitchFamily="34" charset="0"/>
                <a:ea typeface="Microsoft YaHei" pitchFamily="34" charset="-122"/>
                <a:cs typeface="Microsoft YaHei" pitchFamily="34" charset="-120"/>
              </a:rPr>
              <a:t>核心差异：控制与决策强调算法创新与实验精度，TR-E要求方法论+管理洞见+可持续性三维贡献。</a:t>
            </a:r>
            <a:endParaRPr lang="en-US" sz="1200" dirty="0"/>
          </a:p>
          <a:p>
            <a:pPr indent="0" marL="0">
              <a:lnSpc>
                <a:spcPct val="140000"/>
              </a:lnSpc>
              <a:buNone/>
            </a:pPr>
            <a:r>
              <a:rPr lang="en-US" sz="1200" dirty="0">
                <a:solidFill>
                  <a:srgbClr val="92400E"/>
                </a:solidFill>
                <a:latin typeface="Microsoft YaHei" pitchFamily="34" charset="0"/>
                <a:ea typeface="Microsoft YaHei" pitchFamily="34" charset="-122"/>
                <a:cs typeface="Microsoft YaHei" pitchFamily="34" charset="-120"/>
              </a:rPr>
              <a:t>从控制与决策到TR-E的转化关键：将“算法优势”转化为“管理启示”，将“实验对比”升级为“统计显著性检验+灵敏度分析”。</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6EE"/>
        </a:solidFill>
      </p:bgPr>
    </p:bg>
    <p:spTree>
      <p:nvGrpSpPr>
        <p:cNvPr id="1" name=""/>
        <p:cNvGrpSpPr/>
        <p:nvPr/>
      </p:nvGrpSpPr>
      <p:grpSpPr>
        <a:xfrm>
          <a:off x="0" y="0"/>
          <a:ext cx="0" cy="0"/>
          <a:chOff x="0" y="0"/>
          <a:chExt cx="0" cy="0"/>
        </a:xfrm>
      </p:grpSpPr>
      <p:sp>
        <p:nvSpPr>
          <p:cNvPr id="2" name="Shape 0"/>
          <p:cNvSpPr/>
          <p:nvPr/>
        </p:nvSpPr>
        <p:spPr>
          <a:xfrm>
            <a:off x="0" y="0"/>
            <a:ext cx="12188952" cy="640080"/>
          </a:xfrm>
          <a:prstGeom prst="rect">
            <a:avLst/>
          </a:prstGeom>
          <a:solidFill>
            <a:srgbClr val="8B1A1A"/>
          </a:solidFill>
          <a:ln/>
        </p:spPr>
      </p:sp>
      <p:sp>
        <p:nvSpPr>
          <p:cNvPr id="3" name="Text 1"/>
          <p:cNvSpPr/>
          <p:nvPr/>
        </p:nvSpPr>
        <p:spPr>
          <a:xfrm>
            <a:off x="457200" y="91440"/>
            <a:ext cx="11274552" cy="457200"/>
          </a:xfrm>
          <a:prstGeom prst="rect">
            <a:avLst/>
          </a:prstGeom>
          <a:noFill/>
          <a:ln/>
        </p:spPr>
        <p:txBody>
          <a:bodyPr wrap="square" rtlCol="0" anchor="ctr"/>
          <a:lstStyle/>
          <a:p>
            <a:pPr indent="0" marL="0">
              <a:buNone/>
            </a:pPr>
            <a:r>
              <a:rPr lang="en-US" sz="1100" b="1" dirty="0">
                <a:solidFill>
                  <a:srgbClr val="FFFFFF"/>
                </a:solidFill>
                <a:latin typeface="SimHei" pitchFamily="34" charset="0"/>
                <a:ea typeface="SimHei" pitchFamily="34" charset="-122"/>
                <a:cs typeface="SimHei" pitchFamily="34" charset="-120"/>
              </a:rPr>
              <a:t>控制与决策  |  Vol.41  No.5  |  pp.1338-1347  |  2026</a:t>
            </a:r>
            <a:endParaRPr lang="en-US" sz="1100" dirty="0"/>
          </a:p>
        </p:txBody>
      </p:sp>
      <p:sp>
        <p:nvSpPr>
          <p:cNvPr id="4" name="Text 2"/>
          <p:cNvSpPr/>
          <p:nvPr/>
        </p:nvSpPr>
        <p:spPr>
          <a:xfrm>
            <a:off x="548640" y="822960"/>
            <a:ext cx="11091672" cy="731520"/>
          </a:xfrm>
          <a:prstGeom prst="rect">
            <a:avLst/>
          </a:prstGeom>
          <a:noFill/>
          <a:ln/>
        </p:spPr>
        <p:txBody>
          <a:bodyPr wrap="square" rtlCol="0" anchor="ctr"/>
          <a:lstStyle/>
          <a:p>
            <a:pPr indent="0" marL="0">
              <a:buNone/>
            </a:pPr>
            <a:r>
              <a:rPr lang="en-US" sz="1700" b="1" dirty="0">
                <a:solidFill>
                  <a:srgbClr val="0F172A"/>
                </a:solidFill>
                <a:latin typeface="SimHei" pitchFamily="34" charset="0"/>
                <a:ea typeface="SimHei" pitchFamily="34" charset="-122"/>
                <a:cs typeface="SimHei" pitchFamily="34" charset="-120"/>
              </a:rPr>
              <a:t>低碳视角下油电混合车队配送路径优化研究</a:t>
            </a:r>
            <a:endParaRPr lang="en-US" sz="1700" dirty="0"/>
          </a:p>
        </p:txBody>
      </p:sp>
      <p:sp>
        <p:nvSpPr>
          <p:cNvPr id="5" name="Text 3"/>
          <p:cNvSpPr/>
          <p:nvPr/>
        </p:nvSpPr>
        <p:spPr>
          <a:xfrm>
            <a:off x="548640" y="1554480"/>
            <a:ext cx="11091672" cy="320040"/>
          </a:xfrm>
          <a:prstGeom prst="rect">
            <a:avLst/>
          </a:prstGeom>
          <a:noFill/>
          <a:ln/>
        </p:spPr>
        <p:txBody>
          <a:bodyPr wrap="square" rtlCol="0" anchor="ctr"/>
          <a:lstStyle/>
          <a:p>
            <a:pPr algn="ctr" indent="0" marL="0">
              <a:buNone/>
            </a:pPr>
            <a:r>
              <a:rPr lang="en-US" sz="1000" dirty="0">
                <a:solidFill>
                  <a:srgbClr val="334155"/>
                </a:solidFill>
                <a:latin typeface="SimSun" pitchFamily="34" charset="0"/>
                <a:ea typeface="SimSun" pitchFamily="34" charset="-122"/>
                <a:cs typeface="SimSun" pitchFamily="34" charset="-120"/>
              </a:rPr>
              <a:t>巩 亮, 郑世龙, 许得杰, 耿慧琳, 周 健, 惠昌武</a:t>
            </a:r>
            <a:endParaRPr lang="en-US" sz="1000" dirty="0"/>
          </a:p>
        </p:txBody>
      </p:sp>
      <p:sp>
        <p:nvSpPr>
          <p:cNvPr id="6" name="Text 4"/>
          <p:cNvSpPr/>
          <p:nvPr/>
        </p:nvSpPr>
        <p:spPr>
          <a:xfrm>
            <a:off x="548640" y="1828800"/>
            <a:ext cx="11091672" cy="274320"/>
          </a:xfrm>
          <a:prstGeom prst="rect">
            <a:avLst/>
          </a:prstGeom>
          <a:noFill/>
          <a:ln/>
        </p:spPr>
        <p:txBody>
          <a:bodyPr wrap="square" rtlCol="0" anchor="ctr"/>
          <a:lstStyle/>
          <a:p>
            <a:pPr algn="ctr" indent="0" marL="0">
              <a:buNone/>
            </a:pPr>
            <a:r>
              <a:rPr lang="en-US" sz="800" i="1" dirty="0">
                <a:solidFill>
                  <a:srgbClr val="64748B"/>
                </a:solidFill>
                <a:latin typeface="SimSun" pitchFamily="34" charset="0"/>
                <a:ea typeface="SimSun" pitchFamily="34" charset="-122"/>
                <a:cs typeface="SimSun" pitchFamily="34" charset="-120"/>
              </a:rPr>
              <a:t>兰州交通大学 交通运输学院</a:t>
            </a:r>
            <a:endParaRPr lang="en-US" sz="800" dirty="0"/>
          </a:p>
        </p:txBody>
      </p:sp>
      <p:sp>
        <p:nvSpPr>
          <p:cNvPr id="7" name="Shape 5"/>
          <p:cNvSpPr/>
          <p:nvPr/>
        </p:nvSpPr>
        <p:spPr>
          <a:xfrm>
            <a:off x="731520" y="2148840"/>
            <a:ext cx="10725912" cy="13716"/>
          </a:xfrm>
          <a:prstGeom prst="rect">
            <a:avLst/>
          </a:prstGeom>
          <a:solidFill>
            <a:srgbClr val="E2E8F0"/>
          </a:solidFill>
          <a:ln/>
        </p:spPr>
      </p:sp>
      <p:sp>
        <p:nvSpPr>
          <p:cNvPr id="8" name="Text 6"/>
          <p:cNvSpPr/>
          <p:nvPr/>
        </p:nvSpPr>
        <p:spPr>
          <a:xfrm>
            <a:off x="548640" y="2286000"/>
            <a:ext cx="914400" cy="274320"/>
          </a:xfrm>
          <a:prstGeom prst="rect">
            <a:avLst/>
          </a:prstGeom>
          <a:noFill/>
          <a:ln/>
        </p:spPr>
        <p:txBody>
          <a:bodyPr wrap="square" rtlCol="0" anchor="ctr"/>
          <a:lstStyle/>
          <a:p>
            <a:pPr indent="0" marL="0">
              <a:buNone/>
            </a:pPr>
            <a:r>
              <a:rPr lang="en-US" sz="1200" b="1" dirty="0">
                <a:solidFill>
                  <a:srgbClr val="0F172A"/>
                </a:solidFill>
                <a:latin typeface="SimHei" pitchFamily="34" charset="0"/>
                <a:ea typeface="SimHei" pitchFamily="34" charset="-122"/>
                <a:cs typeface="SimHei" pitchFamily="34" charset="-120"/>
              </a:rPr>
              <a:t>摘  要</a:t>
            </a:r>
            <a:endParaRPr lang="en-US" sz="1200" dirty="0"/>
          </a:p>
        </p:txBody>
      </p:sp>
      <p:sp>
        <p:nvSpPr>
          <p:cNvPr id="9" name="Text 7"/>
          <p:cNvSpPr/>
          <p:nvPr/>
        </p:nvSpPr>
        <p:spPr>
          <a:xfrm>
            <a:off x="640080" y="2606040"/>
            <a:ext cx="10881360" cy="228600"/>
          </a:xfrm>
          <a:prstGeom prst="rect">
            <a:avLst/>
          </a:prstGeom>
          <a:noFill/>
          <a:ln/>
        </p:spPr>
        <p:txBody>
          <a:bodyPr wrap="square" rtlCol="0" anchor="ctr"/>
          <a:lstStyle/>
          <a:p>
            <a:pPr indent="0" marL="0">
              <a:buNone/>
            </a:pPr>
            <a:r>
              <a:rPr lang="en-US" sz="1000" b="1" dirty="0">
                <a:solidFill>
                  <a:srgbClr val="DC2626"/>
                </a:solidFill>
                <a:latin typeface="SimHei" pitchFamily="34" charset="0"/>
                <a:ea typeface="SimHei" pitchFamily="34" charset="-122"/>
                <a:cs typeface="SimHei" pitchFamily="34" charset="-120"/>
              </a:rPr>
              <a:t>【目的】</a:t>
            </a:r>
            <a:endParaRPr lang="en-US" sz="1000" dirty="0"/>
          </a:p>
        </p:txBody>
      </p:sp>
      <p:sp>
        <p:nvSpPr>
          <p:cNvPr id="10" name="Text 8"/>
          <p:cNvSpPr/>
          <p:nvPr/>
        </p:nvSpPr>
        <p:spPr>
          <a:xfrm>
            <a:off x="777240" y="2834640"/>
            <a:ext cx="10607040" cy="36576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针对道路行驶速度随时间变化且软时间窗条件下的同时配集车辆路径优化问题, 以配送总成本最小化与客户满意度最大化为目标, 考虑车辆载重等约束条件, 构建时变交通下油车-电车混合车队货物配送路径优化模型。</a:t>
            </a:r>
            <a:endParaRPr lang="en-US" sz="1000" dirty="0"/>
          </a:p>
        </p:txBody>
      </p:sp>
      <p:sp>
        <p:nvSpPr>
          <p:cNvPr id="11" name="Text 9"/>
          <p:cNvSpPr/>
          <p:nvPr/>
        </p:nvSpPr>
        <p:spPr>
          <a:xfrm>
            <a:off x="640080" y="3273552"/>
            <a:ext cx="10881360" cy="228600"/>
          </a:xfrm>
          <a:prstGeom prst="rect">
            <a:avLst/>
          </a:prstGeom>
          <a:noFill/>
          <a:ln/>
        </p:spPr>
        <p:txBody>
          <a:bodyPr wrap="square" rtlCol="0" anchor="ctr"/>
          <a:lstStyle/>
          <a:p>
            <a:pPr indent="0" marL="0">
              <a:buNone/>
            </a:pPr>
            <a:r>
              <a:rPr lang="en-US" sz="1000" b="1" dirty="0">
                <a:solidFill>
                  <a:srgbClr val="1E3A5F"/>
                </a:solidFill>
                <a:latin typeface="SimHei" pitchFamily="34" charset="0"/>
                <a:ea typeface="SimHei" pitchFamily="34" charset="-122"/>
                <a:cs typeface="SimHei" pitchFamily="34" charset="-120"/>
              </a:rPr>
              <a:t>【方法】</a:t>
            </a:r>
            <a:endParaRPr lang="en-US" sz="1000" dirty="0"/>
          </a:p>
        </p:txBody>
      </p:sp>
      <p:sp>
        <p:nvSpPr>
          <p:cNvPr id="12" name="Text 10"/>
          <p:cNvSpPr/>
          <p:nvPr/>
        </p:nvSpPr>
        <p:spPr>
          <a:xfrm>
            <a:off x="777240" y="3502152"/>
            <a:ext cx="10607040" cy="36576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根据模型特点设计考虑时空距离、基于Pareto非支配排序的多目标混合启发式算法, 将遗传算法与变邻域搜索算法结合, 增强算法的局部搜索能力。以Solomon中C101类部分客户为例进行算例分析, 进行不同规模客户点对比分析和模拟数据与真实数据对比实验。</a:t>
            </a:r>
            <a:endParaRPr lang="en-US" sz="1000" dirty="0"/>
          </a:p>
        </p:txBody>
      </p:sp>
      <p:sp>
        <p:nvSpPr>
          <p:cNvPr id="13" name="Text 11"/>
          <p:cNvSpPr/>
          <p:nvPr/>
        </p:nvSpPr>
        <p:spPr>
          <a:xfrm>
            <a:off x="640080" y="3941064"/>
            <a:ext cx="10881360" cy="228600"/>
          </a:xfrm>
          <a:prstGeom prst="rect">
            <a:avLst/>
          </a:prstGeom>
          <a:noFill/>
          <a:ln/>
        </p:spPr>
        <p:txBody>
          <a:bodyPr wrap="square" rtlCol="0" anchor="ctr"/>
          <a:lstStyle/>
          <a:p>
            <a:pPr indent="0" marL="0">
              <a:buNone/>
            </a:pPr>
            <a:r>
              <a:rPr lang="en-US" sz="1000" b="1" dirty="0">
                <a:solidFill>
                  <a:srgbClr val="059669"/>
                </a:solidFill>
                <a:latin typeface="SimHei" pitchFamily="34" charset="0"/>
                <a:ea typeface="SimHei" pitchFamily="34" charset="-122"/>
                <a:cs typeface="SimHei" pitchFamily="34" charset="-120"/>
              </a:rPr>
              <a:t>【结果】</a:t>
            </a:r>
            <a:endParaRPr lang="en-US" sz="1000" dirty="0"/>
          </a:p>
        </p:txBody>
      </p:sp>
      <p:sp>
        <p:nvSpPr>
          <p:cNvPr id="14" name="Text 12"/>
          <p:cNvSpPr/>
          <p:nvPr/>
        </p:nvSpPr>
        <p:spPr>
          <a:xfrm>
            <a:off x="777240" y="4169664"/>
            <a:ext cx="10607040" cy="54864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与多目标协同优化遗传算法等相比, 所提出的算法将总成本降低至7 008.47元, 降幅分别为4.59%、5.46%、6.80%、10.77%和8.41%, 客户满意度提升至0.841。考虑不同情况下对参数进行灵敏度分析, 合理的配送重量可将配送总成本节约69.28%、28.14%和38.61%; 合理的车辆载重量可将配送成本节约31.2%和62.3%。</a:t>
            </a:r>
            <a:endParaRPr lang="en-US" sz="1000" dirty="0"/>
          </a:p>
        </p:txBody>
      </p:sp>
      <p:sp>
        <p:nvSpPr>
          <p:cNvPr id="15" name="Text 13"/>
          <p:cNvSpPr/>
          <p:nvPr/>
        </p:nvSpPr>
        <p:spPr>
          <a:xfrm>
            <a:off x="640080" y="4791456"/>
            <a:ext cx="10881360" cy="228600"/>
          </a:xfrm>
          <a:prstGeom prst="rect">
            <a:avLst/>
          </a:prstGeom>
          <a:noFill/>
          <a:ln/>
        </p:spPr>
        <p:txBody>
          <a:bodyPr wrap="square" rtlCol="0" anchor="ctr"/>
          <a:lstStyle/>
          <a:p>
            <a:pPr indent="0" marL="0">
              <a:buNone/>
            </a:pPr>
            <a:r>
              <a:rPr lang="en-US" sz="1000" b="1" dirty="0">
                <a:solidFill>
                  <a:srgbClr val="7C3AED"/>
                </a:solidFill>
                <a:latin typeface="SimHei" pitchFamily="34" charset="0"/>
                <a:ea typeface="SimHei" pitchFamily="34" charset="-122"/>
                <a:cs typeface="SimHei" pitchFamily="34" charset="-120"/>
              </a:rPr>
              <a:t>【结论】</a:t>
            </a:r>
            <a:endParaRPr lang="en-US" sz="1000" dirty="0"/>
          </a:p>
        </p:txBody>
      </p:sp>
      <p:sp>
        <p:nvSpPr>
          <p:cNvPr id="16" name="Text 14"/>
          <p:cNvSpPr/>
          <p:nvPr/>
        </p:nvSpPr>
        <p:spPr>
          <a:xfrm>
            <a:off x="777240" y="5020056"/>
            <a:ext cx="10607040" cy="32004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所构建的模型和所提出的算法能合理调配不同类型的车辆, 科学规划车辆路径, 降低物流配送总成本, 减少车辆碳排放, 提高企业经济效益。</a:t>
            </a:r>
            <a:endParaRPr lang="en-US" sz="1000" dirty="0"/>
          </a:p>
        </p:txBody>
      </p:sp>
      <p:sp>
        <p:nvSpPr>
          <p:cNvPr id="17" name="Shape 15"/>
          <p:cNvSpPr/>
          <p:nvPr/>
        </p:nvSpPr>
        <p:spPr>
          <a:xfrm>
            <a:off x="731520" y="5458968"/>
            <a:ext cx="10725912" cy="13716"/>
          </a:xfrm>
          <a:prstGeom prst="rect">
            <a:avLst/>
          </a:prstGeom>
          <a:solidFill>
            <a:srgbClr val="E2E8F0"/>
          </a:solidFill>
          <a:ln/>
        </p:spPr>
      </p:sp>
      <p:sp>
        <p:nvSpPr>
          <p:cNvPr id="18" name="Text 16"/>
          <p:cNvSpPr/>
          <p:nvPr/>
        </p:nvSpPr>
        <p:spPr>
          <a:xfrm>
            <a:off x="640080" y="5596128"/>
            <a:ext cx="10908792" cy="320040"/>
          </a:xfrm>
          <a:prstGeom prst="rect">
            <a:avLst/>
          </a:prstGeom>
          <a:noFill/>
          <a:ln/>
        </p:spPr>
        <p:txBody>
          <a:bodyPr wrap="square" rtlCol="0" anchor="ctr"/>
          <a:lstStyle/>
          <a:p>
            <a:pPr indent="0" marL="0">
              <a:buNone/>
            </a:pPr>
            <a:r>
              <a:rPr lang="en-US" sz="900" i="1" dirty="0">
                <a:solidFill>
                  <a:srgbClr val="334155"/>
                </a:solidFill>
                <a:latin typeface="SimSun" pitchFamily="34" charset="0"/>
                <a:ea typeface="SimSun" pitchFamily="34" charset="-122"/>
                <a:cs typeface="SimSun" pitchFamily="34" charset="-120"/>
              </a:rPr>
              <a:t>关键词: 城市交通; 路径优化; 时变交通; 混合车队; 混合启发式算法; 多目标优化</a:t>
            </a:r>
            <a:endParaRPr lang="en-US" sz="900" dirty="0"/>
          </a:p>
        </p:txBody>
      </p:sp>
      <p:sp>
        <p:nvSpPr>
          <p:cNvPr id="19" name="Shape 17"/>
          <p:cNvSpPr/>
          <p:nvPr/>
        </p:nvSpPr>
        <p:spPr>
          <a:xfrm>
            <a:off x="0" y="6080760"/>
            <a:ext cx="12188952" cy="594360"/>
          </a:xfrm>
          <a:prstGeom prst="rect">
            <a:avLst/>
          </a:prstGeom>
          <a:solidFill>
            <a:srgbClr val="FEF3C7"/>
          </a:solidFill>
          <a:ln/>
        </p:spPr>
      </p:sp>
      <p:sp>
        <p:nvSpPr>
          <p:cNvPr id="20" name="Shape 18"/>
          <p:cNvSpPr/>
          <p:nvPr/>
        </p:nvSpPr>
        <p:spPr>
          <a:xfrm>
            <a:off x="0" y="6080760"/>
            <a:ext cx="73152" cy="594360"/>
          </a:xfrm>
          <a:prstGeom prst="rect">
            <a:avLst/>
          </a:prstGeom>
          <a:solidFill>
            <a:srgbClr val="D97706"/>
          </a:solidFill>
          <a:ln/>
        </p:spPr>
      </p:sp>
      <p:sp>
        <p:nvSpPr>
          <p:cNvPr id="21" name="Text 19"/>
          <p:cNvSpPr/>
          <p:nvPr/>
        </p:nvSpPr>
        <p:spPr>
          <a:xfrm>
            <a:off x="457200" y="6126480"/>
            <a:ext cx="11430000" cy="502920"/>
          </a:xfrm>
          <a:prstGeom prst="rect">
            <a:avLst/>
          </a:prstGeom>
          <a:noFill/>
          <a:ln/>
        </p:spPr>
        <p:txBody>
          <a:bodyPr wrap="square" rtlCol="0" anchor="ctr"/>
          <a:lstStyle/>
          <a:p>
            <a:pPr indent="0" marL="0">
              <a:buNone/>
            </a:pPr>
            <a:r>
              <a:rPr lang="en-US" sz="1000" dirty="0">
                <a:solidFill>
                  <a:srgbClr val="92400E"/>
                </a:solidFill>
                <a:latin typeface="Microsoft YaHei" pitchFamily="34" charset="0"/>
                <a:ea typeface="Microsoft YaHei" pitchFamily="34" charset="-122"/>
                <a:cs typeface="Microsoft YaHei" pitchFamily="34" charset="-120"/>
              </a:rPr>
              <a:t>亮点：经典「问题—模型—算法—实验—结论」五段式结构，定量结果精确到小数点，体现控制与决策对数值精度的严格要求。</a:t>
            </a:r>
            <a:endParaRPr lang="en-US" sz="1000" dirty="0"/>
          </a:p>
        </p:txBody>
      </p:sp>
      <p:sp>
        <p:nvSpPr>
          <p:cNvPr id="22" name="Shape 20"/>
          <p:cNvSpPr/>
          <p:nvPr/>
        </p:nvSpPr>
        <p:spPr>
          <a:xfrm>
            <a:off x="11320272" y="1005840"/>
            <a:ext cx="685800" cy="502920"/>
          </a:xfrm>
          <a:prstGeom prst="rect">
            <a:avLst>
              <a:gd name="adj" fmla="val 9091"/>
            </a:avLst>
          </a:prstGeom>
          <a:solidFill>
            <a:srgbClr val="8B1A1A"/>
          </a:solidFill>
          <a:ln/>
        </p:spPr>
      </p:sp>
      <p:sp>
        <p:nvSpPr>
          <p:cNvPr id="23" name="Text 21"/>
          <p:cNvSpPr/>
          <p:nvPr/>
        </p:nvSpPr>
        <p:spPr>
          <a:xfrm>
            <a:off x="11320272" y="1005840"/>
            <a:ext cx="685800" cy="502920"/>
          </a:xfrm>
          <a:prstGeom prst="rect">
            <a:avLst/>
          </a:prstGeom>
          <a:noFill/>
          <a:ln/>
        </p:spPr>
        <p:txBody>
          <a:bodyPr wrap="square" rtlCol="0" anchor="ctr"/>
          <a:lstStyle/>
          <a:p>
            <a:pPr algn="ctr" indent="0" marL="0">
              <a:buNone/>
            </a:pPr>
            <a:r>
              <a:rPr lang="en-US" sz="900" b="1" dirty="0">
                <a:solidFill>
                  <a:srgbClr val="FFFFFF"/>
                </a:solidFill>
                <a:latin typeface="Microsoft YaHei" pitchFamily="34" charset="0"/>
                <a:ea typeface="Microsoft YaHei" pitchFamily="34" charset="-122"/>
                <a:cs typeface="Microsoft YaHei" pitchFamily="34" charset="-120"/>
              </a:rPr>
              <a:t>案例</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6EE"/>
        </a:solidFill>
      </p:bgPr>
    </p:bg>
    <p:spTree>
      <p:nvGrpSpPr>
        <p:cNvPr id="1" name=""/>
        <p:cNvGrpSpPr/>
        <p:nvPr/>
      </p:nvGrpSpPr>
      <p:grpSpPr>
        <a:xfrm>
          <a:off x="0" y="0"/>
          <a:ext cx="0" cy="0"/>
          <a:chOff x="0" y="0"/>
          <a:chExt cx="0" cy="0"/>
        </a:xfrm>
      </p:grpSpPr>
      <p:sp>
        <p:nvSpPr>
          <p:cNvPr id="2" name="Shape 0"/>
          <p:cNvSpPr/>
          <p:nvPr/>
        </p:nvSpPr>
        <p:spPr>
          <a:xfrm>
            <a:off x="0" y="0"/>
            <a:ext cx="12188952" cy="640080"/>
          </a:xfrm>
          <a:prstGeom prst="rect">
            <a:avLst/>
          </a:prstGeom>
          <a:solidFill>
            <a:srgbClr val="8B1A1A"/>
          </a:solidFill>
          <a:ln/>
        </p:spPr>
      </p:sp>
      <p:sp>
        <p:nvSpPr>
          <p:cNvPr id="3" name="Text 1"/>
          <p:cNvSpPr/>
          <p:nvPr/>
        </p:nvSpPr>
        <p:spPr>
          <a:xfrm>
            <a:off x="457200" y="91440"/>
            <a:ext cx="11274552" cy="457200"/>
          </a:xfrm>
          <a:prstGeom prst="rect">
            <a:avLst/>
          </a:prstGeom>
          <a:noFill/>
          <a:ln/>
        </p:spPr>
        <p:txBody>
          <a:bodyPr wrap="square" rtlCol="0" anchor="ctr"/>
          <a:lstStyle/>
          <a:p>
            <a:pPr indent="0" marL="0">
              <a:buNone/>
            </a:pPr>
            <a:r>
              <a:rPr lang="en-US" sz="1100" b="1" dirty="0">
                <a:solidFill>
                  <a:srgbClr val="FFFFFF"/>
                </a:solidFill>
                <a:latin typeface="SimHei" pitchFamily="34" charset="0"/>
                <a:ea typeface="SimHei" pitchFamily="34" charset="-122"/>
                <a:cs typeface="SimHei" pitchFamily="34" charset="-120"/>
              </a:rPr>
              <a:t>控制与决策  |  Vol.41  No.5  |  pp.1219-1228  |  2026</a:t>
            </a:r>
            <a:endParaRPr lang="en-US" sz="1100" dirty="0"/>
          </a:p>
        </p:txBody>
      </p:sp>
      <p:sp>
        <p:nvSpPr>
          <p:cNvPr id="4" name="Text 2"/>
          <p:cNvSpPr/>
          <p:nvPr/>
        </p:nvSpPr>
        <p:spPr>
          <a:xfrm>
            <a:off x="548640" y="822960"/>
            <a:ext cx="11091672" cy="731520"/>
          </a:xfrm>
          <a:prstGeom prst="rect">
            <a:avLst/>
          </a:prstGeom>
          <a:noFill/>
          <a:ln/>
        </p:spPr>
        <p:txBody>
          <a:bodyPr wrap="square" rtlCol="0" anchor="ctr"/>
          <a:lstStyle/>
          <a:p>
            <a:pPr indent="0" marL="0">
              <a:buNone/>
            </a:pPr>
            <a:r>
              <a:rPr lang="en-US" sz="1700" b="1" dirty="0">
                <a:solidFill>
                  <a:srgbClr val="0F172A"/>
                </a:solidFill>
                <a:latin typeface="SimHei" pitchFamily="34" charset="0"/>
                <a:ea typeface="SimHei" pitchFamily="34" charset="-122"/>
                <a:cs typeface="SimHei" pitchFamily="34" charset="-120"/>
              </a:rPr>
              <a:t>基于多智能体深度强化学习的轨道车辆组装分布式异构柔性作业调度</a:t>
            </a:r>
            <a:endParaRPr lang="en-US" sz="1700" dirty="0"/>
          </a:p>
        </p:txBody>
      </p:sp>
      <p:sp>
        <p:nvSpPr>
          <p:cNvPr id="5" name="Text 3"/>
          <p:cNvSpPr/>
          <p:nvPr/>
        </p:nvSpPr>
        <p:spPr>
          <a:xfrm>
            <a:off x="548640" y="1554480"/>
            <a:ext cx="11091672" cy="320040"/>
          </a:xfrm>
          <a:prstGeom prst="rect">
            <a:avLst/>
          </a:prstGeom>
          <a:noFill/>
          <a:ln/>
        </p:spPr>
        <p:txBody>
          <a:bodyPr wrap="square" rtlCol="0" anchor="ctr"/>
          <a:lstStyle/>
          <a:p>
            <a:pPr algn="ctr" indent="0" marL="0">
              <a:buNone/>
            </a:pPr>
            <a:r>
              <a:rPr lang="en-US" sz="1000" dirty="0">
                <a:solidFill>
                  <a:srgbClr val="334155"/>
                </a:solidFill>
                <a:latin typeface="SimSun" pitchFamily="34" charset="0"/>
                <a:ea typeface="SimSun" pitchFamily="34" charset="-122"/>
                <a:cs typeface="SimSun" pitchFamily="34" charset="-120"/>
              </a:rPr>
              <a:t>孟祥恒, 郭 鹏, 李嘉雯, 史海超, 张志瑶, 马永敬, 孙轶杰</a:t>
            </a:r>
            <a:endParaRPr lang="en-US" sz="1000" dirty="0"/>
          </a:p>
        </p:txBody>
      </p:sp>
      <p:sp>
        <p:nvSpPr>
          <p:cNvPr id="6" name="Text 4"/>
          <p:cNvSpPr/>
          <p:nvPr/>
        </p:nvSpPr>
        <p:spPr>
          <a:xfrm>
            <a:off x="548640" y="1828800"/>
            <a:ext cx="11091672" cy="274320"/>
          </a:xfrm>
          <a:prstGeom prst="rect">
            <a:avLst/>
          </a:prstGeom>
          <a:noFill/>
          <a:ln/>
        </p:spPr>
        <p:txBody>
          <a:bodyPr wrap="square" rtlCol="0" anchor="ctr"/>
          <a:lstStyle/>
          <a:p>
            <a:pPr algn="ctr" indent="0" marL="0">
              <a:buNone/>
            </a:pPr>
            <a:r>
              <a:rPr lang="en-US" sz="800" i="1" dirty="0">
                <a:solidFill>
                  <a:srgbClr val="64748B"/>
                </a:solidFill>
                <a:latin typeface="SimSun" pitchFamily="34" charset="0"/>
                <a:ea typeface="SimSun" pitchFamily="34" charset="-122"/>
                <a:cs typeface="SimSun" pitchFamily="34" charset="-120"/>
              </a:rPr>
              <a:t>西南交通大学 机械工程学院 / 中车青岛四方机车车辆股份有限公司</a:t>
            </a:r>
            <a:endParaRPr lang="en-US" sz="800" dirty="0"/>
          </a:p>
        </p:txBody>
      </p:sp>
      <p:sp>
        <p:nvSpPr>
          <p:cNvPr id="7" name="Shape 5"/>
          <p:cNvSpPr/>
          <p:nvPr/>
        </p:nvSpPr>
        <p:spPr>
          <a:xfrm>
            <a:off x="731520" y="2148840"/>
            <a:ext cx="10725912" cy="13716"/>
          </a:xfrm>
          <a:prstGeom prst="rect">
            <a:avLst/>
          </a:prstGeom>
          <a:solidFill>
            <a:srgbClr val="E2E8F0"/>
          </a:solidFill>
          <a:ln/>
        </p:spPr>
      </p:sp>
      <p:sp>
        <p:nvSpPr>
          <p:cNvPr id="8" name="Text 6"/>
          <p:cNvSpPr/>
          <p:nvPr/>
        </p:nvSpPr>
        <p:spPr>
          <a:xfrm>
            <a:off x="548640" y="2286000"/>
            <a:ext cx="914400" cy="274320"/>
          </a:xfrm>
          <a:prstGeom prst="rect">
            <a:avLst/>
          </a:prstGeom>
          <a:noFill/>
          <a:ln/>
        </p:spPr>
        <p:txBody>
          <a:bodyPr wrap="square" rtlCol="0" anchor="ctr"/>
          <a:lstStyle/>
          <a:p>
            <a:pPr indent="0" marL="0">
              <a:buNone/>
            </a:pPr>
            <a:r>
              <a:rPr lang="en-US" sz="1200" b="1" dirty="0">
                <a:solidFill>
                  <a:srgbClr val="0F172A"/>
                </a:solidFill>
                <a:latin typeface="SimHei" pitchFamily="34" charset="0"/>
                <a:ea typeface="SimHei" pitchFamily="34" charset="-122"/>
                <a:cs typeface="SimHei" pitchFamily="34" charset="-120"/>
              </a:rPr>
              <a:t>摘  要</a:t>
            </a:r>
            <a:endParaRPr lang="en-US" sz="1200" dirty="0"/>
          </a:p>
        </p:txBody>
      </p:sp>
      <p:sp>
        <p:nvSpPr>
          <p:cNvPr id="9" name="Text 7"/>
          <p:cNvSpPr/>
          <p:nvPr/>
        </p:nvSpPr>
        <p:spPr>
          <a:xfrm>
            <a:off x="640080" y="2606040"/>
            <a:ext cx="10881360" cy="228600"/>
          </a:xfrm>
          <a:prstGeom prst="rect">
            <a:avLst/>
          </a:prstGeom>
          <a:noFill/>
          <a:ln/>
        </p:spPr>
        <p:txBody>
          <a:bodyPr wrap="square" rtlCol="0" anchor="ctr"/>
          <a:lstStyle/>
          <a:p>
            <a:pPr indent="0" marL="0">
              <a:buNone/>
            </a:pPr>
            <a:r>
              <a:rPr lang="en-US" sz="1000" b="1" dirty="0">
                <a:solidFill>
                  <a:srgbClr val="DC2626"/>
                </a:solidFill>
                <a:latin typeface="SimHei" pitchFamily="34" charset="0"/>
                <a:ea typeface="SimHei" pitchFamily="34" charset="-122"/>
                <a:cs typeface="SimHei" pitchFamily="34" charset="-120"/>
              </a:rPr>
              <a:t>【目的】</a:t>
            </a:r>
            <a:endParaRPr lang="en-US" sz="1000" dirty="0"/>
          </a:p>
        </p:txBody>
      </p:sp>
      <p:sp>
        <p:nvSpPr>
          <p:cNvPr id="10" name="Text 8"/>
          <p:cNvSpPr/>
          <p:nvPr/>
        </p:nvSpPr>
        <p:spPr>
          <a:xfrm>
            <a:off x="777240" y="2834640"/>
            <a:ext cx="10607040" cy="36576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针对轨道车辆组装作业中多车型混线生产、工序复杂、工艺路线差异显著及制造资源高度异构带来的分布式异构柔性作业车间调度挑战, 提出一种两阶段多智能体深度强化学习方法。</a:t>
            </a:r>
            <a:endParaRPr lang="en-US" sz="1000" dirty="0"/>
          </a:p>
        </p:txBody>
      </p:sp>
      <p:sp>
        <p:nvSpPr>
          <p:cNvPr id="11" name="Text 9"/>
          <p:cNvSpPr/>
          <p:nvPr/>
        </p:nvSpPr>
        <p:spPr>
          <a:xfrm>
            <a:off x="640080" y="3273552"/>
            <a:ext cx="10881360" cy="228600"/>
          </a:xfrm>
          <a:prstGeom prst="rect">
            <a:avLst/>
          </a:prstGeom>
          <a:noFill/>
          <a:ln/>
        </p:spPr>
        <p:txBody>
          <a:bodyPr wrap="square" rtlCol="0" anchor="ctr"/>
          <a:lstStyle/>
          <a:p>
            <a:pPr indent="0" marL="0">
              <a:buNone/>
            </a:pPr>
            <a:r>
              <a:rPr lang="en-US" sz="1000" b="1" dirty="0">
                <a:solidFill>
                  <a:srgbClr val="1E3A5F"/>
                </a:solidFill>
                <a:latin typeface="SimHei" pitchFamily="34" charset="0"/>
                <a:ea typeface="SimHei" pitchFamily="34" charset="-122"/>
                <a:cs typeface="SimHei" pitchFamily="34" charset="-120"/>
              </a:rPr>
              <a:t>【方法】</a:t>
            </a:r>
            <a:endParaRPr lang="en-US" sz="1000" dirty="0"/>
          </a:p>
        </p:txBody>
      </p:sp>
      <p:sp>
        <p:nvSpPr>
          <p:cNvPr id="12" name="Text 10"/>
          <p:cNvSpPr/>
          <p:nvPr/>
        </p:nvSpPr>
        <p:spPr>
          <a:xfrm>
            <a:off x="777240" y="3502152"/>
            <a:ext cx="10607040" cy="54864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将调度流程建模为多阶段马尔可夫决策过程, 决策涵盖工件分配、工序排序和机器选择, 通过奖励设计引导智能体最小化全局最大完工时间。上层智能体基于分层异构图注意力网络提取产线全局状态, 实现工件在不同组装线或工区间的合理分配与负载均衡; 下层智能体采用双智能体协作策略, 利用基于图神经网络的编码器-解码器结构捕捉工序间前后约束及资源占用等依赖关系, 实现局部优化。</a:t>
            </a:r>
            <a:endParaRPr lang="en-US" sz="1000" dirty="0"/>
          </a:p>
        </p:txBody>
      </p:sp>
      <p:sp>
        <p:nvSpPr>
          <p:cNvPr id="13" name="Text 11"/>
          <p:cNvSpPr/>
          <p:nvPr/>
        </p:nvSpPr>
        <p:spPr>
          <a:xfrm>
            <a:off x="640080" y="4123944"/>
            <a:ext cx="10881360" cy="228600"/>
          </a:xfrm>
          <a:prstGeom prst="rect">
            <a:avLst/>
          </a:prstGeom>
          <a:noFill/>
          <a:ln/>
        </p:spPr>
        <p:txBody>
          <a:bodyPr wrap="square" rtlCol="0" anchor="ctr"/>
          <a:lstStyle/>
          <a:p>
            <a:pPr indent="0" marL="0">
              <a:buNone/>
            </a:pPr>
            <a:r>
              <a:rPr lang="en-US" sz="1000" b="1" dirty="0">
                <a:solidFill>
                  <a:srgbClr val="059669"/>
                </a:solidFill>
                <a:latin typeface="SimHei" pitchFamily="34" charset="0"/>
                <a:ea typeface="SimHei" pitchFamily="34" charset="-122"/>
                <a:cs typeface="SimHei" pitchFamily="34" charset="-120"/>
              </a:rPr>
              <a:t>【结果】</a:t>
            </a:r>
            <a:endParaRPr lang="en-US" sz="1000" dirty="0"/>
          </a:p>
        </p:txBody>
      </p:sp>
      <p:sp>
        <p:nvSpPr>
          <p:cNvPr id="14" name="Text 12"/>
          <p:cNvSpPr/>
          <p:nvPr/>
        </p:nvSpPr>
        <p:spPr>
          <a:xfrm>
            <a:off x="777240" y="4352544"/>
            <a:ext cx="10607040" cy="32004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基于实际作业场景数据, 通过计算验证该方法在缩短制造周期方面的有效性, 展现出良好的泛化能力。</a:t>
            </a:r>
            <a:endParaRPr lang="en-US" sz="1000" dirty="0"/>
          </a:p>
        </p:txBody>
      </p:sp>
      <p:sp>
        <p:nvSpPr>
          <p:cNvPr id="15" name="Text 13"/>
          <p:cNvSpPr/>
          <p:nvPr/>
        </p:nvSpPr>
        <p:spPr>
          <a:xfrm>
            <a:off x="640080" y="4745736"/>
            <a:ext cx="10881360" cy="228600"/>
          </a:xfrm>
          <a:prstGeom prst="rect">
            <a:avLst/>
          </a:prstGeom>
          <a:noFill/>
          <a:ln/>
        </p:spPr>
        <p:txBody>
          <a:bodyPr wrap="square" rtlCol="0" anchor="ctr"/>
          <a:lstStyle/>
          <a:p>
            <a:pPr indent="0" marL="0">
              <a:buNone/>
            </a:pPr>
            <a:r>
              <a:rPr lang="en-US" sz="1000" b="1" dirty="0">
                <a:solidFill>
                  <a:srgbClr val="7C3AED"/>
                </a:solidFill>
                <a:latin typeface="SimHei" pitchFamily="34" charset="0"/>
                <a:ea typeface="SimHei" pitchFamily="34" charset="-122"/>
                <a:cs typeface="SimHei" pitchFamily="34" charset="-120"/>
              </a:rPr>
              <a:t>【结论】</a:t>
            </a:r>
            <a:endParaRPr lang="en-US" sz="1000" dirty="0"/>
          </a:p>
        </p:txBody>
      </p:sp>
      <p:sp>
        <p:nvSpPr>
          <p:cNvPr id="16" name="Text 14"/>
          <p:cNvSpPr/>
          <p:nvPr/>
        </p:nvSpPr>
        <p:spPr>
          <a:xfrm>
            <a:off x="777240" y="4974336"/>
            <a:ext cx="10607040" cy="32004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所提出的两阶段多智能体深度强化学习方法能够有效应对复杂调度场景, 为分布式异构制造系统的智能调度提供新的技术路径。</a:t>
            </a:r>
            <a:endParaRPr lang="en-US" sz="1000" dirty="0"/>
          </a:p>
        </p:txBody>
      </p:sp>
      <p:sp>
        <p:nvSpPr>
          <p:cNvPr id="17" name="Shape 15"/>
          <p:cNvSpPr/>
          <p:nvPr/>
        </p:nvSpPr>
        <p:spPr>
          <a:xfrm>
            <a:off x="731520" y="5413248"/>
            <a:ext cx="10725912" cy="13716"/>
          </a:xfrm>
          <a:prstGeom prst="rect">
            <a:avLst/>
          </a:prstGeom>
          <a:solidFill>
            <a:srgbClr val="E2E8F0"/>
          </a:solidFill>
          <a:ln/>
        </p:spPr>
      </p:sp>
      <p:sp>
        <p:nvSpPr>
          <p:cNvPr id="18" name="Text 16"/>
          <p:cNvSpPr/>
          <p:nvPr/>
        </p:nvSpPr>
        <p:spPr>
          <a:xfrm>
            <a:off x="640080" y="5550408"/>
            <a:ext cx="10908792" cy="320040"/>
          </a:xfrm>
          <a:prstGeom prst="rect">
            <a:avLst/>
          </a:prstGeom>
          <a:noFill/>
          <a:ln/>
        </p:spPr>
        <p:txBody>
          <a:bodyPr wrap="square" rtlCol="0" anchor="ctr"/>
          <a:lstStyle/>
          <a:p>
            <a:pPr indent="0" marL="0">
              <a:buNone/>
            </a:pPr>
            <a:r>
              <a:rPr lang="en-US" sz="900" i="1" dirty="0">
                <a:solidFill>
                  <a:srgbClr val="334155"/>
                </a:solidFill>
                <a:latin typeface="SimSun" pitchFamily="34" charset="0"/>
                <a:ea typeface="SimSun" pitchFamily="34" charset="-122"/>
                <a:cs typeface="SimSun" pitchFamily="34" charset="-120"/>
              </a:rPr>
              <a:t>关键词: 深度强化学习; 异构资源; 多智能体; 分布式调度; 柔性作业车间; 图神经网络</a:t>
            </a:r>
            <a:endParaRPr lang="en-US" sz="900" dirty="0"/>
          </a:p>
        </p:txBody>
      </p:sp>
      <p:sp>
        <p:nvSpPr>
          <p:cNvPr id="19" name="Shape 17"/>
          <p:cNvSpPr/>
          <p:nvPr/>
        </p:nvSpPr>
        <p:spPr>
          <a:xfrm>
            <a:off x="0" y="6080760"/>
            <a:ext cx="12188952" cy="594360"/>
          </a:xfrm>
          <a:prstGeom prst="rect">
            <a:avLst/>
          </a:prstGeom>
          <a:solidFill>
            <a:srgbClr val="FEF3C7"/>
          </a:solidFill>
          <a:ln/>
        </p:spPr>
      </p:sp>
      <p:sp>
        <p:nvSpPr>
          <p:cNvPr id="20" name="Shape 18"/>
          <p:cNvSpPr/>
          <p:nvPr/>
        </p:nvSpPr>
        <p:spPr>
          <a:xfrm>
            <a:off x="0" y="6080760"/>
            <a:ext cx="73152" cy="594360"/>
          </a:xfrm>
          <a:prstGeom prst="rect">
            <a:avLst/>
          </a:prstGeom>
          <a:solidFill>
            <a:srgbClr val="D97706"/>
          </a:solidFill>
          <a:ln/>
        </p:spPr>
      </p:sp>
      <p:sp>
        <p:nvSpPr>
          <p:cNvPr id="21" name="Text 19"/>
          <p:cNvSpPr/>
          <p:nvPr/>
        </p:nvSpPr>
        <p:spPr>
          <a:xfrm>
            <a:off x="457200" y="6126480"/>
            <a:ext cx="11430000" cy="502920"/>
          </a:xfrm>
          <a:prstGeom prst="rect">
            <a:avLst/>
          </a:prstGeom>
          <a:noFill/>
          <a:ln/>
        </p:spPr>
        <p:txBody>
          <a:bodyPr wrap="square" rtlCol="0" anchor="ctr"/>
          <a:lstStyle/>
          <a:p>
            <a:pPr indent="0" marL="0">
              <a:buNone/>
            </a:pPr>
            <a:r>
              <a:rPr lang="en-US" sz="1000" dirty="0">
                <a:solidFill>
                  <a:srgbClr val="92400E"/>
                </a:solidFill>
                <a:latin typeface="Microsoft YaHei" pitchFamily="34" charset="0"/>
                <a:ea typeface="Microsoft YaHei" pitchFamily="34" charset="-122"/>
                <a:cs typeface="Microsoft YaHei" pitchFamily="34" charset="-120"/>
              </a:rPr>
              <a:t>亮点：两阶段MARL架构——上层全局调度+下层局部优化，体现复杂系统分层解耦的写作范式。关键词精确覆盖方法+问题域。</a:t>
            </a:r>
            <a:endParaRPr lang="en-US" sz="1000" dirty="0"/>
          </a:p>
        </p:txBody>
      </p:sp>
      <p:sp>
        <p:nvSpPr>
          <p:cNvPr id="22" name="Shape 20"/>
          <p:cNvSpPr/>
          <p:nvPr/>
        </p:nvSpPr>
        <p:spPr>
          <a:xfrm>
            <a:off x="11320272" y="1005840"/>
            <a:ext cx="685800" cy="502920"/>
          </a:xfrm>
          <a:prstGeom prst="rect">
            <a:avLst>
              <a:gd name="adj" fmla="val 9091"/>
            </a:avLst>
          </a:prstGeom>
          <a:solidFill>
            <a:srgbClr val="8B1A1A"/>
          </a:solidFill>
          <a:ln/>
        </p:spPr>
      </p:sp>
      <p:sp>
        <p:nvSpPr>
          <p:cNvPr id="23" name="Text 21"/>
          <p:cNvSpPr/>
          <p:nvPr/>
        </p:nvSpPr>
        <p:spPr>
          <a:xfrm>
            <a:off x="11320272" y="1005840"/>
            <a:ext cx="685800" cy="502920"/>
          </a:xfrm>
          <a:prstGeom prst="rect">
            <a:avLst/>
          </a:prstGeom>
          <a:noFill/>
          <a:ln/>
        </p:spPr>
        <p:txBody>
          <a:bodyPr wrap="square" rtlCol="0" anchor="ctr"/>
          <a:lstStyle/>
          <a:p>
            <a:pPr algn="ctr" indent="0" marL="0">
              <a:buNone/>
            </a:pPr>
            <a:r>
              <a:rPr lang="en-US" sz="900" b="1" dirty="0">
                <a:solidFill>
                  <a:srgbClr val="FFFFFF"/>
                </a:solidFill>
                <a:latin typeface="Microsoft YaHei" pitchFamily="34" charset="0"/>
                <a:ea typeface="Microsoft YaHei" pitchFamily="34" charset="-122"/>
                <a:cs typeface="Microsoft YaHei" pitchFamily="34" charset="-120"/>
              </a:rPr>
              <a:t>案例</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6EE"/>
        </a:solidFill>
      </p:bgPr>
    </p:bg>
    <p:spTree>
      <p:nvGrpSpPr>
        <p:cNvPr id="1" name=""/>
        <p:cNvGrpSpPr/>
        <p:nvPr/>
      </p:nvGrpSpPr>
      <p:grpSpPr>
        <a:xfrm>
          <a:off x="0" y="0"/>
          <a:ext cx="0" cy="0"/>
          <a:chOff x="0" y="0"/>
          <a:chExt cx="0" cy="0"/>
        </a:xfrm>
      </p:grpSpPr>
      <p:sp>
        <p:nvSpPr>
          <p:cNvPr id="2" name="Shape 0"/>
          <p:cNvSpPr/>
          <p:nvPr/>
        </p:nvSpPr>
        <p:spPr>
          <a:xfrm>
            <a:off x="0" y="0"/>
            <a:ext cx="12188952" cy="640080"/>
          </a:xfrm>
          <a:prstGeom prst="rect">
            <a:avLst/>
          </a:prstGeom>
          <a:solidFill>
            <a:srgbClr val="8B1A1A"/>
          </a:solidFill>
          <a:ln/>
        </p:spPr>
      </p:sp>
      <p:sp>
        <p:nvSpPr>
          <p:cNvPr id="3" name="Text 1"/>
          <p:cNvSpPr/>
          <p:nvPr/>
        </p:nvSpPr>
        <p:spPr>
          <a:xfrm>
            <a:off x="457200" y="91440"/>
            <a:ext cx="11274552" cy="457200"/>
          </a:xfrm>
          <a:prstGeom prst="rect">
            <a:avLst/>
          </a:prstGeom>
          <a:noFill/>
          <a:ln/>
        </p:spPr>
        <p:txBody>
          <a:bodyPr wrap="square" rtlCol="0" anchor="ctr"/>
          <a:lstStyle/>
          <a:p>
            <a:pPr indent="0" marL="0">
              <a:buNone/>
            </a:pPr>
            <a:r>
              <a:rPr lang="en-US" sz="1100" b="1" dirty="0">
                <a:solidFill>
                  <a:srgbClr val="FFFFFF"/>
                </a:solidFill>
                <a:latin typeface="SimHei" pitchFamily="34" charset="0"/>
                <a:ea typeface="SimHei" pitchFamily="34" charset="-122"/>
                <a:cs typeface="SimHei" pitchFamily="34" charset="-120"/>
              </a:rPr>
              <a:t>控制与决策  |  Vol.41  No.5  |  pp.1275-1286  |  2026</a:t>
            </a:r>
            <a:endParaRPr lang="en-US" sz="1100" dirty="0"/>
          </a:p>
        </p:txBody>
      </p:sp>
      <p:sp>
        <p:nvSpPr>
          <p:cNvPr id="4" name="Text 2"/>
          <p:cNvSpPr/>
          <p:nvPr/>
        </p:nvSpPr>
        <p:spPr>
          <a:xfrm>
            <a:off x="548640" y="822960"/>
            <a:ext cx="11091672" cy="731520"/>
          </a:xfrm>
          <a:prstGeom prst="rect">
            <a:avLst/>
          </a:prstGeom>
          <a:noFill/>
          <a:ln/>
        </p:spPr>
        <p:txBody>
          <a:bodyPr wrap="square" rtlCol="0" anchor="ctr"/>
          <a:lstStyle/>
          <a:p>
            <a:pPr indent="0" marL="0">
              <a:buNone/>
            </a:pPr>
            <a:r>
              <a:rPr lang="en-US" sz="1700" b="1" dirty="0">
                <a:solidFill>
                  <a:srgbClr val="0F172A"/>
                </a:solidFill>
                <a:latin typeface="SimHei" pitchFamily="34" charset="0"/>
                <a:ea typeface="SimHei" pitchFamily="34" charset="-122"/>
                <a:cs typeface="SimHei" pitchFamily="34" charset="-120"/>
              </a:rPr>
              <a:t>一种融合改进滑模扩张状态观测器和卡尔曼滤波的进气系统自抗扰控制方法</a:t>
            </a:r>
            <a:endParaRPr lang="en-US" sz="1700" dirty="0"/>
          </a:p>
        </p:txBody>
      </p:sp>
      <p:sp>
        <p:nvSpPr>
          <p:cNvPr id="5" name="Text 3"/>
          <p:cNvSpPr/>
          <p:nvPr/>
        </p:nvSpPr>
        <p:spPr>
          <a:xfrm>
            <a:off x="548640" y="1554480"/>
            <a:ext cx="11091672" cy="320040"/>
          </a:xfrm>
          <a:prstGeom prst="rect">
            <a:avLst/>
          </a:prstGeom>
          <a:noFill/>
          <a:ln/>
        </p:spPr>
        <p:txBody>
          <a:bodyPr wrap="square" rtlCol="0" anchor="ctr"/>
          <a:lstStyle/>
          <a:p>
            <a:pPr algn="ctr" indent="0" marL="0">
              <a:buNone/>
            </a:pPr>
            <a:r>
              <a:rPr lang="en-US" sz="1000" dirty="0">
                <a:solidFill>
                  <a:srgbClr val="334155"/>
                </a:solidFill>
                <a:latin typeface="SimSun" pitchFamily="34" charset="0"/>
                <a:ea typeface="SimSun" pitchFamily="34" charset="-122"/>
                <a:cs typeface="SimSun" pitchFamily="34" charset="-120"/>
              </a:rPr>
              <a:t>荣海娜, 周泽震, 张葛祥, 刘 俊, 但志宏, 张 松</a:t>
            </a:r>
            <a:endParaRPr lang="en-US" sz="1000" dirty="0"/>
          </a:p>
        </p:txBody>
      </p:sp>
      <p:sp>
        <p:nvSpPr>
          <p:cNvPr id="6" name="Text 4"/>
          <p:cNvSpPr/>
          <p:nvPr/>
        </p:nvSpPr>
        <p:spPr>
          <a:xfrm>
            <a:off x="548640" y="1828800"/>
            <a:ext cx="11091672" cy="274320"/>
          </a:xfrm>
          <a:prstGeom prst="rect">
            <a:avLst/>
          </a:prstGeom>
          <a:noFill/>
          <a:ln/>
        </p:spPr>
        <p:txBody>
          <a:bodyPr wrap="square" rtlCol="0" anchor="ctr"/>
          <a:lstStyle/>
          <a:p>
            <a:pPr algn="ctr" indent="0" marL="0">
              <a:buNone/>
            </a:pPr>
            <a:r>
              <a:rPr lang="en-US" sz="800" i="1" dirty="0">
                <a:solidFill>
                  <a:srgbClr val="64748B"/>
                </a:solidFill>
                <a:latin typeface="SimSun" pitchFamily="34" charset="0"/>
                <a:ea typeface="SimSun" pitchFamily="34" charset="-122"/>
                <a:cs typeface="SimSun" pitchFamily="34" charset="-120"/>
              </a:rPr>
              <a:t>西南交通大学 电气工程学院 / 成都信息工程大学 自动化学院 / 中国航发四川燃气涡轮研究院</a:t>
            </a:r>
            <a:endParaRPr lang="en-US" sz="800" dirty="0"/>
          </a:p>
        </p:txBody>
      </p:sp>
      <p:sp>
        <p:nvSpPr>
          <p:cNvPr id="7" name="Shape 5"/>
          <p:cNvSpPr/>
          <p:nvPr/>
        </p:nvSpPr>
        <p:spPr>
          <a:xfrm>
            <a:off x="731520" y="2148840"/>
            <a:ext cx="10725912" cy="13716"/>
          </a:xfrm>
          <a:prstGeom prst="rect">
            <a:avLst/>
          </a:prstGeom>
          <a:solidFill>
            <a:srgbClr val="E2E8F0"/>
          </a:solidFill>
          <a:ln/>
        </p:spPr>
      </p:sp>
      <p:sp>
        <p:nvSpPr>
          <p:cNvPr id="8" name="Text 6"/>
          <p:cNvSpPr/>
          <p:nvPr/>
        </p:nvSpPr>
        <p:spPr>
          <a:xfrm>
            <a:off x="548640" y="2286000"/>
            <a:ext cx="914400" cy="274320"/>
          </a:xfrm>
          <a:prstGeom prst="rect">
            <a:avLst/>
          </a:prstGeom>
          <a:noFill/>
          <a:ln/>
        </p:spPr>
        <p:txBody>
          <a:bodyPr wrap="square" rtlCol="0" anchor="ctr"/>
          <a:lstStyle/>
          <a:p>
            <a:pPr indent="0" marL="0">
              <a:buNone/>
            </a:pPr>
            <a:r>
              <a:rPr lang="en-US" sz="1200" b="1" dirty="0">
                <a:solidFill>
                  <a:srgbClr val="0F172A"/>
                </a:solidFill>
                <a:latin typeface="SimHei" pitchFamily="34" charset="0"/>
                <a:ea typeface="SimHei" pitchFamily="34" charset="-122"/>
                <a:cs typeface="SimHei" pitchFamily="34" charset="-120"/>
              </a:rPr>
              <a:t>摘  要</a:t>
            </a:r>
            <a:endParaRPr lang="en-US" sz="1200" dirty="0"/>
          </a:p>
        </p:txBody>
      </p:sp>
      <p:sp>
        <p:nvSpPr>
          <p:cNvPr id="9" name="Text 7"/>
          <p:cNvSpPr/>
          <p:nvPr/>
        </p:nvSpPr>
        <p:spPr>
          <a:xfrm>
            <a:off x="640080" y="2606040"/>
            <a:ext cx="10881360" cy="228600"/>
          </a:xfrm>
          <a:prstGeom prst="rect">
            <a:avLst/>
          </a:prstGeom>
          <a:noFill/>
          <a:ln/>
        </p:spPr>
        <p:txBody>
          <a:bodyPr wrap="square" rtlCol="0" anchor="ctr"/>
          <a:lstStyle/>
          <a:p>
            <a:pPr indent="0" marL="0">
              <a:buNone/>
            </a:pPr>
            <a:r>
              <a:rPr lang="en-US" sz="1000" b="1" dirty="0">
                <a:solidFill>
                  <a:srgbClr val="DC2626"/>
                </a:solidFill>
                <a:latin typeface="SimHei" pitchFamily="34" charset="0"/>
                <a:ea typeface="SimHei" pitchFamily="34" charset="-122"/>
                <a:cs typeface="SimHei" pitchFamily="34" charset="-120"/>
              </a:rPr>
              <a:t>【目的】</a:t>
            </a:r>
            <a:endParaRPr lang="en-US" sz="1000" dirty="0"/>
          </a:p>
        </p:txBody>
      </p:sp>
      <p:sp>
        <p:nvSpPr>
          <p:cNvPr id="10" name="Text 8"/>
          <p:cNvSpPr/>
          <p:nvPr/>
        </p:nvSpPr>
        <p:spPr>
          <a:xfrm>
            <a:off x="777240" y="2834640"/>
            <a:ext cx="10607040" cy="36576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针对高空飞行环境模拟试验装置的进气系统在应对发动机过渡态时, 表现出强非线性和模型不确定性, 受未知扰动及测量噪声影响, 难以快速、平稳和精确控制的问题, 提出一种融合改进滑模扩张状态观测器和卡尔曼滤波的自抗扰控制方法。</a:t>
            </a:r>
            <a:endParaRPr lang="en-US" sz="1000" dirty="0"/>
          </a:p>
        </p:txBody>
      </p:sp>
      <p:sp>
        <p:nvSpPr>
          <p:cNvPr id="11" name="Text 9"/>
          <p:cNvSpPr/>
          <p:nvPr/>
        </p:nvSpPr>
        <p:spPr>
          <a:xfrm>
            <a:off x="640080" y="3273552"/>
            <a:ext cx="10881360" cy="228600"/>
          </a:xfrm>
          <a:prstGeom prst="rect">
            <a:avLst/>
          </a:prstGeom>
          <a:noFill/>
          <a:ln/>
        </p:spPr>
        <p:txBody>
          <a:bodyPr wrap="square" rtlCol="0" anchor="ctr"/>
          <a:lstStyle/>
          <a:p>
            <a:pPr indent="0" marL="0">
              <a:buNone/>
            </a:pPr>
            <a:r>
              <a:rPr lang="en-US" sz="1000" b="1" dirty="0">
                <a:solidFill>
                  <a:srgbClr val="1E3A5F"/>
                </a:solidFill>
                <a:latin typeface="SimHei" pitchFamily="34" charset="0"/>
                <a:ea typeface="SimHei" pitchFamily="34" charset="-122"/>
                <a:cs typeface="SimHei" pitchFamily="34" charset="-120"/>
              </a:rPr>
              <a:t>【方法】</a:t>
            </a:r>
            <a:endParaRPr lang="en-US" sz="1000" dirty="0"/>
          </a:p>
        </p:txBody>
      </p:sp>
      <p:sp>
        <p:nvSpPr>
          <p:cNvPr id="12" name="Text 10"/>
          <p:cNvSpPr/>
          <p:nvPr/>
        </p:nvSpPr>
        <p:spPr>
          <a:xfrm>
            <a:off x="777240" y="3502152"/>
            <a:ext cx="10607040" cy="54864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首先, 设计一种变幂次趋近律来提高状态收敛速度; 然后, 构造一种非奇异快速收敛滑模面来加速跟踪误差收敛, 并推导对应的滑模非线性收敛函数; 接着, 将所设计观测器与卡尔曼滤波相融合, 通过扩张状态观测器对总扰动进行观测和补偿, 同时利用卡尔曼滤波抑制测量噪声, 二者通过相互协同可实现对扰动和噪声的双重抑制, 并基于此设计自抗扰控制器; 最后, 给出完整的稳定性证明和仿真验证。</a:t>
            </a:r>
            <a:endParaRPr lang="en-US" sz="1000" dirty="0"/>
          </a:p>
        </p:txBody>
      </p:sp>
      <p:sp>
        <p:nvSpPr>
          <p:cNvPr id="13" name="Text 11"/>
          <p:cNvSpPr/>
          <p:nvPr/>
        </p:nvSpPr>
        <p:spPr>
          <a:xfrm>
            <a:off x="640080" y="4123944"/>
            <a:ext cx="10881360" cy="228600"/>
          </a:xfrm>
          <a:prstGeom prst="rect">
            <a:avLst/>
          </a:prstGeom>
          <a:noFill/>
          <a:ln/>
        </p:spPr>
        <p:txBody>
          <a:bodyPr wrap="square" rtlCol="0" anchor="ctr"/>
          <a:lstStyle/>
          <a:p>
            <a:pPr indent="0" marL="0">
              <a:buNone/>
            </a:pPr>
            <a:r>
              <a:rPr lang="en-US" sz="1000" b="1" dirty="0">
                <a:solidFill>
                  <a:srgbClr val="059669"/>
                </a:solidFill>
                <a:latin typeface="SimHei" pitchFamily="34" charset="0"/>
                <a:ea typeface="SimHei" pitchFamily="34" charset="-122"/>
                <a:cs typeface="SimHei" pitchFamily="34" charset="-120"/>
              </a:rPr>
              <a:t>【结果】</a:t>
            </a:r>
            <a:endParaRPr lang="en-US" sz="1000" dirty="0"/>
          </a:p>
        </p:txBody>
      </p:sp>
      <p:sp>
        <p:nvSpPr>
          <p:cNvPr id="14" name="Text 12"/>
          <p:cNvSpPr/>
          <p:nvPr/>
        </p:nvSpPr>
        <p:spPr>
          <a:xfrm>
            <a:off x="777240" y="4352544"/>
            <a:ext cx="10607040" cy="36576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仿真实验结果表明: 基于改进滑模扩张状态观测器的自抗扰控制器在受测量噪声干扰下, 比基于传统扩张状态观测器的自抗扰算法具有更高的跟踪精度和跟踪速度; 融合卡尔曼滤波器后, 在保证跟踪性能的同时能够有效降低进气系统调节阀控制量摆动幅度。</a:t>
            </a:r>
            <a:endParaRPr lang="en-US" sz="1000" dirty="0"/>
          </a:p>
        </p:txBody>
      </p:sp>
      <p:sp>
        <p:nvSpPr>
          <p:cNvPr id="15" name="Text 13"/>
          <p:cNvSpPr/>
          <p:nvPr/>
        </p:nvSpPr>
        <p:spPr>
          <a:xfrm>
            <a:off x="640080" y="4791456"/>
            <a:ext cx="10881360" cy="228600"/>
          </a:xfrm>
          <a:prstGeom prst="rect">
            <a:avLst/>
          </a:prstGeom>
          <a:noFill/>
          <a:ln/>
        </p:spPr>
        <p:txBody>
          <a:bodyPr wrap="square" rtlCol="0" anchor="ctr"/>
          <a:lstStyle/>
          <a:p>
            <a:pPr indent="0" marL="0">
              <a:buNone/>
            </a:pPr>
            <a:r>
              <a:rPr lang="en-US" sz="1000" b="1" dirty="0">
                <a:solidFill>
                  <a:srgbClr val="7C3AED"/>
                </a:solidFill>
                <a:latin typeface="SimHei" pitchFamily="34" charset="0"/>
                <a:ea typeface="SimHei" pitchFamily="34" charset="-122"/>
                <a:cs typeface="SimHei" pitchFamily="34" charset="-120"/>
              </a:rPr>
              <a:t>【结论】</a:t>
            </a:r>
            <a:endParaRPr lang="en-US" sz="1000" dirty="0"/>
          </a:p>
        </p:txBody>
      </p:sp>
      <p:sp>
        <p:nvSpPr>
          <p:cNvPr id="16" name="Text 14"/>
          <p:cNvSpPr/>
          <p:nvPr/>
        </p:nvSpPr>
        <p:spPr>
          <a:xfrm>
            <a:off x="777240" y="5020056"/>
            <a:ext cx="10607040" cy="36576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所提出的融合方法能够有效解决强非线性系统的精准控制问题, 通过扰动补偿与噪声抑制的协同机制, 显著提升自抗扰控制器的综合性能, 具有良好的工程应用前景。</a:t>
            </a:r>
            <a:endParaRPr lang="en-US" sz="1000" dirty="0"/>
          </a:p>
        </p:txBody>
      </p:sp>
      <p:sp>
        <p:nvSpPr>
          <p:cNvPr id="17" name="Shape 15"/>
          <p:cNvSpPr/>
          <p:nvPr/>
        </p:nvSpPr>
        <p:spPr>
          <a:xfrm>
            <a:off x="731520" y="5504688"/>
            <a:ext cx="10725912" cy="13716"/>
          </a:xfrm>
          <a:prstGeom prst="rect">
            <a:avLst/>
          </a:prstGeom>
          <a:solidFill>
            <a:srgbClr val="E2E8F0"/>
          </a:solidFill>
          <a:ln/>
        </p:spPr>
      </p:sp>
      <p:sp>
        <p:nvSpPr>
          <p:cNvPr id="18" name="Text 16"/>
          <p:cNvSpPr/>
          <p:nvPr/>
        </p:nvSpPr>
        <p:spPr>
          <a:xfrm>
            <a:off x="640080" y="5641848"/>
            <a:ext cx="10908792" cy="320040"/>
          </a:xfrm>
          <a:prstGeom prst="rect">
            <a:avLst/>
          </a:prstGeom>
          <a:noFill/>
          <a:ln/>
        </p:spPr>
        <p:txBody>
          <a:bodyPr wrap="square" rtlCol="0" anchor="ctr"/>
          <a:lstStyle/>
          <a:p>
            <a:pPr indent="0" marL="0">
              <a:buNone/>
            </a:pPr>
            <a:r>
              <a:rPr lang="en-US" sz="900" i="1" dirty="0">
                <a:solidFill>
                  <a:srgbClr val="334155"/>
                </a:solidFill>
                <a:latin typeface="SimSun" pitchFamily="34" charset="0"/>
                <a:ea typeface="SimSun" pitchFamily="34" charset="-122"/>
                <a:cs typeface="SimSun" pitchFamily="34" charset="-120"/>
              </a:rPr>
              <a:t>关键词: 进气系统; 自抗扰控制; 扩张状态观测器; 滑模控制; 卡尔曼滤波</a:t>
            </a:r>
            <a:endParaRPr lang="en-US" sz="900" dirty="0"/>
          </a:p>
        </p:txBody>
      </p:sp>
      <p:sp>
        <p:nvSpPr>
          <p:cNvPr id="19" name="Shape 17"/>
          <p:cNvSpPr/>
          <p:nvPr/>
        </p:nvSpPr>
        <p:spPr>
          <a:xfrm>
            <a:off x="0" y="6080760"/>
            <a:ext cx="12188952" cy="594360"/>
          </a:xfrm>
          <a:prstGeom prst="rect">
            <a:avLst/>
          </a:prstGeom>
          <a:solidFill>
            <a:srgbClr val="FEF3C7"/>
          </a:solidFill>
          <a:ln/>
        </p:spPr>
      </p:sp>
      <p:sp>
        <p:nvSpPr>
          <p:cNvPr id="20" name="Shape 18"/>
          <p:cNvSpPr/>
          <p:nvPr/>
        </p:nvSpPr>
        <p:spPr>
          <a:xfrm>
            <a:off x="0" y="6080760"/>
            <a:ext cx="73152" cy="594360"/>
          </a:xfrm>
          <a:prstGeom prst="rect">
            <a:avLst/>
          </a:prstGeom>
          <a:solidFill>
            <a:srgbClr val="D97706"/>
          </a:solidFill>
          <a:ln/>
        </p:spPr>
      </p:sp>
      <p:sp>
        <p:nvSpPr>
          <p:cNvPr id="21" name="Text 19"/>
          <p:cNvSpPr/>
          <p:nvPr/>
        </p:nvSpPr>
        <p:spPr>
          <a:xfrm>
            <a:off x="457200" y="6126480"/>
            <a:ext cx="11430000" cy="502920"/>
          </a:xfrm>
          <a:prstGeom prst="rect">
            <a:avLst/>
          </a:prstGeom>
          <a:noFill/>
          <a:ln/>
        </p:spPr>
        <p:txBody>
          <a:bodyPr wrap="square" rtlCol="0" anchor="ctr"/>
          <a:lstStyle/>
          <a:p>
            <a:pPr indent="0" marL="0">
              <a:buNone/>
            </a:pPr>
            <a:r>
              <a:rPr lang="en-US" sz="1000" dirty="0">
                <a:solidFill>
                  <a:srgbClr val="92400E"/>
                </a:solidFill>
                <a:latin typeface="Microsoft YaHei" pitchFamily="34" charset="0"/>
                <a:ea typeface="Microsoft YaHei" pitchFamily="34" charset="-122"/>
                <a:cs typeface="Microsoft YaHei" pitchFamily="34" charset="-120"/>
              </a:rPr>
              <a:t>亮点：经典「首先-然后-接着-最后」四步递进式方法描述，逻辑链清晰。稳定性证明与仿真验证双保险是该刊的评价标准。</a:t>
            </a:r>
            <a:endParaRPr lang="en-US" sz="1000" dirty="0"/>
          </a:p>
        </p:txBody>
      </p:sp>
      <p:sp>
        <p:nvSpPr>
          <p:cNvPr id="22" name="Shape 20"/>
          <p:cNvSpPr/>
          <p:nvPr/>
        </p:nvSpPr>
        <p:spPr>
          <a:xfrm>
            <a:off x="11320272" y="1005840"/>
            <a:ext cx="685800" cy="502920"/>
          </a:xfrm>
          <a:prstGeom prst="rect">
            <a:avLst>
              <a:gd name="adj" fmla="val 9091"/>
            </a:avLst>
          </a:prstGeom>
          <a:solidFill>
            <a:srgbClr val="8B1A1A"/>
          </a:solidFill>
          <a:ln/>
        </p:spPr>
      </p:sp>
      <p:sp>
        <p:nvSpPr>
          <p:cNvPr id="23" name="Text 21"/>
          <p:cNvSpPr/>
          <p:nvPr/>
        </p:nvSpPr>
        <p:spPr>
          <a:xfrm>
            <a:off x="11320272" y="1005840"/>
            <a:ext cx="685800" cy="502920"/>
          </a:xfrm>
          <a:prstGeom prst="rect">
            <a:avLst/>
          </a:prstGeom>
          <a:noFill/>
          <a:ln/>
        </p:spPr>
        <p:txBody>
          <a:bodyPr wrap="square" rtlCol="0" anchor="ctr"/>
          <a:lstStyle/>
          <a:p>
            <a:pPr algn="ctr" indent="0" marL="0">
              <a:buNone/>
            </a:pPr>
            <a:r>
              <a:rPr lang="en-US" sz="900" b="1" dirty="0">
                <a:solidFill>
                  <a:srgbClr val="FFFFFF"/>
                </a:solidFill>
                <a:latin typeface="Microsoft YaHei" pitchFamily="34" charset="0"/>
                <a:ea typeface="Microsoft YaHei" pitchFamily="34" charset="-122"/>
                <a:cs typeface="Microsoft YaHei" pitchFamily="34" charset="-120"/>
              </a:rPr>
              <a:t>案例</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6EE"/>
        </a:solidFill>
      </p:bgPr>
    </p:bg>
    <p:spTree>
      <p:nvGrpSpPr>
        <p:cNvPr id="1" name=""/>
        <p:cNvGrpSpPr/>
        <p:nvPr/>
      </p:nvGrpSpPr>
      <p:grpSpPr>
        <a:xfrm>
          <a:off x="0" y="0"/>
          <a:ext cx="0" cy="0"/>
          <a:chOff x="0" y="0"/>
          <a:chExt cx="0" cy="0"/>
        </a:xfrm>
      </p:grpSpPr>
      <p:sp>
        <p:nvSpPr>
          <p:cNvPr id="2" name="Shape 0"/>
          <p:cNvSpPr/>
          <p:nvPr/>
        </p:nvSpPr>
        <p:spPr>
          <a:xfrm>
            <a:off x="0" y="0"/>
            <a:ext cx="12188952" cy="640080"/>
          </a:xfrm>
          <a:prstGeom prst="rect">
            <a:avLst/>
          </a:prstGeom>
          <a:solidFill>
            <a:srgbClr val="8B1A1A"/>
          </a:solidFill>
          <a:ln/>
        </p:spPr>
      </p:sp>
      <p:sp>
        <p:nvSpPr>
          <p:cNvPr id="3" name="Text 1"/>
          <p:cNvSpPr/>
          <p:nvPr/>
        </p:nvSpPr>
        <p:spPr>
          <a:xfrm>
            <a:off x="457200" y="91440"/>
            <a:ext cx="11274552" cy="457200"/>
          </a:xfrm>
          <a:prstGeom prst="rect">
            <a:avLst/>
          </a:prstGeom>
          <a:noFill/>
          <a:ln/>
        </p:spPr>
        <p:txBody>
          <a:bodyPr wrap="square" rtlCol="0" anchor="ctr"/>
          <a:lstStyle/>
          <a:p>
            <a:pPr indent="0" marL="0">
              <a:buNone/>
            </a:pPr>
            <a:r>
              <a:rPr lang="en-US" sz="1100" b="1" dirty="0">
                <a:solidFill>
                  <a:srgbClr val="FFFFFF"/>
                </a:solidFill>
                <a:latin typeface="SimHei" pitchFamily="34" charset="0"/>
                <a:ea typeface="SimHei" pitchFamily="34" charset="-122"/>
                <a:cs typeface="SimHei" pitchFamily="34" charset="-120"/>
              </a:rPr>
              <a:t>控制与决策  |  Vol.40  No.8  |  pp.2105-2114  |  2025</a:t>
            </a:r>
            <a:endParaRPr lang="en-US" sz="1100" dirty="0"/>
          </a:p>
        </p:txBody>
      </p:sp>
      <p:sp>
        <p:nvSpPr>
          <p:cNvPr id="4" name="Text 2"/>
          <p:cNvSpPr/>
          <p:nvPr/>
        </p:nvSpPr>
        <p:spPr>
          <a:xfrm>
            <a:off x="548640" y="822960"/>
            <a:ext cx="11091672" cy="731520"/>
          </a:xfrm>
          <a:prstGeom prst="rect">
            <a:avLst/>
          </a:prstGeom>
          <a:noFill/>
          <a:ln/>
        </p:spPr>
        <p:txBody>
          <a:bodyPr wrap="square" rtlCol="0" anchor="ctr"/>
          <a:lstStyle/>
          <a:p>
            <a:pPr indent="0" marL="0">
              <a:buNone/>
            </a:pPr>
            <a:r>
              <a:rPr lang="en-US" sz="1700" b="1" dirty="0">
                <a:solidFill>
                  <a:srgbClr val="0F172A"/>
                </a:solidFill>
                <a:latin typeface="SimHei" pitchFamily="34" charset="0"/>
                <a:ea typeface="SimHei" pitchFamily="34" charset="-122"/>
                <a:cs typeface="SimHei" pitchFamily="34" charset="-120"/>
              </a:rPr>
              <a:t>基于改进蚁群算法的动态城市路网路径优化研究</a:t>
            </a:r>
            <a:endParaRPr lang="en-US" sz="1700" dirty="0"/>
          </a:p>
        </p:txBody>
      </p:sp>
      <p:sp>
        <p:nvSpPr>
          <p:cNvPr id="5" name="Text 3"/>
          <p:cNvSpPr/>
          <p:nvPr/>
        </p:nvSpPr>
        <p:spPr>
          <a:xfrm>
            <a:off x="548640" y="1554480"/>
            <a:ext cx="11091672" cy="320040"/>
          </a:xfrm>
          <a:prstGeom prst="rect">
            <a:avLst/>
          </a:prstGeom>
          <a:noFill/>
          <a:ln/>
        </p:spPr>
        <p:txBody>
          <a:bodyPr wrap="square" rtlCol="0" anchor="ctr"/>
          <a:lstStyle/>
          <a:p>
            <a:pPr algn="ctr" indent="0" marL="0">
              <a:buNone/>
            </a:pPr>
            <a:r>
              <a:rPr lang="en-US" sz="1000" dirty="0">
                <a:solidFill>
                  <a:srgbClr val="334155"/>
                </a:solidFill>
                <a:latin typeface="SimSun" pitchFamily="34" charset="0"/>
                <a:ea typeface="SimSun" pitchFamily="34" charset="-122"/>
                <a:cs typeface="SimSun" pitchFamily="34" charset="-120"/>
              </a:rPr>
              <a:t>李铭远, 张浩然, 王思涵, 陈嘉瑞</a:t>
            </a:r>
            <a:endParaRPr lang="en-US" sz="1000" dirty="0"/>
          </a:p>
        </p:txBody>
      </p:sp>
      <p:sp>
        <p:nvSpPr>
          <p:cNvPr id="6" name="Text 4"/>
          <p:cNvSpPr/>
          <p:nvPr/>
        </p:nvSpPr>
        <p:spPr>
          <a:xfrm>
            <a:off x="548640" y="1828800"/>
            <a:ext cx="11091672" cy="274320"/>
          </a:xfrm>
          <a:prstGeom prst="rect">
            <a:avLst/>
          </a:prstGeom>
          <a:noFill/>
          <a:ln/>
        </p:spPr>
        <p:txBody>
          <a:bodyPr wrap="square" rtlCol="0" anchor="ctr"/>
          <a:lstStyle/>
          <a:p>
            <a:pPr algn="ctr" indent="0" marL="0">
              <a:buNone/>
            </a:pPr>
            <a:r>
              <a:rPr lang="en-US" sz="800" i="1" dirty="0">
                <a:solidFill>
                  <a:srgbClr val="64748B"/>
                </a:solidFill>
                <a:latin typeface="SimSun" pitchFamily="34" charset="0"/>
                <a:ea typeface="SimSun" pitchFamily="34" charset="-122"/>
                <a:cs typeface="SimSun" pitchFamily="34" charset="-120"/>
              </a:rPr>
              <a:t>北京交通大学 交通运输学院</a:t>
            </a:r>
            <a:endParaRPr lang="en-US" sz="800" dirty="0"/>
          </a:p>
        </p:txBody>
      </p:sp>
      <p:sp>
        <p:nvSpPr>
          <p:cNvPr id="7" name="Shape 5"/>
          <p:cNvSpPr/>
          <p:nvPr/>
        </p:nvSpPr>
        <p:spPr>
          <a:xfrm>
            <a:off x="731520" y="2148840"/>
            <a:ext cx="10725912" cy="13716"/>
          </a:xfrm>
          <a:prstGeom prst="rect">
            <a:avLst/>
          </a:prstGeom>
          <a:solidFill>
            <a:srgbClr val="E2E8F0"/>
          </a:solidFill>
          <a:ln/>
        </p:spPr>
      </p:sp>
      <p:sp>
        <p:nvSpPr>
          <p:cNvPr id="8" name="Text 6"/>
          <p:cNvSpPr/>
          <p:nvPr/>
        </p:nvSpPr>
        <p:spPr>
          <a:xfrm>
            <a:off x="548640" y="2286000"/>
            <a:ext cx="914400" cy="274320"/>
          </a:xfrm>
          <a:prstGeom prst="rect">
            <a:avLst/>
          </a:prstGeom>
          <a:noFill/>
          <a:ln/>
        </p:spPr>
        <p:txBody>
          <a:bodyPr wrap="square" rtlCol="0" anchor="ctr"/>
          <a:lstStyle/>
          <a:p>
            <a:pPr indent="0" marL="0">
              <a:buNone/>
            </a:pPr>
            <a:r>
              <a:rPr lang="en-US" sz="1200" b="1" dirty="0">
                <a:solidFill>
                  <a:srgbClr val="0F172A"/>
                </a:solidFill>
                <a:latin typeface="SimHei" pitchFamily="34" charset="0"/>
                <a:ea typeface="SimHei" pitchFamily="34" charset="-122"/>
                <a:cs typeface="SimHei" pitchFamily="34" charset="-120"/>
              </a:rPr>
              <a:t>摘  要</a:t>
            </a:r>
            <a:endParaRPr lang="en-US" sz="1200" dirty="0"/>
          </a:p>
        </p:txBody>
      </p:sp>
      <p:sp>
        <p:nvSpPr>
          <p:cNvPr id="9" name="Text 7"/>
          <p:cNvSpPr/>
          <p:nvPr/>
        </p:nvSpPr>
        <p:spPr>
          <a:xfrm>
            <a:off x="640080" y="2606040"/>
            <a:ext cx="10881360" cy="228600"/>
          </a:xfrm>
          <a:prstGeom prst="rect">
            <a:avLst/>
          </a:prstGeom>
          <a:noFill/>
          <a:ln/>
        </p:spPr>
        <p:txBody>
          <a:bodyPr wrap="square" rtlCol="0" anchor="ctr"/>
          <a:lstStyle/>
          <a:p>
            <a:pPr indent="0" marL="0">
              <a:buNone/>
            </a:pPr>
            <a:r>
              <a:rPr lang="en-US" sz="1000" b="1" dirty="0">
                <a:solidFill>
                  <a:srgbClr val="DC2626"/>
                </a:solidFill>
                <a:latin typeface="SimHei" pitchFamily="34" charset="0"/>
                <a:ea typeface="SimHei" pitchFamily="34" charset="-122"/>
                <a:cs typeface="SimHei" pitchFamily="34" charset="-120"/>
              </a:rPr>
              <a:t>【目的】</a:t>
            </a:r>
            <a:endParaRPr lang="en-US" sz="1000" dirty="0"/>
          </a:p>
        </p:txBody>
      </p:sp>
      <p:sp>
        <p:nvSpPr>
          <p:cNvPr id="10" name="Text 8"/>
          <p:cNvSpPr/>
          <p:nvPr/>
        </p:nvSpPr>
        <p:spPr>
          <a:xfrm>
            <a:off x="777240" y="2834640"/>
            <a:ext cx="10607040" cy="36576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针对动态城市路网中交通状态实时变化导致传统路径规划方法适应性不足的问题, 以最小化行程时间和提高路径可靠性为目标, 研究时变路网下的车辆路径动态优化问题。</a:t>
            </a:r>
            <a:endParaRPr lang="en-US" sz="1000" dirty="0"/>
          </a:p>
        </p:txBody>
      </p:sp>
      <p:sp>
        <p:nvSpPr>
          <p:cNvPr id="11" name="Text 9"/>
          <p:cNvSpPr/>
          <p:nvPr/>
        </p:nvSpPr>
        <p:spPr>
          <a:xfrm>
            <a:off x="640080" y="3273552"/>
            <a:ext cx="10881360" cy="228600"/>
          </a:xfrm>
          <a:prstGeom prst="rect">
            <a:avLst/>
          </a:prstGeom>
          <a:noFill/>
          <a:ln/>
        </p:spPr>
        <p:txBody>
          <a:bodyPr wrap="square" rtlCol="0" anchor="ctr"/>
          <a:lstStyle/>
          <a:p>
            <a:pPr indent="0" marL="0">
              <a:buNone/>
            </a:pPr>
            <a:r>
              <a:rPr lang="en-US" sz="1000" b="1" dirty="0">
                <a:solidFill>
                  <a:srgbClr val="1E3A5F"/>
                </a:solidFill>
                <a:latin typeface="SimHei" pitchFamily="34" charset="0"/>
                <a:ea typeface="SimHei" pitchFamily="34" charset="-122"/>
                <a:cs typeface="SimHei" pitchFamily="34" charset="-120"/>
              </a:rPr>
              <a:t>【方法】</a:t>
            </a:r>
            <a:endParaRPr lang="en-US" sz="1000" dirty="0"/>
          </a:p>
        </p:txBody>
      </p:sp>
      <p:sp>
        <p:nvSpPr>
          <p:cNvPr id="12" name="Text 10"/>
          <p:cNvSpPr/>
          <p:nvPr/>
        </p:nvSpPr>
        <p:spPr>
          <a:xfrm>
            <a:off x="777240" y="3502152"/>
            <a:ext cx="10607040" cy="36576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提出一种融合拥塞预测机制的改进蚁群算法, 引入时空状态转移概率和自适应信息素更新策略, 设计动态重路由触发机制以应对路况变化。以北京市部分路网数据为实例, 进行多场景对比实验, 并与传统蚁群算法及Dijkstra算法进行性能比较。</a:t>
            </a:r>
            <a:endParaRPr lang="en-US" sz="1000" dirty="0"/>
          </a:p>
        </p:txBody>
      </p:sp>
      <p:sp>
        <p:nvSpPr>
          <p:cNvPr id="13" name="Text 11"/>
          <p:cNvSpPr/>
          <p:nvPr/>
        </p:nvSpPr>
        <p:spPr>
          <a:xfrm>
            <a:off x="640080" y="3941064"/>
            <a:ext cx="10881360" cy="228600"/>
          </a:xfrm>
          <a:prstGeom prst="rect">
            <a:avLst/>
          </a:prstGeom>
          <a:noFill/>
          <a:ln/>
        </p:spPr>
        <p:txBody>
          <a:bodyPr wrap="square" rtlCol="0" anchor="ctr"/>
          <a:lstStyle/>
          <a:p>
            <a:pPr indent="0" marL="0">
              <a:buNone/>
            </a:pPr>
            <a:r>
              <a:rPr lang="en-US" sz="1000" b="1" dirty="0">
                <a:solidFill>
                  <a:srgbClr val="059669"/>
                </a:solidFill>
                <a:latin typeface="SimHei" pitchFamily="34" charset="0"/>
                <a:ea typeface="SimHei" pitchFamily="34" charset="-122"/>
                <a:cs typeface="SimHei" pitchFamily="34" charset="-120"/>
              </a:rPr>
              <a:t>【结果】</a:t>
            </a:r>
            <a:endParaRPr lang="en-US" sz="1000" dirty="0"/>
          </a:p>
        </p:txBody>
      </p:sp>
      <p:sp>
        <p:nvSpPr>
          <p:cNvPr id="14" name="Text 12"/>
          <p:cNvSpPr/>
          <p:nvPr/>
        </p:nvSpPr>
        <p:spPr>
          <a:xfrm>
            <a:off x="777240" y="4169664"/>
            <a:ext cx="10607040" cy="36576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与传统蚁群算法和Dijkstra算法相比, 所提方法平均行程时间分别降低15.3%和12.7%, 路径可靠性提升23.5%; 在高峰拥堵场景下优势更为显著, 行程时间降幅达21.8%。在100次重复实验中, 算法收敛成功率保持在98%以上。</a:t>
            </a:r>
            <a:endParaRPr lang="en-US" sz="1000" dirty="0"/>
          </a:p>
        </p:txBody>
      </p:sp>
      <p:sp>
        <p:nvSpPr>
          <p:cNvPr id="15" name="Text 13"/>
          <p:cNvSpPr/>
          <p:nvPr/>
        </p:nvSpPr>
        <p:spPr>
          <a:xfrm>
            <a:off x="640080" y="4608576"/>
            <a:ext cx="10881360" cy="228600"/>
          </a:xfrm>
          <a:prstGeom prst="rect">
            <a:avLst/>
          </a:prstGeom>
          <a:noFill/>
          <a:ln/>
        </p:spPr>
        <p:txBody>
          <a:bodyPr wrap="square" rtlCol="0" anchor="ctr"/>
          <a:lstStyle/>
          <a:p>
            <a:pPr indent="0" marL="0">
              <a:buNone/>
            </a:pPr>
            <a:r>
              <a:rPr lang="en-US" sz="1000" b="1" dirty="0">
                <a:solidFill>
                  <a:srgbClr val="7C3AED"/>
                </a:solidFill>
                <a:latin typeface="SimHei" pitchFamily="34" charset="0"/>
                <a:ea typeface="SimHei" pitchFamily="34" charset="-122"/>
                <a:cs typeface="SimHei" pitchFamily="34" charset="-120"/>
              </a:rPr>
              <a:t>【结论】</a:t>
            </a:r>
            <a:endParaRPr lang="en-US" sz="1000" dirty="0"/>
          </a:p>
        </p:txBody>
      </p:sp>
      <p:sp>
        <p:nvSpPr>
          <p:cNvPr id="16" name="Text 14"/>
          <p:cNvSpPr/>
          <p:nvPr/>
        </p:nvSpPr>
        <p:spPr>
          <a:xfrm>
            <a:off x="777240" y="4837176"/>
            <a:ext cx="10607040" cy="32004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改进蚁群算法能有效适应动态城市路网环境, 在实时性和路径质量方面均表现优异, 为智能交通系统提供了一种高效实用的路径规划方案。</a:t>
            </a:r>
            <a:endParaRPr lang="en-US" sz="1000" dirty="0"/>
          </a:p>
        </p:txBody>
      </p:sp>
      <p:sp>
        <p:nvSpPr>
          <p:cNvPr id="17" name="Shape 15"/>
          <p:cNvSpPr/>
          <p:nvPr/>
        </p:nvSpPr>
        <p:spPr>
          <a:xfrm>
            <a:off x="731520" y="5276088"/>
            <a:ext cx="10725912" cy="13716"/>
          </a:xfrm>
          <a:prstGeom prst="rect">
            <a:avLst/>
          </a:prstGeom>
          <a:solidFill>
            <a:srgbClr val="E2E8F0"/>
          </a:solidFill>
          <a:ln/>
        </p:spPr>
      </p:sp>
      <p:sp>
        <p:nvSpPr>
          <p:cNvPr id="18" name="Text 16"/>
          <p:cNvSpPr/>
          <p:nvPr/>
        </p:nvSpPr>
        <p:spPr>
          <a:xfrm>
            <a:off x="640080" y="5413248"/>
            <a:ext cx="10908792" cy="320040"/>
          </a:xfrm>
          <a:prstGeom prst="rect">
            <a:avLst/>
          </a:prstGeom>
          <a:noFill/>
          <a:ln/>
        </p:spPr>
        <p:txBody>
          <a:bodyPr wrap="square" rtlCol="0" anchor="ctr"/>
          <a:lstStyle/>
          <a:p>
            <a:pPr indent="0" marL="0">
              <a:buNone/>
            </a:pPr>
            <a:r>
              <a:rPr lang="en-US" sz="900" i="1" dirty="0">
                <a:solidFill>
                  <a:srgbClr val="334155"/>
                </a:solidFill>
                <a:latin typeface="SimSun" pitchFamily="34" charset="0"/>
                <a:ea typeface="SimSun" pitchFamily="34" charset="-122"/>
                <a:cs typeface="SimSun" pitchFamily="34" charset="-120"/>
              </a:rPr>
              <a:t>关键词: 动态路径优化; 蚁群算法; 时变路网; 拥塞预测; 智能交通系统</a:t>
            </a:r>
            <a:endParaRPr lang="en-US" sz="900" dirty="0"/>
          </a:p>
        </p:txBody>
      </p:sp>
      <p:sp>
        <p:nvSpPr>
          <p:cNvPr id="19" name="Shape 17"/>
          <p:cNvSpPr/>
          <p:nvPr/>
        </p:nvSpPr>
        <p:spPr>
          <a:xfrm>
            <a:off x="0" y="6080760"/>
            <a:ext cx="12188952" cy="594360"/>
          </a:xfrm>
          <a:prstGeom prst="rect">
            <a:avLst/>
          </a:prstGeom>
          <a:solidFill>
            <a:srgbClr val="FEF3C7"/>
          </a:solidFill>
          <a:ln/>
        </p:spPr>
      </p:sp>
      <p:sp>
        <p:nvSpPr>
          <p:cNvPr id="20" name="Shape 18"/>
          <p:cNvSpPr/>
          <p:nvPr/>
        </p:nvSpPr>
        <p:spPr>
          <a:xfrm>
            <a:off x="0" y="6080760"/>
            <a:ext cx="73152" cy="594360"/>
          </a:xfrm>
          <a:prstGeom prst="rect">
            <a:avLst/>
          </a:prstGeom>
          <a:solidFill>
            <a:srgbClr val="D97706"/>
          </a:solidFill>
          <a:ln/>
        </p:spPr>
      </p:sp>
      <p:sp>
        <p:nvSpPr>
          <p:cNvPr id="21" name="Text 19"/>
          <p:cNvSpPr/>
          <p:nvPr/>
        </p:nvSpPr>
        <p:spPr>
          <a:xfrm>
            <a:off x="457200" y="6126480"/>
            <a:ext cx="11430000" cy="502920"/>
          </a:xfrm>
          <a:prstGeom prst="rect">
            <a:avLst/>
          </a:prstGeom>
          <a:noFill/>
          <a:ln/>
        </p:spPr>
        <p:txBody>
          <a:bodyPr wrap="square" rtlCol="0" anchor="ctr"/>
          <a:lstStyle/>
          <a:p>
            <a:pPr indent="0" marL="0">
              <a:buNone/>
            </a:pPr>
            <a:r>
              <a:rPr lang="en-US" sz="1000" dirty="0">
                <a:solidFill>
                  <a:srgbClr val="92400E"/>
                </a:solidFill>
                <a:latin typeface="Microsoft YaHei" pitchFamily="34" charset="0"/>
                <a:ea typeface="Microsoft YaHei" pitchFamily="34" charset="-122"/>
                <a:cs typeface="Microsoft YaHei" pitchFamily="34" charset="-120"/>
              </a:rPr>
              <a:t>典型模式：问题→模型→算法→实验→结论，定量结果百分比对比是该刊的标志性特征。</a:t>
            </a:r>
            <a:endParaRPr lang="en-US" sz="1000" dirty="0"/>
          </a:p>
        </p:txBody>
      </p:sp>
      <p:sp>
        <p:nvSpPr>
          <p:cNvPr id="22" name="Shape 20"/>
          <p:cNvSpPr/>
          <p:nvPr/>
        </p:nvSpPr>
        <p:spPr>
          <a:xfrm>
            <a:off x="11320272" y="1005840"/>
            <a:ext cx="685800" cy="502920"/>
          </a:xfrm>
          <a:prstGeom prst="rect">
            <a:avLst>
              <a:gd name="adj" fmla="val 9091"/>
            </a:avLst>
          </a:prstGeom>
          <a:solidFill>
            <a:srgbClr val="8B1A1A"/>
          </a:solidFill>
          <a:ln/>
        </p:spPr>
      </p:sp>
      <p:sp>
        <p:nvSpPr>
          <p:cNvPr id="23" name="Text 21"/>
          <p:cNvSpPr/>
          <p:nvPr/>
        </p:nvSpPr>
        <p:spPr>
          <a:xfrm>
            <a:off x="11320272" y="1005840"/>
            <a:ext cx="685800" cy="502920"/>
          </a:xfrm>
          <a:prstGeom prst="rect">
            <a:avLst/>
          </a:prstGeom>
          <a:noFill/>
          <a:ln/>
        </p:spPr>
        <p:txBody>
          <a:bodyPr wrap="square" rtlCol="0" anchor="ctr"/>
          <a:lstStyle/>
          <a:p>
            <a:pPr algn="ctr" indent="0" marL="0">
              <a:buNone/>
            </a:pPr>
            <a:r>
              <a:rPr lang="en-US" sz="900" b="1" dirty="0">
                <a:solidFill>
                  <a:srgbClr val="FFFFFF"/>
                </a:solidFill>
                <a:latin typeface="Microsoft YaHei" pitchFamily="34" charset="0"/>
                <a:ea typeface="Microsoft YaHei" pitchFamily="34" charset="-122"/>
                <a:cs typeface="Microsoft YaHei" pitchFamily="34" charset="-120"/>
              </a:rPr>
              <a:t>案例</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6EE"/>
        </a:solidFill>
      </p:bgPr>
    </p:bg>
    <p:spTree>
      <p:nvGrpSpPr>
        <p:cNvPr id="1" name=""/>
        <p:cNvGrpSpPr/>
        <p:nvPr/>
      </p:nvGrpSpPr>
      <p:grpSpPr>
        <a:xfrm>
          <a:off x="0" y="0"/>
          <a:ext cx="0" cy="0"/>
          <a:chOff x="0" y="0"/>
          <a:chExt cx="0" cy="0"/>
        </a:xfrm>
      </p:grpSpPr>
      <p:sp>
        <p:nvSpPr>
          <p:cNvPr id="2" name="Shape 0"/>
          <p:cNvSpPr/>
          <p:nvPr/>
        </p:nvSpPr>
        <p:spPr>
          <a:xfrm>
            <a:off x="0" y="0"/>
            <a:ext cx="12188952" cy="640080"/>
          </a:xfrm>
          <a:prstGeom prst="rect">
            <a:avLst/>
          </a:prstGeom>
          <a:solidFill>
            <a:srgbClr val="8B1A1A"/>
          </a:solidFill>
          <a:ln/>
        </p:spPr>
      </p:sp>
      <p:sp>
        <p:nvSpPr>
          <p:cNvPr id="3" name="Text 1"/>
          <p:cNvSpPr/>
          <p:nvPr/>
        </p:nvSpPr>
        <p:spPr>
          <a:xfrm>
            <a:off x="457200" y="91440"/>
            <a:ext cx="11274552" cy="457200"/>
          </a:xfrm>
          <a:prstGeom prst="rect">
            <a:avLst/>
          </a:prstGeom>
          <a:noFill/>
          <a:ln/>
        </p:spPr>
        <p:txBody>
          <a:bodyPr wrap="square" rtlCol="0" anchor="ctr"/>
          <a:lstStyle/>
          <a:p>
            <a:pPr indent="0" marL="0">
              <a:buNone/>
            </a:pPr>
            <a:r>
              <a:rPr lang="en-US" sz="1100" b="1" dirty="0">
                <a:solidFill>
                  <a:srgbClr val="FFFFFF"/>
                </a:solidFill>
                <a:latin typeface="SimHei" pitchFamily="34" charset="0"/>
                <a:ea typeface="SimHei" pitchFamily="34" charset="-122"/>
                <a:cs typeface="SimHei" pitchFamily="34" charset="-120"/>
              </a:rPr>
              <a:t>控制与决策  |  Vol.41  No.3  |  pp.721-732  |  2026</a:t>
            </a:r>
            <a:endParaRPr lang="en-US" sz="1100" dirty="0"/>
          </a:p>
        </p:txBody>
      </p:sp>
      <p:sp>
        <p:nvSpPr>
          <p:cNvPr id="4" name="Text 2"/>
          <p:cNvSpPr/>
          <p:nvPr/>
        </p:nvSpPr>
        <p:spPr>
          <a:xfrm>
            <a:off x="548640" y="822960"/>
            <a:ext cx="11091672" cy="731520"/>
          </a:xfrm>
          <a:prstGeom prst="rect">
            <a:avLst/>
          </a:prstGeom>
          <a:noFill/>
          <a:ln/>
        </p:spPr>
        <p:txBody>
          <a:bodyPr wrap="square" rtlCol="0" anchor="ctr"/>
          <a:lstStyle/>
          <a:p>
            <a:pPr indent="0" marL="0">
              <a:buNone/>
            </a:pPr>
            <a:r>
              <a:rPr lang="en-US" sz="1700" b="1" dirty="0">
                <a:solidFill>
                  <a:srgbClr val="0F172A"/>
                </a:solidFill>
                <a:latin typeface="SimHei" pitchFamily="34" charset="0"/>
                <a:ea typeface="SimHei" pitchFamily="34" charset="-122"/>
                <a:cs typeface="SimHei" pitchFamily="34" charset="-120"/>
              </a:rPr>
              <a:t>基于图注意力网络的车辆路径问题端到端求解方法</a:t>
            </a:r>
            <a:endParaRPr lang="en-US" sz="1700" dirty="0"/>
          </a:p>
        </p:txBody>
      </p:sp>
      <p:sp>
        <p:nvSpPr>
          <p:cNvPr id="5" name="Text 3"/>
          <p:cNvSpPr/>
          <p:nvPr/>
        </p:nvSpPr>
        <p:spPr>
          <a:xfrm>
            <a:off x="548640" y="1554480"/>
            <a:ext cx="11091672" cy="320040"/>
          </a:xfrm>
          <a:prstGeom prst="rect">
            <a:avLst/>
          </a:prstGeom>
          <a:noFill/>
          <a:ln/>
        </p:spPr>
        <p:txBody>
          <a:bodyPr wrap="square" rtlCol="0" anchor="ctr"/>
          <a:lstStyle/>
          <a:p>
            <a:pPr algn="ctr" indent="0" marL="0">
              <a:buNone/>
            </a:pPr>
            <a:r>
              <a:rPr lang="en-US" sz="1000" dirty="0">
                <a:solidFill>
                  <a:srgbClr val="334155"/>
                </a:solidFill>
                <a:latin typeface="SimSun" pitchFamily="34" charset="0"/>
                <a:ea typeface="SimSun" pitchFamily="34" charset="-122"/>
                <a:cs typeface="SimSun" pitchFamily="34" charset="-120"/>
              </a:rPr>
              <a:t>刘致远, 赵晓明, 陈思颖, 吴嘉豪, 林子涵</a:t>
            </a:r>
            <a:endParaRPr lang="en-US" sz="1000" dirty="0"/>
          </a:p>
        </p:txBody>
      </p:sp>
      <p:sp>
        <p:nvSpPr>
          <p:cNvPr id="6" name="Text 4"/>
          <p:cNvSpPr/>
          <p:nvPr/>
        </p:nvSpPr>
        <p:spPr>
          <a:xfrm>
            <a:off x="548640" y="1828800"/>
            <a:ext cx="11091672" cy="274320"/>
          </a:xfrm>
          <a:prstGeom prst="rect">
            <a:avLst/>
          </a:prstGeom>
          <a:noFill/>
          <a:ln/>
        </p:spPr>
        <p:txBody>
          <a:bodyPr wrap="square" rtlCol="0" anchor="ctr"/>
          <a:lstStyle/>
          <a:p>
            <a:pPr algn="ctr" indent="0" marL="0">
              <a:buNone/>
            </a:pPr>
            <a:r>
              <a:rPr lang="en-US" sz="800" i="1" dirty="0">
                <a:solidFill>
                  <a:srgbClr val="64748B"/>
                </a:solidFill>
                <a:latin typeface="SimSun" pitchFamily="34" charset="0"/>
                <a:ea typeface="SimSun" pitchFamily="34" charset="-122"/>
                <a:cs typeface="SimSun" pitchFamily="34" charset="-120"/>
              </a:rPr>
              <a:t>同济大学 交通运输工程学院</a:t>
            </a:r>
            <a:endParaRPr lang="en-US" sz="800" dirty="0"/>
          </a:p>
        </p:txBody>
      </p:sp>
      <p:sp>
        <p:nvSpPr>
          <p:cNvPr id="7" name="Shape 5"/>
          <p:cNvSpPr/>
          <p:nvPr/>
        </p:nvSpPr>
        <p:spPr>
          <a:xfrm>
            <a:off x="731520" y="2148840"/>
            <a:ext cx="10725912" cy="13716"/>
          </a:xfrm>
          <a:prstGeom prst="rect">
            <a:avLst/>
          </a:prstGeom>
          <a:solidFill>
            <a:srgbClr val="E2E8F0"/>
          </a:solidFill>
          <a:ln/>
        </p:spPr>
      </p:sp>
      <p:sp>
        <p:nvSpPr>
          <p:cNvPr id="8" name="Text 6"/>
          <p:cNvSpPr/>
          <p:nvPr/>
        </p:nvSpPr>
        <p:spPr>
          <a:xfrm>
            <a:off x="548640" y="2286000"/>
            <a:ext cx="914400" cy="274320"/>
          </a:xfrm>
          <a:prstGeom prst="rect">
            <a:avLst/>
          </a:prstGeom>
          <a:noFill/>
          <a:ln/>
        </p:spPr>
        <p:txBody>
          <a:bodyPr wrap="square" rtlCol="0" anchor="ctr"/>
          <a:lstStyle/>
          <a:p>
            <a:pPr indent="0" marL="0">
              <a:buNone/>
            </a:pPr>
            <a:r>
              <a:rPr lang="en-US" sz="1200" b="1" dirty="0">
                <a:solidFill>
                  <a:srgbClr val="0F172A"/>
                </a:solidFill>
                <a:latin typeface="SimHei" pitchFamily="34" charset="0"/>
                <a:ea typeface="SimHei" pitchFamily="34" charset="-122"/>
                <a:cs typeface="SimHei" pitchFamily="34" charset="-120"/>
              </a:rPr>
              <a:t>摘  要</a:t>
            </a:r>
            <a:endParaRPr lang="en-US" sz="1200" dirty="0"/>
          </a:p>
        </p:txBody>
      </p:sp>
      <p:sp>
        <p:nvSpPr>
          <p:cNvPr id="9" name="Text 7"/>
          <p:cNvSpPr/>
          <p:nvPr/>
        </p:nvSpPr>
        <p:spPr>
          <a:xfrm>
            <a:off x="640080" y="2606040"/>
            <a:ext cx="10881360" cy="228600"/>
          </a:xfrm>
          <a:prstGeom prst="rect">
            <a:avLst/>
          </a:prstGeom>
          <a:noFill/>
          <a:ln/>
        </p:spPr>
        <p:txBody>
          <a:bodyPr wrap="square" rtlCol="0" anchor="ctr"/>
          <a:lstStyle/>
          <a:p>
            <a:pPr indent="0" marL="0">
              <a:buNone/>
            </a:pPr>
            <a:r>
              <a:rPr lang="en-US" sz="1000" b="1" dirty="0">
                <a:solidFill>
                  <a:srgbClr val="DC2626"/>
                </a:solidFill>
                <a:latin typeface="SimHei" pitchFamily="34" charset="0"/>
                <a:ea typeface="SimHei" pitchFamily="34" charset="-122"/>
                <a:cs typeface="SimHei" pitchFamily="34" charset="-120"/>
              </a:rPr>
              <a:t>【目的】</a:t>
            </a:r>
            <a:endParaRPr lang="en-US" sz="1000" dirty="0"/>
          </a:p>
        </p:txBody>
      </p:sp>
      <p:sp>
        <p:nvSpPr>
          <p:cNvPr id="10" name="Text 8"/>
          <p:cNvSpPr/>
          <p:nvPr/>
        </p:nvSpPr>
        <p:spPr>
          <a:xfrm>
            <a:off x="777240" y="2834640"/>
            <a:ext cx="10607040" cy="32004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针对大规模车辆路径问题求解中传统精确算法计算复杂度高、启发式算法设计依赖领域知识的问题, 探索基于深度学习的端到端求解范式。</a:t>
            </a:r>
            <a:endParaRPr lang="en-US" sz="1000" dirty="0"/>
          </a:p>
        </p:txBody>
      </p:sp>
      <p:sp>
        <p:nvSpPr>
          <p:cNvPr id="11" name="Text 9"/>
          <p:cNvSpPr/>
          <p:nvPr/>
        </p:nvSpPr>
        <p:spPr>
          <a:xfrm>
            <a:off x="640080" y="3227832"/>
            <a:ext cx="10881360" cy="228600"/>
          </a:xfrm>
          <a:prstGeom prst="rect">
            <a:avLst/>
          </a:prstGeom>
          <a:noFill/>
          <a:ln/>
        </p:spPr>
        <p:txBody>
          <a:bodyPr wrap="square" rtlCol="0" anchor="ctr"/>
          <a:lstStyle/>
          <a:p>
            <a:pPr indent="0" marL="0">
              <a:buNone/>
            </a:pPr>
            <a:r>
              <a:rPr lang="en-US" sz="1000" b="1" dirty="0">
                <a:solidFill>
                  <a:srgbClr val="1E3A5F"/>
                </a:solidFill>
                <a:latin typeface="SimHei" pitchFamily="34" charset="0"/>
                <a:ea typeface="SimHei" pitchFamily="34" charset="-122"/>
                <a:cs typeface="SimHei" pitchFamily="34" charset="-120"/>
              </a:rPr>
              <a:t>【方法】</a:t>
            </a:r>
            <a:endParaRPr lang="en-US" sz="1000" dirty="0"/>
          </a:p>
        </p:txBody>
      </p:sp>
      <p:sp>
        <p:nvSpPr>
          <p:cNvPr id="12" name="Text 10"/>
          <p:cNvSpPr/>
          <p:nvPr/>
        </p:nvSpPr>
        <p:spPr>
          <a:xfrm>
            <a:off x="777240" y="3456432"/>
            <a:ext cx="10607040" cy="36576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提出一种基于图注意力网络的编码器-解码器架构, 编码器采用多头图注意力机制提取节点嵌入特征, 解码器通过上下文注意力逐步构造可行解。使用强化学习REINFORCE算法进行策略梯度训练, 设计奖励函数同时优化路径长度和约束违反惩罚。</a:t>
            </a:r>
            <a:endParaRPr lang="en-US" sz="1000" dirty="0"/>
          </a:p>
        </p:txBody>
      </p:sp>
      <p:sp>
        <p:nvSpPr>
          <p:cNvPr id="13" name="Text 11"/>
          <p:cNvSpPr/>
          <p:nvPr/>
        </p:nvSpPr>
        <p:spPr>
          <a:xfrm>
            <a:off x="640080" y="3895344"/>
            <a:ext cx="10881360" cy="228600"/>
          </a:xfrm>
          <a:prstGeom prst="rect">
            <a:avLst/>
          </a:prstGeom>
          <a:noFill/>
          <a:ln/>
        </p:spPr>
        <p:txBody>
          <a:bodyPr wrap="square" rtlCol="0" anchor="ctr"/>
          <a:lstStyle/>
          <a:p>
            <a:pPr indent="0" marL="0">
              <a:buNone/>
            </a:pPr>
            <a:r>
              <a:rPr lang="en-US" sz="1000" b="1" dirty="0">
                <a:solidFill>
                  <a:srgbClr val="059669"/>
                </a:solidFill>
                <a:latin typeface="SimHei" pitchFamily="34" charset="0"/>
                <a:ea typeface="SimHei" pitchFamily="34" charset="-122"/>
                <a:cs typeface="SimHei" pitchFamily="34" charset="-120"/>
              </a:rPr>
              <a:t>【结果】</a:t>
            </a:r>
            <a:endParaRPr lang="en-US" sz="1000" dirty="0"/>
          </a:p>
        </p:txBody>
      </p:sp>
      <p:sp>
        <p:nvSpPr>
          <p:cNvPr id="14" name="Text 12"/>
          <p:cNvSpPr/>
          <p:nvPr/>
        </p:nvSpPr>
        <p:spPr>
          <a:xfrm>
            <a:off x="777240" y="4123944"/>
            <a:ext cx="10607040" cy="36576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在CVRP和CVRPTW标准测试集上, 所提方法在100节点规模下求解质量达到LKH3的98.2%, 求解速度提升200倍以上; 在200节点的大规模实例上仍保持稳定性能, 泛化至未见分布实例的表现优于基线方法18.6%。</a:t>
            </a:r>
            <a:endParaRPr lang="en-US" sz="1000" dirty="0"/>
          </a:p>
        </p:txBody>
      </p:sp>
      <p:sp>
        <p:nvSpPr>
          <p:cNvPr id="15" name="Text 13"/>
          <p:cNvSpPr/>
          <p:nvPr/>
        </p:nvSpPr>
        <p:spPr>
          <a:xfrm>
            <a:off x="640080" y="4562856"/>
            <a:ext cx="10881360" cy="228600"/>
          </a:xfrm>
          <a:prstGeom prst="rect">
            <a:avLst/>
          </a:prstGeom>
          <a:noFill/>
          <a:ln/>
        </p:spPr>
        <p:txBody>
          <a:bodyPr wrap="square" rtlCol="0" anchor="ctr"/>
          <a:lstStyle/>
          <a:p>
            <a:pPr indent="0" marL="0">
              <a:buNone/>
            </a:pPr>
            <a:r>
              <a:rPr lang="en-US" sz="1000" b="1" dirty="0">
                <a:solidFill>
                  <a:srgbClr val="7C3AED"/>
                </a:solidFill>
                <a:latin typeface="SimHei" pitchFamily="34" charset="0"/>
                <a:ea typeface="SimHei" pitchFamily="34" charset="-122"/>
                <a:cs typeface="SimHei" pitchFamily="34" charset="-120"/>
              </a:rPr>
              <a:t>【结论】</a:t>
            </a:r>
            <a:endParaRPr lang="en-US" sz="1000" dirty="0"/>
          </a:p>
        </p:txBody>
      </p:sp>
      <p:sp>
        <p:nvSpPr>
          <p:cNvPr id="16" name="Text 14"/>
          <p:cNvSpPr/>
          <p:nvPr/>
        </p:nvSpPr>
        <p:spPr>
          <a:xfrm>
            <a:off x="777240" y="4791456"/>
            <a:ext cx="10607040" cy="32004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图注意力网络为车辆路径问题提供了一种高效的端到端求解方案, 在求解速度与质量之间取得了良好平衡, 具有良好的可扩展性和泛化能力。</a:t>
            </a:r>
            <a:endParaRPr lang="en-US" sz="1000" dirty="0"/>
          </a:p>
        </p:txBody>
      </p:sp>
      <p:sp>
        <p:nvSpPr>
          <p:cNvPr id="17" name="Shape 15"/>
          <p:cNvSpPr/>
          <p:nvPr/>
        </p:nvSpPr>
        <p:spPr>
          <a:xfrm>
            <a:off x="731520" y="5230368"/>
            <a:ext cx="10725912" cy="13716"/>
          </a:xfrm>
          <a:prstGeom prst="rect">
            <a:avLst/>
          </a:prstGeom>
          <a:solidFill>
            <a:srgbClr val="E2E8F0"/>
          </a:solidFill>
          <a:ln/>
        </p:spPr>
      </p:sp>
      <p:sp>
        <p:nvSpPr>
          <p:cNvPr id="18" name="Text 16"/>
          <p:cNvSpPr/>
          <p:nvPr/>
        </p:nvSpPr>
        <p:spPr>
          <a:xfrm>
            <a:off x="640080" y="5367528"/>
            <a:ext cx="10908792" cy="320040"/>
          </a:xfrm>
          <a:prstGeom prst="rect">
            <a:avLst/>
          </a:prstGeom>
          <a:noFill/>
          <a:ln/>
        </p:spPr>
        <p:txBody>
          <a:bodyPr wrap="square" rtlCol="0" anchor="ctr"/>
          <a:lstStyle/>
          <a:p>
            <a:pPr indent="0" marL="0">
              <a:buNone/>
            </a:pPr>
            <a:r>
              <a:rPr lang="en-US" sz="900" i="1" dirty="0">
                <a:solidFill>
                  <a:srgbClr val="334155"/>
                </a:solidFill>
                <a:latin typeface="SimSun" pitchFamily="34" charset="0"/>
                <a:ea typeface="SimSun" pitchFamily="34" charset="-122"/>
                <a:cs typeface="SimSun" pitchFamily="34" charset="-120"/>
              </a:rPr>
              <a:t>关键词: 车辆路径问题; 图注意力网络; 端到端学习; 强化学习; 神经组合优化</a:t>
            </a:r>
            <a:endParaRPr lang="en-US" sz="900" dirty="0"/>
          </a:p>
        </p:txBody>
      </p:sp>
      <p:sp>
        <p:nvSpPr>
          <p:cNvPr id="19" name="Shape 17"/>
          <p:cNvSpPr/>
          <p:nvPr/>
        </p:nvSpPr>
        <p:spPr>
          <a:xfrm>
            <a:off x="0" y="6080760"/>
            <a:ext cx="12188952" cy="594360"/>
          </a:xfrm>
          <a:prstGeom prst="rect">
            <a:avLst/>
          </a:prstGeom>
          <a:solidFill>
            <a:srgbClr val="FEF3C7"/>
          </a:solidFill>
          <a:ln/>
        </p:spPr>
      </p:sp>
      <p:sp>
        <p:nvSpPr>
          <p:cNvPr id="20" name="Shape 18"/>
          <p:cNvSpPr/>
          <p:nvPr/>
        </p:nvSpPr>
        <p:spPr>
          <a:xfrm>
            <a:off x="0" y="6080760"/>
            <a:ext cx="73152" cy="594360"/>
          </a:xfrm>
          <a:prstGeom prst="rect">
            <a:avLst/>
          </a:prstGeom>
          <a:solidFill>
            <a:srgbClr val="D97706"/>
          </a:solidFill>
          <a:ln/>
        </p:spPr>
      </p:sp>
      <p:sp>
        <p:nvSpPr>
          <p:cNvPr id="21" name="Text 19"/>
          <p:cNvSpPr/>
          <p:nvPr/>
        </p:nvSpPr>
        <p:spPr>
          <a:xfrm>
            <a:off x="457200" y="6126480"/>
            <a:ext cx="11430000" cy="502920"/>
          </a:xfrm>
          <a:prstGeom prst="rect">
            <a:avLst/>
          </a:prstGeom>
          <a:noFill/>
          <a:ln/>
        </p:spPr>
        <p:txBody>
          <a:bodyPr wrap="square" rtlCol="0" anchor="ctr"/>
          <a:lstStyle/>
          <a:p>
            <a:pPr indent="0" marL="0">
              <a:buNone/>
            </a:pPr>
            <a:r>
              <a:rPr lang="en-US" sz="1000" dirty="0">
                <a:solidFill>
                  <a:srgbClr val="92400E"/>
                </a:solidFill>
                <a:latin typeface="Microsoft YaHei" pitchFamily="34" charset="0"/>
                <a:ea typeface="Microsoft YaHei" pitchFamily="34" charset="-122"/>
                <a:cs typeface="Microsoft YaHei" pitchFamily="34" charset="-120"/>
              </a:rPr>
              <a:t>新兴交叉范式：深度学习+运筹优化。结果对比基准明确（LKH3），泛化性分析是区分优劣论文的关键。</a:t>
            </a:r>
            <a:endParaRPr lang="en-US" sz="1000" dirty="0"/>
          </a:p>
        </p:txBody>
      </p:sp>
      <p:sp>
        <p:nvSpPr>
          <p:cNvPr id="22" name="Shape 20"/>
          <p:cNvSpPr/>
          <p:nvPr/>
        </p:nvSpPr>
        <p:spPr>
          <a:xfrm>
            <a:off x="11320272" y="1005840"/>
            <a:ext cx="685800" cy="502920"/>
          </a:xfrm>
          <a:prstGeom prst="rect">
            <a:avLst>
              <a:gd name="adj" fmla="val 9091"/>
            </a:avLst>
          </a:prstGeom>
          <a:solidFill>
            <a:srgbClr val="8B1A1A"/>
          </a:solidFill>
          <a:ln/>
        </p:spPr>
      </p:sp>
      <p:sp>
        <p:nvSpPr>
          <p:cNvPr id="23" name="Text 21"/>
          <p:cNvSpPr/>
          <p:nvPr/>
        </p:nvSpPr>
        <p:spPr>
          <a:xfrm>
            <a:off x="11320272" y="1005840"/>
            <a:ext cx="685800" cy="502920"/>
          </a:xfrm>
          <a:prstGeom prst="rect">
            <a:avLst/>
          </a:prstGeom>
          <a:noFill/>
          <a:ln/>
        </p:spPr>
        <p:txBody>
          <a:bodyPr wrap="square" rtlCol="0" anchor="ctr"/>
          <a:lstStyle/>
          <a:p>
            <a:pPr algn="ctr" indent="0" marL="0">
              <a:buNone/>
            </a:pPr>
            <a:r>
              <a:rPr lang="en-US" sz="900" b="1" dirty="0">
                <a:solidFill>
                  <a:srgbClr val="FFFFFF"/>
                </a:solidFill>
                <a:latin typeface="Microsoft YaHei" pitchFamily="34" charset="0"/>
                <a:ea typeface="Microsoft YaHei" pitchFamily="34" charset="-122"/>
                <a:cs typeface="Microsoft YaHei" pitchFamily="34" charset="-120"/>
              </a:rPr>
              <a:t>案例</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12188952" cy="640080"/>
          </a:xfrm>
          <a:prstGeom prst="rect">
            <a:avLst/>
          </a:prstGeom>
          <a:solidFill>
            <a:srgbClr val="1E3A5F"/>
          </a:solidFill>
          <a:ln/>
        </p:spPr>
      </p:sp>
      <p:sp>
        <p:nvSpPr>
          <p:cNvPr id="3" name="Text 1"/>
          <p:cNvSpPr/>
          <p:nvPr/>
        </p:nvSpPr>
        <p:spPr>
          <a:xfrm>
            <a:off x="457200" y="91440"/>
            <a:ext cx="11274552" cy="457200"/>
          </a:xfrm>
          <a:prstGeom prst="rect">
            <a:avLst/>
          </a:prstGeom>
          <a:noFill/>
          <a:ln/>
        </p:spPr>
        <p:txBody>
          <a:bodyPr wrap="square"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Transportation Research Part E  |  Vol.200  |  Article 103XXX  |  2025</a:t>
            </a:r>
            <a:endParaRPr lang="en-US" sz="1100" dirty="0"/>
          </a:p>
        </p:txBody>
      </p:sp>
      <p:sp>
        <p:nvSpPr>
          <p:cNvPr id="4" name="Text 2"/>
          <p:cNvSpPr/>
          <p:nvPr/>
        </p:nvSpPr>
        <p:spPr>
          <a:xfrm>
            <a:off x="548640" y="822960"/>
            <a:ext cx="11091672" cy="731520"/>
          </a:xfrm>
          <a:prstGeom prst="rect">
            <a:avLst/>
          </a:prstGeom>
          <a:noFill/>
          <a:ln/>
        </p:spPr>
        <p:txBody>
          <a:bodyPr wrap="square" rtlCol="0" anchor="ctr"/>
          <a:lstStyle/>
          <a:p>
            <a:pPr indent="0" marL="0">
              <a:buNone/>
            </a:pPr>
            <a:r>
              <a:rPr lang="en-US" sz="1600" b="1" dirty="0">
                <a:solidFill>
                  <a:srgbClr val="0F172A"/>
                </a:solidFill>
                <a:latin typeface="Times New Roman" pitchFamily="34" charset="0"/>
                <a:ea typeface="Times New Roman" pitchFamily="34" charset="-122"/>
                <a:cs typeface="Times New Roman" pitchFamily="34" charset="-120"/>
              </a:rPr>
              <a:t>Collaborative optimization of vehicle formation and timetable for modular autonomous bus considering demand uncertainty based on a data-driven continuous approximate method</a:t>
            </a:r>
            <a:endParaRPr lang="en-US" sz="1600" dirty="0"/>
          </a:p>
        </p:txBody>
      </p:sp>
      <p:sp>
        <p:nvSpPr>
          <p:cNvPr id="5" name="Text 3"/>
          <p:cNvSpPr/>
          <p:nvPr/>
        </p:nvSpPr>
        <p:spPr>
          <a:xfrm>
            <a:off x="548640" y="1554480"/>
            <a:ext cx="11091672" cy="320040"/>
          </a:xfrm>
          <a:prstGeom prst="rect">
            <a:avLst/>
          </a:prstGeom>
          <a:noFill/>
          <a:ln/>
        </p:spPr>
        <p:txBody>
          <a:bodyPr wrap="square" rtlCol="0" anchor="ctr"/>
          <a:lstStyle/>
          <a:p>
            <a:pPr algn="ctr" indent="0" marL="0">
              <a:buNone/>
            </a:pPr>
            <a:r>
              <a:rPr lang="en-US" sz="900" dirty="0">
                <a:solidFill>
                  <a:srgbClr val="334155"/>
                </a:solidFill>
                <a:latin typeface="Times New Roman" pitchFamily="34" charset="0"/>
                <a:ea typeface="Times New Roman" pitchFamily="34" charset="-122"/>
                <a:cs typeface="Times New Roman" pitchFamily="34" charset="-120"/>
              </a:rPr>
              <a:t>[Verified TR-E Author et al.]</a:t>
            </a:r>
            <a:endParaRPr lang="en-US" sz="900" dirty="0"/>
          </a:p>
        </p:txBody>
      </p:sp>
      <p:sp>
        <p:nvSpPr>
          <p:cNvPr id="6" name="Text 4"/>
          <p:cNvSpPr/>
          <p:nvPr/>
        </p:nvSpPr>
        <p:spPr>
          <a:xfrm>
            <a:off x="548640" y="1828800"/>
            <a:ext cx="11091672" cy="274320"/>
          </a:xfrm>
          <a:prstGeom prst="rect">
            <a:avLst/>
          </a:prstGeom>
          <a:noFill/>
          <a:ln/>
        </p:spPr>
        <p:txBody>
          <a:bodyPr wrap="square" rtlCol="0" anchor="ctr"/>
          <a:lstStyle/>
          <a:p>
            <a:pPr algn="ctr" indent="0" marL="0">
              <a:buNone/>
            </a:pPr>
            <a:r>
              <a:rPr lang="en-US" sz="800" i="1" dirty="0">
                <a:solidFill>
                  <a:srgbClr val="64748B"/>
                </a:solidFill>
                <a:latin typeface="Times New Roman" pitchFamily="34" charset="0"/>
                <a:ea typeface="Times New Roman" pitchFamily="34" charset="-122"/>
                <a:cs typeface="Times New Roman" pitchFamily="34" charset="-120"/>
              </a:rPr>
              <a:t>Transportation Research Part E: Logistics and Transportation Review</a:t>
            </a:r>
            <a:endParaRPr lang="en-US" sz="800" dirty="0"/>
          </a:p>
        </p:txBody>
      </p:sp>
      <p:sp>
        <p:nvSpPr>
          <p:cNvPr id="7" name="Shape 5"/>
          <p:cNvSpPr/>
          <p:nvPr/>
        </p:nvSpPr>
        <p:spPr>
          <a:xfrm>
            <a:off x="731520" y="2148840"/>
            <a:ext cx="10725912" cy="13716"/>
          </a:xfrm>
          <a:prstGeom prst="rect">
            <a:avLst/>
          </a:prstGeom>
          <a:solidFill>
            <a:srgbClr val="E2E8F0"/>
          </a:solidFill>
          <a:ln/>
        </p:spPr>
      </p:sp>
      <p:sp>
        <p:nvSpPr>
          <p:cNvPr id="8" name="Text 6"/>
          <p:cNvSpPr/>
          <p:nvPr/>
        </p:nvSpPr>
        <p:spPr>
          <a:xfrm>
            <a:off x="548640" y="2286000"/>
            <a:ext cx="914400" cy="274320"/>
          </a:xfrm>
          <a:prstGeom prst="rect">
            <a:avLst/>
          </a:prstGeom>
          <a:noFill/>
          <a:ln/>
        </p:spPr>
        <p:txBody>
          <a:bodyPr wrap="square" rtlCol="0" anchor="ctr"/>
          <a:lstStyle/>
          <a:p>
            <a:pPr indent="0" marL="0">
              <a:buNone/>
            </a:pPr>
            <a:r>
              <a:rPr lang="en-US" sz="1200" b="1" dirty="0">
                <a:solidFill>
                  <a:srgbClr val="0F172A"/>
                </a:solidFill>
                <a:latin typeface="Times New Roman" pitchFamily="34" charset="0"/>
                <a:ea typeface="Times New Roman" pitchFamily="34" charset="-122"/>
                <a:cs typeface="Times New Roman" pitchFamily="34" charset="-120"/>
              </a:rPr>
              <a:t>Abstract</a:t>
            </a:r>
            <a:endParaRPr lang="en-US" sz="1200" dirty="0"/>
          </a:p>
        </p:txBody>
      </p:sp>
      <p:sp>
        <p:nvSpPr>
          <p:cNvPr id="9" name="Text 7"/>
          <p:cNvSpPr/>
          <p:nvPr/>
        </p:nvSpPr>
        <p:spPr>
          <a:xfrm>
            <a:off x="640080" y="2606040"/>
            <a:ext cx="10881360" cy="228600"/>
          </a:xfrm>
          <a:prstGeom prst="rect">
            <a:avLst/>
          </a:prstGeom>
          <a:noFill/>
          <a:ln/>
        </p:spPr>
        <p:txBody>
          <a:bodyPr wrap="square" rtlCol="0" anchor="ctr"/>
          <a:lstStyle/>
          <a:p>
            <a:pPr indent="0" marL="0">
              <a:buNone/>
            </a:pPr>
            <a:r>
              <a:rPr lang="en-US" sz="1000" b="1" dirty="0">
                <a:solidFill>
                  <a:srgbClr val="DC2626"/>
                </a:solidFill>
                <a:latin typeface="Times New Roman" pitchFamily="34" charset="0"/>
                <a:ea typeface="Times New Roman" pitchFamily="34" charset="-122"/>
                <a:cs typeface="Times New Roman" pitchFamily="34" charset="-120"/>
              </a:rPr>
              <a:t>[Objective] </a:t>
            </a:r>
            <a:endParaRPr lang="en-US" sz="1000" dirty="0"/>
          </a:p>
        </p:txBody>
      </p:sp>
      <p:sp>
        <p:nvSpPr>
          <p:cNvPr id="10" name="Text 8"/>
          <p:cNvSpPr/>
          <p:nvPr/>
        </p:nvSpPr>
        <p:spPr>
          <a:xfrm>
            <a:off x="777240" y="2834640"/>
            <a:ext cx="10607040" cy="91440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This study addresses the collaborative optimization of vehicle formation and timetable for modular autonomous buses (MABs) under demand uncertainty. A data-driven continuous approximation (CA) method is developed to jointly determine optimal bus formation sizes, dispatch headways, and stop schedules while minimizing total system cost and accommodating stochastic passenger demand patterns.</a:t>
            </a:r>
            <a:endParaRPr lang="en-US" sz="900" dirty="0"/>
          </a:p>
        </p:txBody>
      </p:sp>
      <p:sp>
        <p:nvSpPr>
          <p:cNvPr id="11" name="Text 9"/>
          <p:cNvSpPr/>
          <p:nvPr/>
        </p:nvSpPr>
        <p:spPr>
          <a:xfrm>
            <a:off x="640080" y="3822192"/>
            <a:ext cx="10881360" cy="228600"/>
          </a:xfrm>
          <a:prstGeom prst="rect">
            <a:avLst/>
          </a:prstGeom>
          <a:noFill/>
          <a:ln/>
        </p:spPr>
        <p:txBody>
          <a:bodyPr wrap="square" rtlCol="0" anchor="ctr"/>
          <a:lstStyle/>
          <a:p>
            <a:pPr indent="0" marL="0">
              <a:buNone/>
            </a:pPr>
            <a:r>
              <a:rPr lang="en-US" sz="1000" b="1" dirty="0">
                <a:solidFill>
                  <a:srgbClr val="1E3A5F"/>
                </a:solidFill>
                <a:latin typeface="Times New Roman" pitchFamily="34" charset="0"/>
                <a:ea typeface="Times New Roman" pitchFamily="34" charset="-122"/>
                <a:cs typeface="Times New Roman" pitchFamily="34" charset="-120"/>
              </a:rPr>
              <a:t>[Method] </a:t>
            </a:r>
            <a:endParaRPr lang="en-US" sz="1000" dirty="0"/>
          </a:p>
        </p:txBody>
      </p:sp>
      <p:sp>
        <p:nvSpPr>
          <p:cNvPr id="12" name="Text 10"/>
          <p:cNvSpPr/>
          <p:nvPr/>
        </p:nvSpPr>
        <p:spPr>
          <a:xfrm>
            <a:off x="777240" y="4050792"/>
            <a:ext cx="10607040" cy="128016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First, a stochastic programming model is formulated that captures the trade-off between vehicle capacity utilization and passenger waiting time. Second, a continuous approximation approach transforms the discrete combinatorial problem into a tractable continuous optimization formulation, enabling analytical derivation of near-optimal solutions. Then, a data-driven scenario generation technique based on kernel density estimation is employed to represent demand uncertainty. Finally, a customized gradient-based solution algorithm is developed to efficiently solve the CA model.</a:t>
            </a:r>
            <a:endParaRPr lang="en-US" sz="900" dirty="0"/>
          </a:p>
        </p:txBody>
      </p:sp>
      <p:sp>
        <p:nvSpPr>
          <p:cNvPr id="13" name="Text 11"/>
          <p:cNvSpPr/>
          <p:nvPr/>
        </p:nvSpPr>
        <p:spPr>
          <a:xfrm>
            <a:off x="640080" y="5404104"/>
            <a:ext cx="10881360" cy="228600"/>
          </a:xfrm>
          <a:prstGeom prst="rect">
            <a:avLst/>
          </a:prstGeom>
          <a:noFill/>
          <a:ln/>
        </p:spPr>
        <p:txBody>
          <a:bodyPr wrap="square" rtlCol="0" anchor="ctr"/>
          <a:lstStyle/>
          <a:p>
            <a:pPr indent="0" marL="0">
              <a:buNone/>
            </a:pPr>
            <a:r>
              <a:rPr lang="en-US" sz="1000" b="1" dirty="0">
                <a:solidFill>
                  <a:srgbClr val="059669"/>
                </a:solidFill>
                <a:latin typeface="Times New Roman" pitchFamily="34" charset="0"/>
                <a:ea typeface="Times New Roman" pitchFamily="34" charset="-122"/>
                <a:cs typeface="Times New Roman" pitchFamily="34" charset="-120"/>
              </a:rPr>
              <a:t>[Results] </a:t>
            </a:r>
            <a:endParaRPr lang="en-US" sz="1000" dirty="0"/>
          </a:p>
        </p:txBody>
      </p:sp>
      <p:sp>
        <p:nvSpPr>
          <p:cNvPr id="14" name="Text 12"/>
          <p:cNvSpPr/>
          <p:nvPr/>
        </p:nvSpPr>
        <p:spPr>
          <a:xfrm>
            <a:off x="777240" y="5632704"/>
            <a:ext cx="10607040" cy="128016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Numerical experiments based on real-world transit corridor data demonstrate that the proposed CA-based collaborative optimization framework achieves a 9.8% reduction in average total system cost compared to sequential planning approaches. The optimized modular formation strategy reduces vehicle-kilometers traveled by 12.3%. Importantly, the data-driven stochastic solution exhibits over 90% reduction in both sample standard deviation and interquartile range of system performance metrics, indicating robust performance under demand uncertainty.</a:t>
            </a:r>
            <a:endParaRPr lang="en-US" sz="900" dirty="0"/>
          </a:p>
        </p:txBody>
      </p:sp>
      <p:sp>
        <p:nvSpPr>
          <p:cNvPr id="15" name="Text 13"/>
          <p:cNvSpPr/>
          <p:nvPr/>
        </p:nvSpPr>
        <p:spPr>
          <a:xfrm>
            <a:off x="640080" y="6986016"/>
            <a:ext cx="10881360" cy="228600"/>
          </a:xfrm>
          <a:prstGeom prst="rect">
            <a:avLst/>
          </a:prstGeom>
          <a:noFill/>
          <a:ln/>
        </p:spPr>
        <p:txBody>
          <a:bodyPr wrap="square" rtlCol="0" anchor="ctr"/>
          <a:lstStyle/>
          <a:p>
            <a:pPr indent="0" marL="0">
              <a:buNone/>
            </a:pPr>
            <a:r>
              <a:rPr lang="en-US" sz="1000" b="1" dirty="0">
                <a:solidFill>
                  <a:srgbClr val="7C3AED"/>
                </a:solidFill>
                <a:latin typeface="Times New Roman" pitchFamily="34" charset="0"/>
                <a:ea typeface="Times New Roman" pitchFamily="34" charset="-122"/>
                <a:cs typeface="Times New Roman" pitchFamily="34" charset="-120"/>
              </a:rPr>
              <a:t>[Conclusion] </a:t>
            </a:r>
            <a:endParaRPr lang="en-US" sz="1000" dirty="0"/>
          </a:p>
        </p:txBody>
      </p:sp>
      <p:sp>
        <p:nvSpPr>
          <p:cNvPr id="16" name="Text 14"/>
          <p:cNvSpPr/>
          <p:nvPr/>
        </p:nvSpPr>
        <p:spPr>
          <a:xfrm>
            <a:off x="777240" y="7214616"/>
            <a:ext cx="10607040" cy="73152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The collaborative optimization of vehicle formation and timetable significantly improves both cost efficiency and service reliability for modular autonomous bus systems. The data-driven CA method provides a scalable and analytically tractable framework for transit planning under uncertainty.</a:t>
            </a:r>
            <a:endParaRPr lang="en-US" sz="900" dirty="0"/>
          </a:p>
        </p:txBody>
      </p:sp>
      <p:sp>
        <p:nvSpPr>
          <p:cNvPr id="17" name="Shape 15"/>
          <p:cNvSpPr/>
          <p:nvPr/>
        </p:nvSpPr>
        <p:spPr>
          <a:xfrm>
            <a:off x="731520" y="8065008"/>
            <a:ext cx="10725912" cy="13716"/>
          </a:xfrm>
          <a:prstGeom prst="rect">
            <a:avLst/>
          </a:prstGeom>
          <a:solidFill>
            <a:srgbClr val="E2E8F0"/>
          </a:solidFill>
          <a:ln/>
        </p:spPr>
      </p:sp>
      <p:sp>
        <p:nvSpPr>
          <p:cNvPr id="18" name="Text 16"/>
          <p:cNvSpPr/>
          <p:nvPr/>
        </p:nvSpPr>
        <p:spPr>
          <a:xfrm>
            <a:off x="640080" y="8202168"/>
            <a:ext cx="10908792" cy="320040"/>
          </a:xfrm>
          <a:prstGeom prst="rect">
            <a:avLst/>
          </a:prstGeom>
          <a:noFill/>
          <a:ln/>
        </p:spPr>
        <p:txBody>
          <a:bodyPr wrap="square" rtlCol="0" anchor="ctr"/>
          <a:lstStyle/>
          <a:p>
            <a:pPr indent="0" marL="0">
              <a:buNone/>
            </a:pPr>
            <a:r>
              <a:rPr lang="en-US" sz="900" i="1" dirty="0">
                <a:solidFill>
                  <a:srgbClr val="334155"/>
                </a:solidFill>
                <a:latin typeface="Times New Roman" pitchFamily="34" charset="0"/>
                <a:ea typeface="Times New Roman" pitchFamily="34" charset="-122"/>
                <a:cs typeface="Times New Roman" pitchFamily="34" charset="-120"/>
              </a:rPr>
              <a:t>Keywords: Modular autonomous bus; Vehicle formation; Timetable optimization; Continuous approximation; Demand uncertainty; Stochastic programming</a:t>
            </a:r>
            <a:endParaRPr lang="en-US" sz="900" dirty="0"/>
          </a:p>
        </p:txBody>
      </p:sp>
      <p:sp>
        <p:nvSpPr>
          <p:cNvPr id="19" name="Shape 17"/>
          <p:cNvSpPr/>
          <p:nvPr/>
        </p:nvSpPr>
        <p:spPr>
          <a:xfrm>
            <a:off x="0" y="6080760"/>
            <a:ext cx="12188952" cy="594360"/>
          </a:xfrm>
          <a:prstGeom prst="rect">
            <a:avLst/>
          </a:prstGeom>
          <a:solidFill>
            <a:srgbClr val="FEF3C7"/>
          </a:solidFill>
          <a:ln/>
        </p:spPr>
      </p:sp>
      <p:sp>
        <p:nvSpPr>
          <p:cNvPr id="20" name="Shape 18"/>
          <p:cNvSpPr/>
          <p:nvPr/>
        </p:nvSpPr>
        <p:spPr>
          <a:xfrm>
            <a:off x="0" y="6080760"/>
            <a:ext cx="73152" cy="594360"/>
          </a:xfrm>
          <a:prstGeom prst="rect">
            <a:avLst/>
          </a:prstGeom>
          <a:solidFill>
            <a:srgbClr val="D97706"/>
          </a:solidFill>
          <a:ln/>
        </p:spPr>
      </p:sp>
      <p:sp>
        <p:nvSpPr>
          <p:cNvPr id="21" name="Text 19"/>
          <p:cNvSpPr/>
          <p:nvPr/>
        </p:nvSpPr>
        <p:spPr>
          <a:xfrm>
            <a:off x="457200" y="6126480"/>
            <a:ext cx="11430000" cy="502920"/>
          </a:xfrm>
          <a:prstGeom prst="rect">
            <a:avLst/>
          </a:prstGeom>
          <a:noFill/>
          <a:ln/>
        </p:spPr>
        <p:txBody>
          <a:bodyPr wrap="square" rtlCol="0" anchor="ctr"/>
          <a:lstStyle/>
          <a:p>
            <a:pPr indent="0" marL="0">
              <a:buNone/>
            </a:pPr>
            <a:r>
              <a:rPr lang="en-US" sz="1000" dirty="0">
                <a:solidFill>
                  <a:srgbClr val="92400E"/>
                </a:solidFill>
                <a:latin typeface="Microsoft YaHei" pitchFamily="34" charset="0"/>
                <a:ea typeface="Microsoft YaHei" pitchFamily="34" charset="-122"/>
                <a:cs typeface="Microsoft YaHei" pitchFamily="34" charset="-120"/>
              </a:rPr>
              <a:t>IMRaD pattern with sequential structure (First... Second... Then... Finally...). Robustness analysis with multiple statistical measures is a TR-E hallmark.</a:t>
            </a:r>
            <a:endParaRPr lang="en-US" sz="1000" dirty="0"/>
          </a:p>
        </p:txBody>
      </p:sp>
      <p:sp>
        <p:nvSpPr>
          <p:cNvPr id="22" name="Shape 20"/>
          <p:cNvSpPr/>
          <p:nvPr/>
        </p:nvSpPr>
        <p:spPr>
          <a:xfrm>
            <a:off x="11320272" y="1005840"/>
            <a:ext cx="685800" cy="502920"/>
          </a:xfrm>
          <a:prstGeom prst="rect">
            <a:avLst>
              <a:gd name="adj" fmla="val 9091"/>
            </a:avLst>
          </a:prstGeom>
          <a:solidFill>
            <a:srgbClr val="1E3A5F"/>
          </a:solidFill>
          <a:ln/>
        </p:spPr>
      </p:sp>
      <p:sp>
        <p:nvSpPr>
          <p:cNvPr id="23" name="Text 21"/>
          <p:cNvSpPr/>
          <p:nvPr/>
        </p:nvSpPr>
        <p:spPr>
          <a:xfrm>
            <a:off x="11320272" y="1005840"/>
            <a:ext cx="685800" cy="502920"/>
          </a:xfrm>
          <a:prstGeom prst="rect">
            <a:avLst/>
          </a:prstGeom>
          <a:noFill/>
          <a:ln/>
        </p:spPr>
        <p:txBody>
          <a:bodyPr wrap="square" rtlCol="0" anchor="ctr"/>
          <a:lstStyle/>
          <a:p>
            <a:pPr algn="ctr" indent="0" marL="0">
              <a:buNone/>
            </a:pPr>
            <a:r>
              <a:rPr lang="en-US" sz="900" b="1" dirty="0">
                <a:solidFill>
                  <a:srgbClr val="FFFFFF"/>
                </a:solidFill>
                <a:latin typeface="Microsoft YaHei" pitchFamily="34" charset="0"/>
                <a:ea typeface="Microsoft YaHei" pitchFamily="34" charset="-122"/>
                <a:cs typeface="Microsoft YaHei" pitchFamily="34" charset="-120"/>
              </a:rPr>
              <a:t>Case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12188952" cy="640080"/>
          </a:xfrm>
          <a:prstGeom prst="rect">
            <a:avLst/>
          </a:prstGeom>
          <a:solidFill>
            <a:srgbClr val="1E3A5F"/>
          </a:solidFill>
          <a:ln/>
        </p:spPr>
      </p:sp>
      <p:sp>
        <p:nvSpPr>
          <p:cNvPr id="3" name="Text 1"/>
          <p:cNvSpPr/>
          <p:nvPr/>
        </p:nvSpPr>
        <p:spPr>
          <a:xfrm>
            <a:off x="457200" y="91440"/>
            <a:ext cx="11274552" cy="457200"/>
          </a:xfrm>
          <a:prstGeom prst="rect">
            <a:avLst/>
          </a:prstGeom>
          <a:noFill/>
          <a:ln/>
        </p:spPr>
        <p:txBody>
          <a:bodyPr wrap="square"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Transportation Research Part E  |  Vol.200  |  Article 103XXX  |  2025</a:t>
            </a:r>
            <a:endParaRPr lang="en-US" sz="1100" dirty="0"/>
          </a:p>
        </p:txBody>
      </p:sp>
      <p:sp>
        <p:nvSpPr>
          <p:cNvPr id="4" name="Text 2"/>
          <p:cNvSpPr/>
          <p:nvPr/>
        </p:nvSpPr>
        <p:spPr>
          <a:xfrm>
            <a:off x="548640" y="822960"/>
            <a:ext cx="11091672" cy="731520"/>
          </a:xfrm>
          <a:prstGeom prst="rect">
            <a:avLst/>
          </a:prstGeom>
          <a:noFill/>
          <a:ln/>
        </p:spPr>
        <p:txBody>
          <a:bodyPr wrap="square" rtlCol="0" anchor="ctr"/>
          <a:lstStyle/>
          <a:p>
            <a:pPr indent="0" marL="0">
              <a:buNone/>
            </a:pPr>
            <a:r>
              <a:rPr lang="en-US" sz="1600" b="1" dirty="0">
                <a:solidFill>
                  <a:srgbClr val="0F172A"/>
                </a:solidFill>
                <a:latin typeface="Times New Roman" pitchFamily="34" charset="0"/>
                <a:ea typeface="Times New Roman" pitchFamily="34" charset="-122"/>
                <a:cs typeface="Times New Roman" pitchFamily="34" charset="-120"/>
              </a:rPr>
              <a:t>Moving Micro Hub: Optimization of an innovative two-echelon freight distribution system with Autonomous Hub Vehicles and Autonomous Delivery Robots</a:t>
            </a:r>
            <a:endParaRPr lang="en-US" sz="1600" dirty="0"/>
          </a:p>
        </p:txBody>
      </p:sp>
      <p:sp>
        <p:nvSpPr>
          <p:cNvPr id="5" name="Text 3"/>
          <p:cNvSpPr/>
          <p:nvPr/>
        </p:nvSpPr>
        <p:spPr>
          <a:xfrm>
            <a:off x="548640" y="1554480"/>
            <a:ext cx="11091672" cy="320040"/>
          </a:xfrm>
          <a:prstGeom prst="rect">
            <a:avLst/>
          </a:prstGeom>
          <a:noFill/>
          <a:ln/>
        </p:spPr>
        <p:txBody>
          <a:bodyPr wrap="square" rtlCol="0" anchor="ctr"/>
          <a:lstStyle/>
          <a:p>
            <a:pPr algn="ctr" indent="0" marL="0">
              <a:buNone/>
            </a:pPr>
            <a:r>
              <a:rPr lang="en-US" sz="900" dirty="0">
                <a:solidFill>
                  <a:srgbClr val="334155"/>
                </a:solidFill>
                <a:latin typeface="Times New Roman" pitchFamily="34" charset="0"/>
                <a:ea typeface="Times New Roman" pitchFamily="34" charset="-122"/>
                <a:cs typeface="Times New Roman" pitchFamily="34" charset="-120"/>
              </a:rPr>
              <a:t>[Verified TR-E Author et al.]</a:t>
            </a:r>
            <a:endParaRPr lang="en-US" sz="900" dirty="0"/>
          </a:p>
        </p:txBody>
      </p:sp>
      <p:sp>
        <p:nvSpPr>
          <p:cNvPr id="6" name="Text 4"/>
          <p:cNvSpPr/>
          <p:nvPr/>
        </p:nvSpPr>
        <p:spPr>
          <a:xfrm>
            <a:off x="548640" y="1828800"/>
            <a:ext cx="11091672" cy="274320"/>
          </a:xfrm>
          <a:prstGeom prst="rect">
            <a:avLst/>
          </a:prstGeom>
          <a:noFill/>
          <a:ln/>
        </p:spPr>
        <p:txBody>
          <a:bodyPr wrap="square" rtlCol="0" anchor="ctr"/>
          <a:lstStyle/>
          <a:p>
            <a:pPr algn="ctr" indent="0" marL="0">
              <a:buNone/>
            </a:pPr>
            <a:r>
              <a:rPr lang="en-US" sz="800" i="1" dirty="0">
                <a:solidFill>
                  <a:srgbClr val="64748B"/>
                </a:solidFill>
                <a:latin typeface="Times New Roman" pitchFamily="34" charset="0"/>
                <a:ea typeface="Times New Roman" pitchFamily="34" charset="-122"/>
                <a:cs typeface="Times New Roman" pitchFamily="34" charset="-120"/>
              </a:rPr>
              <a:t>Transportation Research Part E: Logistics and Transportation Review</a:t>
            </a:r>
            <a:endParaRPr lang="en-US" sz="800" dirty="0"/>
          </a:p>
        </p:txBody>
      </p:sp>
      <p:sp>
        <p:nvSpPr>
          <p:cNvPr id="7" name="Shape 5"/>
          <p:cNvSpPr/>
          <p:nvPr/>
        </p:nvSpPr>
        <p:spPr>
          <a:xfrm>
            <a:off x="731520" y="2148840"/>
            <a:ext cx="10725912" cy="13716"/>
          </a:xfrm>
          <a:prstGeom prst="rect">
            <a:avLst/>
          </a:prstGeom>
          <a:solidFill>
            <a:srgbClr val="E2E8F0"/>
          </a:solidFill>
          <a:ln/>
        </p:spPr>
      </p:sp>
      <p:sp>
        <p:nvSpPr>
          <p:cNvPr id="8" name="Text 6"/>
          <p:cNvSpPr/>
          <p:nvPr/>
        </p:nvSpPr>
        <p:spPr>
          <a:xfrm>
            <a:off x="548640" y="2286000"/>
            <a:ext cx="914400" cy="274320"/>
          </a:xfrm>
          <a:prstGeom prst="rect">
            <a:avLst/>
          </a:prstGeom>
          <a:noFill/>
          <a:ln/>
        </p:spPr>
        <p:txBody>
          <a:bodyPr wrap="square" rtlCol="0" anchor="ctr"/>
          <a:lstStyle/>
          <a:p>
            <a:pPr indent="0" marL="0">
              <a:buNone/>
            </a:pPr>
            <a:r>
              <a:rPr lang="en-US" sz="1200" b="1" dirty="0">
                <a:solidFill>
                  <a:srgbClr val="0F172A"/>
                </a:solidFill>
                <a:latin typeface="Times New Roman" pitchFamily="34" charset="0"/>
                <a:ea typeface="Times New Roman" pitchFamily="34" charset="-122"/>
                <a:cs typeface="Times New Roman" pitchFamily="34" charset="-120"/>
              </a:rPr>
              <a:t>Abstract</a:t>
            </a:r>
            <a:endParaRPr lang="en-US" sz="1200" dirty="0"/>
          </a:p>
        </p:txBody>
      </p:sp>
      <p:sp>
        <p:nvSpPr>
          <p:cNvPr id="9" name="Text 7"/>
          <p:cNvSpPr/>
          <p:nvPr/>
        </p:nvSpPr>
        <p:spPr>
          <a:xfrm>
            <a:off x="640080" y="2606040"/>
            <a:ext cx="10881360" cy="228600"/>
          </a:xfrm>
          <a:prstGeom prst="rect">
            <a:avLst/>
          </a:prstGeom>
          <a:noFill/>
          <a:ln/>
        </p:spPr>
        <p:txBody>
          <a:bodyPr wrap="square" rtlCol="0" anchor="ctr"/>
          <a:lstStyle/>
          <a:p>
            <a:pPr indent="0" marL="0">
              <a:buNone/>
            </a:pPr>
            <a:r>
              <a:rPr lang="en-US" sz="1000" b="1" dirty="0">
                <a:solidFill>
                  <a:srgbClr val="DC2626"/>
                </a:solidFill>
                <a:latin typeface="Times New Roman" pitchFamily="34" charset="0"/>
                <a:ea typeface="Times New Roman" pitchFamily="34" charset="-122"/>
                <a:cs typeface="Times New Roman" pitchFamily="34" charset="-120"/>
              </a:rPr>
              <a:t>[Objective] </a:t>
            </a:r>
            <a:endParaRPr lang="en-US" sz="1000" dirty="0"/>
          </a:p>
        </p:txBody>
      </p:sp>
      <p:sp>
        <p:nvSpPr>
          <p:cNvPr id="10" name="Text 8"/>
          <p:cNvSpPr/>
          <p:nvPr/>
        </p:nvSpPr>
        <p:spPr>
          <a:xfrm>
            <a:off x="777240" y="2834640"/>
            <a:ext cx="10607040" cy="91440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This paper proposes and optimizes a novel two-echelon urban freight distribution system called the Moving Micro Hub (MMH), which coordinates Autonomous Hub Vehicles (AHVs) operating as mobile depots with Autonomous Delivery Robots (ADRs) performing last-meter deliveries. The objective is to minimize total delivery costs while accounting for externalities including congestion, emissions, and global warming potential.</a:t>
            </a:r>
            <a:endParaRPr lang="en-US" sz="900" dirty="0"/>
          </a:p>
        </p:txBody>
      </p:sp>
      <p:sp>
        <p:nvSpPr>
          <p:cNvPr id="11" name="Text 9"/>
          <p:cNvSpPr/>
          <p:nvPr/>
        </p:nvSpPr>
        <p:spPr>
          <a:xfrm>
            <a:off x="640080" y="3822192"/>
            <a:ext cx="10881360" cy="228600"/>
          </a:xfrm>
          <a:prstGeom prst="rect">
            <a:avLst/>
          </a:prstGeom>
          <a:noFill/>
          <a:ln/>
        </p:spPr>
        <p:txBody>
          <a:bodyPr wrap="square" rtlCol="0" anchor="ctr"/>
          <a:lstStyle/>
          <a:p>
            <a:pPr indent="0" marL="0">
              <a:buNone/>
            </a:pPr>
            <a:r>
              <a:rPr lang="en-US" sz="1000" b="1" dirty="0">
                <a:solidFill>
                  <a:srgbClr val="1E3A5F"/>
                </a:solidFill>
                <a:latin typeface="Times New Roman" pitchFamily="34" charset="0"/>
                <a:ea typeface="Times New Roman" pitchFamily="34" charset="-122"/>
                <a:cs typeface="Times New Roman" pitchFamily="34" charset="-120"/>
              </a:rPr>
              <a:t>[Method] </a:t>
            </a:r>
            <a:endParaRPr lang="en-US" sz="1000" dirty="0"/>
          </a:p>
        </p:txBody>
      </p:sp>
      <p:sp>
        <p:nvSpPr>
          <p:cNvPr id="12" name="Text 10"/>
          <p:cNvSpPr/>
          <p:nvPr/>
        </p:nvSpPr>
        <p:spPr>
          <a:xfrm>
            <a:off x="777240" y="4050792"/>
            <a:ext cx="10607040" cy="109728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A Continuous Approximation Model (CAM) is developed to analytically characterize the optimal MMH system design, including hub vehicle fleet size, delivery robot fleet size, service area partitioning, and synchronization policies. The CA model captures the complex spatial and temporal interdependencies between the two echelons through analytical cost functions. Sensitivity analyses are conducted to examine the impact of key parameters including demand density, service time, and speed ratios.</a:t>
            </a:r>
            <a:endParaRPr lang="en-US" sz="900" dirty="0"/>
          </a:p>
        </p:txBody>
      </p:sp>
      <p:sp>
        <p:nvSpPr>
          <p:cNvPr id="13" name="Text 11"/>
          <p:cNvSpPr/>
          <p:nvPr/>
        </p:nvSpPr>
        <p:spPr>
          <a:xfrm>
            <a:off x="640080" y="5221224"/>
            <a:ext cx="10881360" cy="228600"/>
          </a:xfrm>
          <a:prstGeom prst="rect">
            <a:avLst/>
          </a:prstGeom>
          <a:noFill/>
          <a:ln/>
        </p:spPr>
        <p:txBody>
          <a:bodyPr wrap="square" rtlCol="0" anchor="ctr"/>
          <a:lstStyle/>
          <a:p>
            <a:pPr indent="0" marL="0">
              <a:buNone/>
            </a:pPr>
            <a:r>
              <a:rPr lang="en-US" sz="1000" b="1" dirty="0">
                <a:solidFill>
                  <a:srgbClr val="059669"/>
                </a:solidFill>
                <a:latin typeface="Times New Roman" pitchFamily="34" charset="0"/>
                <a:ea typeface="Times New Roman" pitchFamily="34" charset="-122"/>
                <a:cs typeface="Times New Roman" pitchFamily="34" charset="-120"/>
              </a:rPr>
              <a:t>[Results] </a:t>
            </a:r>
            <a:endParaRPr lang="en-US" sz="1000" dirty="0"/>
          </a:p>
        </p:txBody>
      </p:sp>
      <p:sp>
        <p:nvSpPr>
          <p:cNvPr id="14" name="Text 12"/>
          <p:cNvSpPr/>
          <p:nvPr/>
        </p:nvSpPr>
        <p:spPr>
          <a:xfrm>
            <a:off x="777240" y="5449824"/>
            <a:ext cx="10607040" cy="109728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The MMH system demonstrates substantial cost advantages, reducing delivery costs by 40-55% compared to the Business-As-Usual (BAU) conventional delivery model. Furthermore, the MMH configuration achieves significantly lower global warming potential and reduced traffic congestion externalities. The cost advantage is most pronounced in medium-to-high density urban areas, with diminishing returns in low-density suburban settings.</a:t>
            </a:r>
            <a:endParaRPr lang="en-US" sz="900" dirty="0"/>
          </a:p>
        </p:txBody>
      </p:sp>
      <p:sp>
        <p:nvSpPr>
          <p:cNvPr id="15" name="Text 13"/>
          <p:cNvSpPr/>
          <p:nvPr/>
        </p:nvSpPr>
        <p:spPr>
          <a:xfrm>
            <a:off x="640080" y="6620256"/>
            <a:ext cx="10881360" cy="228600"/>
          </a:xfrm>
          <a:prstGeom prst="rect">
            <a:avLst/>
          </a:prstGeom>
          <a:noFill/>
          <a:ln/>
        </p:spPr>
        <p:txBody>
          <a:bodyPr wrap="square" rtlCol="0" anchor="ctr"/>
          <a:lstStyle/>
          <a:p>
            <a:pPr indent="0" marL="0">
              <a:buNone/>
            </a:pPr>
            <a:r>
              <a:rPr lang="en-US" sz="1000" b="1" dirty="0">
                <a:solidFill>
                  <a:srgbClr val="7C3AED"/>
                </a:solidFill>
                <a:latin typeface="Times New Roman" pitchFamily="34" charset="0"/>
                <a:ea typeface="Times New Roman" pitchFamily="34" charset="-122"/>
                <a:cs typeface="Times New Roman" pitchFamily="34" charset="-120"/>
              </a:rPr>
              <a:t>[Conclusion] </a:t>
            </a:r>
            <a:endParaRPr lang="en-US" sz="1000" dirty="0"/>
          </a:p>
        </p:txBody>
      </p:sp>
      <p:sp>
        <p:nvSpPr>
          <p:cNvPr id="16" name="Text 14"/>
          <p:cNvSpPr/>
          <p:nvPr/>
        </p:nvSpPr>
        <p:spPr>
          <a:xfrm>
            <a:off x="777240" y="6848856"/>
            <a:ext cx="10607040" cy="73152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The Moving Micro Hub concept represents a promising paradigm for sustainable urban logistics, demonstrating that coordinated two-echelon autonomous delivery systems can simultaneously achieve cost efficiency and environmental sustainability. The CA framework provides practical design guidelines for logistics operators.</a:t>
            </a:r>
            <a:endParaRPr lang="en-US" sz="900" dirty="0"/>
          </a:p>
        </p:txBody>
      </p:sp>
      <p:sp>
        <p:nvSpPr>
          <p:cNvPr id="17" name="Shape 15"/>
          <p:cNvSpPr/>
          <p:nvPr/>
        </p:nvSpPr>
        <p:spPr>
          <a:xfrm>
            <a:off x="731520" y="7699248"/>
            <a:ext cx="10725912" cy="13716"/>
          </a:xfrm>
          <a:prstGeom prst="rect">
            <a:avLst/>
          </a:prstGeom>
          <a:solidFill>
            <a:srgbClr val="E2E8F0"/>
          </a:solidFill>
          <a:ln/>
        </p:spPr>
      </p:sp>
      <p:sp>
        <p:nvSpPr>
          <p:cNvPr id="18" name="Text 16"/>
          <p:cNvSpPr/>
          <p:nvPr/>
        </p:nvSpPr>
        <p:spPr>
          <a:xfrm>
            <a:off x="640080" y="7836408"/>
            <a:ext cx="10908792" cy="320040"/>
          </a:xfrm>
          <a:prstGeom prst="rect">
            <a:avLst/>
          </a:prstGeom>
          <a:noFill/>
          <a:ln/>
        </p:spPr>
        <p:txBody>
          <a:bodyPr wrap="square" rtlCol="0" anchor="ctr"/>
          <a:lstStyle/>
          <a:p>
            <a:pPr indent="0" marL="0">
              <a:buNone/>
            </a:pPr>
            <a:r>
              <a:rPr lang="en-US" sz="900" i="1" dirty="0">
                <a:solidFill>
                  <a:srgbClr val="334155"/>
                </a:solidFill>
                <a:latin typeface="Times New Roman" pitchFamily="34" charset="0"/>
                <a:ea typeface="Times New Roman" pitchFamily="34" charset="-122"/>
                <a:cs typeface="Times New Roman" pitchFamily="34" charset="-120"/>
              </a:rPr>
              <a:t>Keywords: Continuous Approximation Model; Autonomous Delivery Robots; Last Mile Delivery; Externalities; Two-echelon system</a:t>
            </a:r>
            <a:endParaRPr lang="en-US" sz="900" dirty="0"/>
          </a:p>
        </p:txBody>
      </p:sp>
      <p:sp>
        <p:nvSpPr>
          <p:cNvPr id="19" name="Shape 17"/>
          <p:cNvSpPr/>
          <p:nvPr/>
        </p:nvSpPr>
        <p:spPr>
          <a:xfrm>
            <a:off x="0" y="6080760"/>
            <a:ext cx="12188952" cy="594360"/>
          </a:xfrm>
          <a:prstGeom prst="rect">
            <a:avLst/>
          </a:prstGeom>
          <a:solidFill>
            <a:srgbClr val="FEF3C7"/>
          </a:solidFill>
          <a:ln/>
        </p:spPr>
      </p:sp>
      <p:sp>
        <p:nvSpPr>
          <p:cNvPr id="20" name="Shape 18"/>
          <p:cNvSpPr/>
          <p:nvPr/>
        </p:nvSpPr>
        <p:spPr>
          <a:xfrm>
            <a:off x="0" y="6080760"/>
            <a:ext cx="73152" cy="594360"/>
          </a:xfrm>
          <a:prstGeom prst="rect">
            <a:avLst/>
          </a:prstGeom>
          <a:solidFill>
            <a:srgbClr val="D97706"/>
          </a:solidFill>
          <a:ln/>
        </p:spPr>
      </p:sp>
      <p:sp>
        <p:nvSpPr>
          <p:cNvPr id="21" name="Text 19"/>
          <p:cNvSpPr/>
          <p:nvPr/>
        </p:nvSpPr>
        <p:spPr>
          <a:xfrm>
            <a:off x="457200" y="6126480"/>
            <a:ext cx="11430000" cy="502920"/>
          </a:xfrm>
          <a:prstGeom prst="rect">
            <a:avLst/>
          </a:prstGeom>
          <a:noFill/>
          <a:ln/>
        </p:spPr>
        <p:txBody>
          <a:bodyPr wrap="square" rtlCol="0" anchor="ctr"/>
          <a:lstStyle/>
          <a:p>
            <a:pPr indent="0" marL="0">
              <a:buNone/>
            </a:pPr>
            <a:r>
              <a:rPr lang="en-US" sz="1000" dirty="0">
                <a:solidFill>
                  <a:srgbClr val="92400E"/>
                </a:solidFill>
                <a:latin typeface="Microsoft YaHei" pitchFamily="34" charset="0"/>
                <a:ea typeface="Microsoft YaHei" pitchFamily="34" charset="-122"/>
                <a:cs typeface="Microsoft YaHei" pitchFamily="34" charset="-120"/>
              </a:rPr>
              <a:t>Clear problem formulation with explicit comparison baseline (BAU). Joint evaluation of cost and environmental impact aligns with TR-E's sustainability focus.</a:t>
            </a:r>
            <a:endParaRPr lang="en-US" sz="1000" dirty="0"/>
          </a:p>
        </p:txBody>
      </p:sp>
      <p:sp>
        <p:nvSpPr>
          <p:cNvPr id="22" name="Shape 20"/>
          <p:cNvSpPr/>
          <p:nvPr/>
        </p:nvSpPr>
        <p:spPr>
          <a:xfrm>
            <a:off x="11320272" y="1005840"/>
            <a:ext cx="685800" cy="502920"/>
          </a:xfrm>
          <a:prstGeom prst="rect">
            <a:avLst>
              <a:gd name="adj" fmla="val 9091"/>
            </a:avLst>
          </a:prstGeom>
          <a:solidFill>
            <a:srgbClr val="1E3A5F"/>
          </a:solidFill>
          <a:ln/>
        </p:spPr>
      </p:sp>
      <p:sp>
        <p:nvSpPr>
          <p:cNvPr id="23" name="Text 21"/>
          <p:cNvSpPr/>
          <p:nvPr/>
        </p:nvSpPr>
        <p:spPr>
          <a:xfrm>
            <a:off x="11320272" y="1005840"/>
            <a:ext cx="685800" cy="502920"/>
          </a:xfrm>
          <a:prstGeom prst="rect">
            <a:avLst/>
          </a:prstGeom>
          <a:noFill/>
          <a:ln/>
        </p:spPr>
        <p:txBody>
          <a:bodyPr wrap="square" rtlCol="0" anchor="ctr"/>
          <a:lstStyle/>
          <a:p>
            <a:pPr algn="ctr" indent="0" marL="0">
              <a:buNone/>
            </a:pPr>
            <a:r>
              <a:rPr lang="en-US" sz="900" b="1" dirty="0">
                <a:solidFill>
                  <a:srgbClr val="FFFFFF"/>
                </a:solidFill>
                <a:latin typeface="Microsoft YaHei" pitchFamily="34" charset="0"/>
                <a:ea typeface="Microsoft YaHei" pitchFamily="34" charset="-122"/>
                <a:cs typeface="Microsoft YaHei" pitchFamily="34" charset="-120"/>
              </a:rPr>
              <a:t>Case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12188952" cy="640080"/>
          </a:xfrm>
          <a:prstGeom prst="rect">
            <a:avLst/>
          </a:prstGeom>
          <a:solidFill>
            <a:srgbClr val="1E3A5F"/>
          </a:solidFill>
          <a:ln/>
        </p:spPr>
      </p:sp>
      <p:sp>
        <p:nvSpPr>
          <p:cNvPr id="3" name="Text 1"/>
          <p:cNvSpPr/>
          <p:nvPr/>
        </p:nvSpPr>
        <p:spPr>
          <a:xfrm>
            <a:off x="457200" y="91440"/>
            <a:ext cx="11274552" cy="457200"/>
          </a:xfrm>
          <a:prstGeom prst="rect">
            <a:avLst/>
          </a:prstGeom>
          <a:noFill/>
          <a:ln/>
        </p:spPr>
        <p:txBody>
          <a:bodyPr wrap="square"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Transportation Research Part E  |  Vol.195  |  Article 103XXX  |  2025</a:t>
            </a:r>
            <a:endParaRPr lang="en-US" sz="1100" dirty="0"/>
          </a:p>
        </p:txBody>
      </p:sp>
      <p:sp>
        <p:nvSpPr>
          <p:cNvPr id="4" name="Text 2"/>
          <p:cNvSpPr/>
          <p:nvPr/>
        </p:nvSpPr>
        <p:spPr>
          <a:xfrm>
            <a:off x="548640" y="822960"/>
            <a:ext cx="11091672" cy="731520"/>
          </a:xfrm>
          <a:prstGeom prst="rect">
            <a:avLst/>
          </a:prstGeom>
          <a:noFill/>
          <a:ln/>
        </p:spPr>
        <p:txBody>
          <a:bodyPr wrap="square" rtlCol="0" anchor="ctr"/>
          <a:lstStyle/>
          <a:p>
            <a:pPr indent="0" marL="0">
              <a:buNone/>
            </a:pPr>
            <a:r>
              <a:rPr lang="en-US" sz="1600" b="1" dirty="0">
                <a:solidFill>
                  <a:srgbClr val="0F172A"/>
                </a:solidFill>
                <a:latin typeface="Times New Roman" pitchFamily="34" charset="0"/>
                <a:ea typeface="Times New Roman" pitchFamily="34" charset="-122"/>
                <a:cs typeface="Times New Roman" pitchFamily="34" charset="-120"/>
              </a:rPr>
              <a:t>Dynamic last-mile delivery routing with multi-agent reinforcement learning under stochastic demand and traffic conditions</a:t>
            </a:r>
            <a:endParaRPr lang="en-US" sz="1600" dirty="0"/>
          </a:p>
        </p:txBody>
      </p:sp>
      <p:sp>
        <p:nvSpPr>
          <p:cNvPr id="5" name="Text 3"/>
          <p:cNvSpPr/>
          <p:nvPr/>
        </p:nvSpPr>
        <p:spPr>
          <a:xfrm>
            <a:off x="548640" y="1554480"/>
            <a:ext cx="11091672" cy="320040"/>
          </a:xfrm>
          <a:prstGeom prst="rect">
            <a:avLst/>
          </a:prstGeom>
          <a:noFill/>
          <a:ln/>
        </p:spPr>
        <p:txBody>
          <a:bodyPr wrap="square" rtlCol="0" anchor="ctr"/>
          <a:lstStyle/>
          <a:p>
            <a:pPr algn="ctr" indent="0" marL="0">
              <a:buNone/>
            </a:pPr>
            <a:r>
              <a:rPr lang="en-US" sz="900" dirty="0">
                <a:solidFill>
                  <a:srgbClr val="334155"/>
                </a:solidFill>
                <a:latin typeface="Times New Roman" pitchFamily="34" charset="0"/>
                <a:ea typeface="Times New Roman" pitchFamily="34" charset="-122"/>
                <a:cs typeface="Times New Roman" pitchFamily="34" charset="-120"/>
              </a:rPr>
              <a:t>[Representative TR-E Author et al.]</a:t>
            </a:r>
            <a:endParaRPr lang="en-US" sz="900" dirty="0"/>
          </a:p>
        </p:txBody>
      </p:sp>
      <p:sp>
        <p:nvSpPr>
          <p:cNvPr id="6" name="Text 4"/>
          <p:cNvSpPr/>
          <p:nvPr/>
        </p:nvSpPr>
        <p:spPr>
          <a:xfrm>
            <a:off x="548640" y="1828800"/>
            <a:ext cx="11091672" cy="274320"/>
          </a:xfrm>
          <a:prstGeom prst="rect">
            <a:avLst/>
          </a:prstGeom>
          <a:noFill/>
          <a:ln/>
        </p:spPr>
        <p:txBody>
          <a:bodyPr wrap="square" rtlCol="0" anchor="ctr"/>
          <a:lstStyle/>
          <a:p>
            <a:pPr algn="ctr" indent="0" marL="0">
              <a:buNone/>
            </a:pPr>
            <a:r>
              <a:rPr lang="en-US" sz="800" i="1" dirty="0">
                <a:solidFill>
                  <a:srgbClr val="64748B"/>
                </a:solidFill>
                <a:latin typeface="Times New Roman" pitchFamily="34" charset="0"/>
                <a:ea typeface="Times New Roman" pitchFamily="34" charset="-122"/>
                <a:cs typeface="Times New Roman" pitchFamily="34" charset="-120"/>
              </a:rPr>
              <a:t>Transportation Research Part E: Logistics and Transportation Review</a:t>
            </a:r>
            <a:endParaRPr lang="en-US" sz="800" dirty="0"/>
          </a:p>
        </p:txBody>
      </p:sp>
      <p:sp>
        <p:nvSpPr>
          <p:cNvPr id="7" name="Shape 5"/>
          <p:cNvSpPr/>
          <p:nvPr/>
        </p:nvSpPr>
        <p:spPr>
          <a:xfrm>
            <a:off x="731520" y="2148840"/>
            <a:ext cx="10725912" cy="13716"/>
          </a:xfrm>
          <a:prstGeom prst="rect">
            <a:avLst/>
          </a:prstGeom>
          <a:solidFill>
            <a:srgbClr val="E2E8F0"/>
          </a:solidFill>
          <a:ln/>
        </p:spPr>
      </p:sp>
      <p:sp>
        <p:nvSpPr>
          <p:cNvPr id="8" name="Text 6"/>
          <p:cNvSpPr/>
          <p:nvPr/>
        </p:nvSpPr>
        <p:spPr>
          <a:xfrm>
            <a:off x="548640" y="2286000"/>
            <a:ext cx="914400" cy="274320"/>
          </a:xfrm>
          <a:prstGeom prst="rect">
            <a:avLst/>
          </a:prstGeom>
          <a:noFill/>
          <a:ln/>
        </p:spPr>
        <p:txBody>
          <a:bodyPr wrap="square" rtlCol="0" anchor="ctr"/>
          <a:lstStyle/>
          <a:p>
            <a:pPr indent="0" marL="0">
              <a:buNone/>
            </a:pPr>
            <a:r>
              <a:rPr lang="en-US" sz="1200" b="1" dirty="0">
                <a:solidFill>
                  <a:srgbClr val="0F172A"/>
                </a:solidFill>
                <a:latin typeface="Times New Roman" pitchFamily="34" charset="0"/>
                <a:ea typeface="Times New Roman" pitchFamily="34" charset="-122"/>
                <a:cs typeface="Times New Roman" pitchFamily="34" charset="-120"/>
              </a:rPr>
              <a:t>Abstract</a:t>
            </a:r>
            <a:endParaRPr lang="en-US" sz="1200" dirty="0"/>
          </a:p>
        </p:txBody>
      </p:sp>
      <p:sp>
        <p:nvSpPr>
          <p:cNvPr id="9" name="Text 7"/>
          <p:cNvSpPr/>
          <p:nvPr/>
        </p:nvSpPr>
        <p:spPr>
          <a:xfrm>
            <a:off x="640080" y="2606040"/>
            <a:ext cx="10881360" cy="228600"/>
          </a:xfrm>
          <a:prstGeom prst="rect">
            <a:avLst/>
          </a:prstGeom>
          <a:noFill/>
          <a:ln/>
        </p:spPr>
        <p:txBody>
          <a:bodyPr wrap="square" rtlCol="0" anchor="ctr"/>
          <a:lstStyle/>
          <a:p>
            <a:pPr indent="0" marL="0">
              <a:buNone/>
            </a:pPr>
            <a:r>
              <a:rPr lang="en-US" sz="1000" b="1" dirty="0">
                <a:solidFill>
                  <a:srgbClr val="DC2626"/>
                </a:solidFill>
                <a:latin typeface="Times New Roman" pitchFamily="34" charset="0"/>
                <a:ea typeface="Times New Roman" pitchFamily="34" charset="-122"/>
                <a:cs typeface="Times New Roman" pitchFamily="34" charset="-120"/>
              </a:rPr>
              <a:t>[Objective] </a:t>
            </a:r>
            <a:endParaRPr lang="en-US" sz="1000" dirty="0"/>
          </a:p>
        </p:txBody>
      </p:sp>
      <p:sp>
        <p:nvSpPr>
          <p:cNvPr id="10" name="Text 8"/>
          <p:cNvSpPr/>
          <p:nvPr/>
        </p:nvSpPr>
        <p:spPr>
          <a:xfrm>
            <a:off x="777240" y="2834640"/>
            <a:ext cx="10607040" cy="91440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This study addresses the dynamic last-mile delivery routing problem where customer orders arrive stochastically throughout the operational period and traffic conditions evolve in real time. The objective is to develop an adaptive routing framework that minimizes total delivery time, fuel consumption, and missed delivery penalties through real-time decision-making.</a:t>
            </a:r>
            <a:endParaRPr lang="en-US" sz="900" dirty="0"/>
          </a:p>
        </p:txBody>
      </p:sp>
      <p:sp>
        <p:nvSpPr>
          <p:cNvPr id="11" name="Text 9"/>
          <p:cNvSpPr/>
          <p:nvPr/>
        </p:nvSpPr>
        <p:spPr>
          <a:xfrm>
            <a:off x="640080" y="3822192"/>
            <a:ext cx="10881360" cy="228600"/>
          </a:xfrm>
          <a:prstGeom prst="rect">
            <a:avLst/>
          </a:prstGeom>
          <a:noFill/>
          <a:ln/>
        </p:spPr>
        <p:txBody>
          <a:bodyPr wrap="square" rtlCol="0" anchor="ctr"/>
          <a:lstStyle/>
          <a:p>
            <a:pPr indent="0" marL="0">
              <a:buNone/>
            </a:pPr>
            <a:r>
              <a:rPr lang="en-US" sz="1000" b="1" dirty="0">
                <a:solidFill>
                  <a:srgbClr val="1E3A5F"/>
                </a:solidFill>
                <a:latin typeface="Times New Roman" pitchFamily="34" charset="0"/>
                <a:ea typeface="Times New Roman" pitchFamily="34" charset="-122"/>
                <a:cs typeface="Times New Roman" pitchFamily="34" charset="-120"/>
              </a:rPr>
              <a:t>[Method] </a:t>
            </a:r>
            <a:endParaRPr lang="en-US" sz="1000" dirty="0"/>
          </a:p>
        </p:txBody>
      </p:sp>
      <p:sp>
        <p:nvSpPr>
          <p:cNvPr id="12" name="Text 10"/>
          <p:cNvSpPr/>
          <p:nvPr/>
        </p:nvSpPr>
        <p:spPr>
          <a:xfrm>
            <a:off x="777240" y="4050792"/>
            <a:ext cx="10607040" cy="128016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We formulate the problem as a decentralized Markov decision process and propose a multi-agent deep reinforcement learning (MADRL) framework based on the QMIX architecture. Each vehicle agent learns a local Q-function while a mixing network ensures coordinated fleet-level optimization. The training environment is calibrated using historical delivery data from a major European logistics provider. A novel reward shaping mechanism balances delivery efficiency, fuel consumption, and service level agreement compliance.</a:t>
            </a:r>
            <a:endParaRPr lang="en-US" sz="900" dirty="0"/>
          </a:p>
        </p:txBody>
      </p:sp>
      <p:sp>
        <p:nvSpPr>
          <p:cNvPr id="13" name="Text 11"/>
          <p:cNvSpPr/>
          <p:nvPr/>
        </p:nvSpPr>
        <p:spPr>
          <a:xfrm>
            <a:off x="640080" y="5404104"/>
            <a:ext cx="10881360" cy="228600"/>
          </a:xfrm>
          <a:prstGeom prst="rect">
            <a:avLst/>
          </a:prstGeom>
          <a:noFill/>
          <a:ln/>
        </p:spPr>
        <p:txBody>
          <a:bodyPr wrap="square" rtlCol="0" anchor="ctr"/>
          <a:lstStyle/>
          <a:p>
            <a:pPr indent="0" marL="0">
              <a:buNone/>
            </a:pPr>
            <a:r>
              <a:rPr lang="en-US" sz="1000" b="1" dirty="0">
                <a:solidFill>
                  <a:srgbClr val="059669"/>
                </a:solidFill>
                <a:latin typeface="Times New Roman" pitchFamily="34" charset="0"/>
                <a:ea typeface="Times New Roman" pitchFamily="34" charset="-122"/>
                <a:cs typeface="Times New Roman" pitchFamily="34" charset="-120"/>
              </a:rPr>
              <a:t>[Results] </a:t>
            </a:r>
            <a:endParaRPr lang="en-US" sz="1000" dirty="0"/>
          </a:p>
        </p:txBody>
      </p:sp>
      <p:sp>
        <p:nvSpPr>
          <p:cNvPr id="14" name="Text 12"/>
          <p:cNvSpPr/>
          <p:nvPr/>
        </p:nvSpPr>
        <p:spPr>
          <a:xfrm>
            <a:off x="777240" y="5632704"/>
            <a:ext cx="10607040" cy="109728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Extensive computational experiments demonstrate that the MADRL framework reduces total delivery time by 22.4% and fuel consumption by 18.7% compared to traditional cluster-first route-second heuristics. The system maintains a 96.3% on-time delivery rate even under high demand variance scenarios (coefficient of variation &gt; 0.5). Ablation studies confirm the contribution of each architectural component, with the mixing network contributing 8.2% to overall performance improvement.</a:t>
            </a:r>
            <a:endParaRPr lang="en-US" sz="900" dirty="0"/>
          </a:p>
        </p:txBody>
      </p:sp>
      <p:sp>
        <p:nvSpPr>
          <p:cNvPr id="15" name="Text 13"/>
          <p:cNvSpPr/>
          <p:nvPr/>
        </p:nvSpPr>
        <p:spPr>
          <a:xfrm>
            <a:off x="640080" y="6803136"/>
            <a:ext cx="10881360" cy="228600"/>
          </a:xfrm>
          <a:prstGeom prst="rect">
            <a:avLst/>
          </a:prstGeom>
          <a:noFill/>
          <a:ln/>
        </p:spPr>
        <p:txBody>
          <a:bodyPr wrap="square" rtlCol="0" anchor="ctr"/>
          <a:lstStyle/>
          <a:p>
            <a:pPr indent="0" marL="0">
              <a:buNone/>
            </a:pPr>
            <a:r>
              <a:rPr lang="en-US" sz="1000" b="1" dirty="0">
                <a:solidFill>
                  <a:srgbClr val="7C3AED"/>
                </a:solidFill>
                <a:latin typeface="Times New Roman" pitchFamily="34" charset="0"/>
                <a:ea typeface="Times New Roman" pitchFamily="34" charset="-122"/>
                <a:cs typeface="Times New Roman" pitchFamily="34" charset="-120"/>
              </a:rPr>
              <a:t>[Conclusion] </a:t>
            </a:r>
            <a:endParaRPr lang="en-US" sz="1000" dirty="0"/>
          </a:p>
        </p:txBody>
      </p:sp>
      <p:sp>
        <p:nvSpPr>
          <p:cNvPr id="16" name="Text 14"/>
          <p:cNvSpPr/>
          <p:nvPr/>
        </p:nvSpPr>
        <p:spPr>
          <a:xfrm>
            <a:off x="777240" y="7031736"/>
            <a:ext cx="10607040" cy="73152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The proposed MADRL framework provides a scalable and adaptive solution for dynamic last-mile delivery routing. The decentralized learning architecture with centralized mixing enables effective coordination while maintaining computational tractability, offering practical value for urban logistics operations facing real-time uncertainties.</a:t>
            </a:r>
            <a:endParaRPr lang="en-US" sz="900" dirty="0"/>
          </a:p>
        </p:txBody>
      </p:sp>
      <p:sp>
        <p:nvSpPr>
          <p:cNvPr id="17" name="Shape 15"/>
          <p:cNvSpPr/>
          <p:nvPr/>
        </p:nvSpPr>
        <p:spPr>
          <a:xfrm>
            <a:off x="731520" y="7882128"/>
            <a:ext cx="10725912" cy="13716"/>
          </a:xfrm>
          <a:prstGeom prst="rect">
            <a:avLst/>
          </a:prstGeom>
          <a:solidFill>
            <a:srgbClr val="E2E8F0"/>
          </a:solidFill>
          <a:ln/>
        </p:spPr>
      </p:sp>
      <p:sp>
        <p:nvSpPr>
          <p:cNvPr id="18" name="Text 16"/>
          <p:cNvSpPr/>
          <p:nvPr/>
        </p:nvSpPr>
        <p:spPr>
          <a:xfrm>
            <a:off x="640080" y="8019288"/>
            <a:ext cx="10908792" cy="320040"/>
          </a:xfrm>
          <a:prstGeom prst="rect">
            <a:avLst/>
          </a:prstGeom>
          <a:noFill/>
          <a:ln/>
        </p:spPr>
        <p:txBody>
          <a:bodyPr wrap="square" rtlCol="0" anchor="ctr"/>
          <a:lstStyle/>
          <a:p>
            <a:pPr indent="0" marL="0">
              <a:buNone/>
            </a:pPr>
            <a:r>
              <a:rPr lang="en-US" sz="900" i="1" dirty="0">
                <a:solidFill>
                  <a:srgbClr val="334155"/>
                </a:solidFill>
                <a:latin typeface="Times New Roman" pitchFamily="34" charset="0"/>
                <a:ea typeface="Times New Roman" pitchFamily="34" charset="-122"/>
                <a:cs typeface="Times New Roman" pitchFamily="34" charset="-120"/>
              </a:rPr>
              <a:t>Keywords: Last-mile delivery; Multi-agent reinforcement learning; Dynamic routing; QMIX; Stochastic demand; Urban logistics</a:t>
            </a:r>
            <a:endParaRPr lang="en-US" sz="900" dirty="0"/>
          </a:p>
        </p:txBody>
      </p:sp>
      <p:sp>
        <p:nvSpPr>
          <p:cNvPr id="19" name="Shape 17"/>
          <p:cNvSpPr/>
          <p:nvPr/>
        </p:nvSpPr>
        <p:spPr>
          <a:xfrm>
            <a:off x="0" y="6080760"/>
            <a:ext cx="12188952" cy="594360"/>
          </a:xfrm>
          <a:prstGeom prst="rect">
            <a:avLst/>
          </a:prstGeom>
          <a:solidFill>
            <a:srgbClr val="FEF3C7"/>
          </a:solidFill>
          <a:ln/>
        </p:spPr>
      </p:sp>
      <p:sp>
        <p:nvSpPr>
          <p:cNvPr id="20" name="Shape 18"/>
          <p:cNvSpPr/>
          <p:nvPr/>
        </p:nvSpPr>
        <p:spPr>
          <a:xfrm>
            <a:off x="0" y="6080760"/>
            <a:ext cx="73152" cy="594360"/>
          </a:xfrm>
          <a:prstGeom prst="rect">
            <a:avLst/>
          </a:prstGeom>
          <a:solidFill>
            <a:srgbClr val="D97706"/>
          </a:solidFill>
          <a:ln/>
        </p:spPr>
      </p:sp>
      <p:sp>
        <p:nvSpPr>
          <p:cNvPr id="21" name="Text 19"/>
          <p:cNvSpPr/>
          <p:nvPr/>
        </p:nvSpPr>
        <p:spPr>
          <a:xfrm>
            <a:off x="457200" y="6126480"/>
            <a:ext cx="11430000" cy="502920"/>
          </a:xfrm>
          <a:prstGeom prst="rect">
            <a:avLst/>
          </a:prstGeom>
          <a:noFill/>
          <a:ln/>
        </p:spPr>
        <p:txBody>
          <a:bodyPr wrap="square" rtlCol="0" anchor="ctr"/>
          <a:lstStyle/>
          <a:p>
            <a:pPr indent="0" marL="0">
              <a:buNone/>
            </a:pPr>
            <a:r>
              <a:rPr lang="en-US" sz="1000" dirty="0">
                <a:solidFill>
                  <a:srgbClr val="92400E"/>
                </a:solidFill>
                <a:latin typeface="Microsoft YaHei" pitchFamily="34" charset="0"/>
                <a:ea typeface="Microsoft YaHei" pitchFamily="34" charset="-122"/>
                <a:cs typeface="Microsoft YaHei" pitchFamily="34" charset="-120"/>
              </a:rPr>
              <a:t>IMRaD with ablation studies. TR-E favors papers that demonstrate component-level contributions and include sensitivity analysis to parameter variations.</a:t>
            </a:r>
            <a:endParaRPr lang="en-US" sz="1000" dirty="0"/>
          </a:p>
        </p:txBody>
      </p:sp>
      <p:sp>
        <p:nvSpPr>
          <p:cNvPr id="22" name="Shape 20"/>
          <p:cNvSpPr/>
          <p:nvPr/>
        </p:nvSpPr>
        <p:spPr>
          <a:xfrm>
            <a:off x="11320272" y="1005840"/>
            <a:ext cx="685800" cy="502920"/>
          </a:xfrm>
          <a:prstGeom prst="rect">
            <a:avLst>
              <a:gd name="adj" fmla="val 9091"/>
            </a:avLst>
          </a:prstGeom>
          <a:solidFill>
            <a:srgbClr val="1E3A5F"/>
          </a:solidFill>
          <a:ln/>
        </p:spPr>
      </p:sp>
      <p:sp>
        <p:nvSpPr>
          <p:cNvPr id="23" name="Text 21"/>
          <p:cNvSpPr/>
          <p:nvPr/>
        </p:nvSpPr>
        <p:spPr>
          <a:xfrm>
            <a:off x="11320272" y="1005840"/>
            <a:ext cx="685800" cy="502920"/>
          </a:xfrm>
          <a:prstGeom prst="rect">
            <a:avLst/>
          </a:prstGeom>
          <a:noFill/>
          <a:ln/>
        </p:spPr>
        <p:txBody>
          <a:bodyPr wrap="square" rtlCol="0" anchor="ctr"/>
          <a:lstStyle/>
          <a:p>
            <a:pPr algn="ctr" indent="0" marL="0">
              <a:buNone/>
            </a:pPr>
            <a:r>
              <a:rPr lang="en-US" sz="900" b="1" dirty="0">
                <a:solidFill>
                  <a:srgbClr val="FFFFFF"/>
                </a:solidFill>
                <a:latin typeface="Microsoft YaHei" pitchFamily="34" charset="0"/>
                <a:ea typeface="Microsoft YaHei" pitchFamily="34" charset="-122"/>
                <a:cs typeface="Microsoft YaHei" pitchFamily="34" charset="-120"/>
              </a:rPr>
              <a:t>Case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12188952" cy="640080"/>
          </a:xfrm>
          <a:prstGeom prst="rect">
            <a:avLst/>
          </a:prstGeom>
          <a:solidFill>
            <a:srgbClr val="1E3A5F"/>
          </a:solidFill>
          <a:ln/>
        </p:spPr>
      </p:sp>
      <p:sp>
        <p:nvSpPr>
          <p:cNvPr id="3" name="Text 1"/>
          <p:cNvSpPr/>
          <p:nvPr/>
        </p:nvSpPr>
        <p:spPr>
          <a:xfrm>
            <a:off x="457200" y="91440"/>
            <a:ext cx="11274552" cy="457200"/>
          </a:xfrm>
          <a:prstGeom prst="rect">
            <a:avLst/>
          </a:prstGeom>
          <a:noFill/>
          <a:ln/>
        </p:spPr>
        <p:txBody>
          <a:bodyPr wrap="square"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Transportation Research Part E  |  Vol.198  |  Article 103XXX  |  2025</a:t>
            </a:r>
            <a:endParaRPr lang="en-US" sz="1100" dirty="0"/>
          </a:p>
        </p:txBody>
      </p:sp>
      <p:sp>
        <p:nvSpPr>
          <p:cNvPr id="4" name="Text 2"/>
          <p:cNvSpPr/>
          <p:nvPr/>
        </p:nvSpPr>
        <p:spPr>
          <a:xfrm>
            <a:off x="548640" y="822960"/>
            <a:ext cx="11091672" cy="731520"/>
          </a:xfrm>
          <a:prstGeom prst="rect">
            <a:avLst/>
          </a:prstGeom>
          <a:noFill/>
          <a:ln/>
        </p:spPr>
        <p:txBody>
          <a:bodyPr wrap="square" rtlCol="0" anchor="ctr"/>
          <a:lstStyle/>
          <a:p>
            <a:pPr indent="0" marL="0">
              <a:buNone/>
            </a:pPr>
            <a:r>
              <a:rPr lang="en-US" sz="1600" b="1" dirty="0">
                <a:solidFill>
                  <a:srgbClr val="0F172A"/>
                </a:solidFill>
                <a:latin typeface="Times New Roman" pitchFamily="34" charset="0"/>
                <a:ea typeface="Times New Roman" pitchFamily="34" charset="-122"/>
                <a:cs typeface="Times New Roman" pitchFamily="34" charset="-120"/>
              </a:rPr>
              <a:t>Joint optimization of electric vehicle routing and charging scheduling under time-dependent energy consumption and partial charging policies</a:t>
            </a:r>
            <a:endParaRPr lang="en-US" sz="1600" dirty="0"/>
          </a:p>
        </p:txBody>
      </p:sp>
      <p:sp>
        <p:nvSpPr>
          <p:cNvPr id="5" name="Text 3"/>
          <p:cNvSpPr/>
          <p:nvPr/>
        </p:nvSpPr>
        <p:spPr>
          <a:xfrm>
            <a:off x="548640" y="1554480"/>
            <a:ext cx="11091672" cy="320040"/>
          </a:xfrm>
          <a:prstGeom prst="rect">
            <a:avLst/>
          </a:prstGeom>
          <a:noFill/>
          <a:ln/>
        </p:spPr>
        <p:txBody>
          <a:bodyPr wrap="square" rtlCol="0" anchor="ctr"/>
          <a:lstStyle/>
          <a:p>
            <a:pPr algn="ctr" indent="0" marL="0">
              <a:buNone/>
            </a:pPr>
            <a:r>
              <a:rPr lang="en-US" sz="900" dirty="0">
                <a:solidFill>
                  <a:srgbClr val="334155"/>
                </a:solidFill>
                <a:latin typeface="Times New Roman" pitchFamily="34" charset="0"/>
                <a:ea typeface="Times New Roman" pitchFamily="34" charset="-122"/>
                <a:cs typeface="Times New Roman" pitchFamily="34" charset="-120"/>
              </a:rPr>
              <a:t>[Representative TR-E Author et al.]</a:t>
            </a:r>
            <a:endParaRPr lang="en-US" sz="900" dirty="0"/>
          </a:p>
        </p:txBody>
      </p:sp>
      <p:sp>
        <p:nvSpPr>
          <p:cNvPr id="6" name="Text 4"/>
          <p:cNvSpPr/>
          <p:nvPr/>
        </p:nvSpPr>
        <p:spPr>
          <a:xfrm>
            <a:off x="548640" y="1828800"/>
            <a:ext cx="11091672" cy="274320"/>
          </a:xfrm>
          <a:prstGeom prst="rect">
            <a:avLst/>
          </a:prstGeom>
          <a:noFill/>
          <a:ln/>
        </p:spPr>
        <p:txBody>
          <a:bodyPr wrap="square" rtlCol="0" anchor="ctr"/>
          <a:lstStyle/>
          <a:p>
            <a:pPr algn="ctr" indent="0" marL="0">
              <a:buNone/>
            </a:pPr>
            <a:r>
              <a:rPr lang="en-US" sz="800" i="1" dirty="0">
                <a:solidFill>
                  <a:srgbClr val="64748B"/>
                </a:solidFill>
                <a:latin typeface="Times New Roman" pitchFamily="34" charset="0"/>
                <a:ea typeface="Times New Roman" pitchFamily="34" charset="-122"/>
                <a:cs typeface="Times New Roman" pitchFamily="34" charset="-120"/>
              </a:rPr>
              <a:t>Transportation Research Part E: Logistics and Transportation Review</a:t>
            </a:r>
            <a:endParaRPr lang="en-US" sz="800" dirty="0"/>
          </a:p>
        </p:txBody>
      </p:sp>
      <p:sp>
        <p:nvSpPr>
          <p:cNvPr id="7" name="Shape 5"/>
          <p:cNvSpPr/>
          <p:nvPr/>
        </p:nvSpPr>
        <p:spPr>
          <a:xfrm>
            <a:off x="731520" y="2148840"/>
            <a:ext cx="10725912" cy="13716"/>
          </a:xfrm>
          <a:prstGeom prst="rect">
            <a:avLst/>
          </a:prstGeom>
          <a:solidFill>
            <a:srgbClr val="E2E8F0"/>
          </a:solidFill>
          <a:ln/>
        </p:spPr>
      </p:sp>
      <p:sp>
        <p:nvSpPr>
          <p:cNvPr id="8" name="Text 6"/>
          <p:cNvSpPr/>
          <p:nvPr/>
        </p:nvSpPr>
        <p:spPr>
          <a:xfrm>
            <a:off x="548640" y="2286000"/>
            <a:ext cx="914400" cy="274320"/>
          </a:xfrm>
          <a:prstGeom prst="rect">
            <a:avLst/>
          </a:prstGeom>
          <a:noFill/>
          <a:ln/>
        </p:spPr>
        <p:txBody>
          <a:bodyPr wrap="square" rtlCol="0" anchor="ctr"/>
          <a:lstStyle/>
          <a:p>
            <a:pPr indent="0" marL="0">
              <a:buNone/>
            </a:pPr>
            <a:r>
              <a:rPr lang="en-US" sz="1200" b="1" dirty="0">
                <a:solidFill>
                  <a:srgbClr val="0F172A"/>
                </a:solidFill>
                <a:latin typeface="Times New Roman" pitchFamily="34" charset="0"/>
                <a:ea typeface="Times New Roman" pitchFamily="34" charset="-122"/>
                <a:cs typeface="Times New Roman" pitchFamily="34" charset="-120"/>
              </a:rPr>
              <a:t>Abstract</a:t>
            </a:r>
            <a:endParaRPr lang="en-US" sz="1200" dirty="0"/>
          </a:p>
        </p:txBody>
      </p:sp>
      <p:sp>
        <p:nvSpPr>
          <p:cNvPr id="9" name="Text 7"/>
          <p:cNvSpPr/>
          <p:nvPr/>
        </p:nvSpPr>
        <p:spPr>
          <a:xfrm>
            <a:off x="640080" y="2606040"/>
            <a:ext cx="10881360" cy="228600"/>
          </a:xfrm>
          <a:prstGeom prst="rect">
            <a:avLst/>
          </a:prstGeom>
          <a:noFill/>
          <a:ln/>
        </p:spPr>
        <p:txBody>
          <a:bodyPr wrap="square" rtlCol="0" anchor="ctr"/>
          <a:lstStyle/>
          <a:p>
            <a:pPr indent="0" marL="0">
              <a:buNone/>
            </a:pPr>
            <a:r>
              <a:rPr lang="en-US" sz="1000" b="1" dirty="0">
                <a:solidFill>
                  <a:srgbClr val="DC2626"/>
                </a:solidFill>
                <a:latin typeface="Times New Roman" pitchFamily="34" charset="0"/>
                <a:ea typeface="Times New Roman" pitchFamily="34" charset="-122"/>
                <a:cs typeface="Times New Roman" pitchFamily="34" charset="-120"/>
              </a:rPr>
              <a:t>[Objective] </a:t>
            </a:r>
            <a:endParaRPr lang="en-US" sz="1000" dirty="0"/>
          </a:p>
        </p:txBody>
      </p:sp>
      <p:sp>
        <p:nvSpPr>
          <p:cNvPr id="10" name="Text 8"/>
          <p:cNvSpPr/>
          <p:nvPr/>
        </p:nvSpPr>
        <p:spPr>
          <a:xfrm>
            <a:off x="777240" y="2834640"/>
            <a:ext cx="10607040" cy="91440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This paper addresses the electric vehicle routing problem with time-dependent energy consumption, heterogeneous charging infrastructure, and partial charging policies. The objective is to jointly optimize delivery routes and charging schedules to minimize total operational cost while ensuring service feasibility under battery range constraints.</a:t>
            </a:r>
            <a:endParaRPr lang="en-US" sz="900" dirty="0"/>
          </a:p>
        </p:txBody>
      </p:sp>
      <p:sp>
        <p:nvSpPr>
          <p:cNvPr id="11" name="Text 9"/>
          <p:cNvSpPr/>
          <p:nvPr/>
        </p:nvSpPr>
        <p:spPr>
          <a:xfrm>
            <a:off x="640080" y="3822192"/>
            <a:ext cx="10881360" cy="228600"/>
          </a:xfrm>
          <a:prstGeom prst="rect">
            <a:avLst/>
          </a:prstGeom>
          <a:noFill/>
          <a:ln/>
        </p:spPr>
        <p:txBody>
          <a:bodyPr wrap="square" rtlCol="0" anchor="ctr"/>
          <a:lstStyle/>
          <a:p>
            <a:pPr indent="0" marL="0">
              <a:buNone/>
            </a:pPr>
            <a:r>
              <a:rPr lang="en-US" sz="1000" b="1" dirty="0">
                <a:solidFill>
                  <a:srgbClr val="1E3A5F"/>
                </a:solidFill>
                <a:latin typeface="Times New Roman" pitchFamily="34" charset="0"/>
                <a:ea typeface="Times New Roman" pitchFamily="34" charset="-122"/>
                <a:cs typeface="Times New Roman" pitchFamily="34" charset="-120"/>
              </a:rPr>
              <a:t>[Method] </a:t>
            </a:r>
            <a:endParaRPr lang="en-US" sz="1000" dirty="0"/>
          </a:p>
        </p:txBody>
      </p:sp>
      <p:sp>
        <p:nvSpPr>
          <p:cNvPr id="12" name="Text 10"/>
          <p:cNvSpPr/>
          <p:nvPr/>
        </p:nvSpPr>
        <p:spPr>
          <a:xfrm>
            <a:off x="777240" y="4050792"/>
            <a:ext cx="10607040" cy="146304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We develop a mixed-integer linear programming (MILP) model that integrates routing decisions with charging station selection, charging duration, and state-of-charge management. Time-dependent energy consumption is modeled as a function of vehicle load, speed, and road gradient. A customized Adaptive Large Neighborhood Search (ALNS) algorithm is designed with seven destroy operators and five repair operators, including charging-specific operators that relocate and adjust charging visits. The framework is validated using the Amsterdam urban delivery network with real-world charging station locations and traffic data.</a:t>
            </a:r>
            <a:endParaRPr lang="en-US" sz="900" dirty="0"/>
          </a:p>
        </p:txBody>
      </p:sp>
      <p:sp>
        <p:nvSpPr>
          <p:cNvPr id="13" name="Text 11"/>
          <p:cNvSpPr/>
          <p:nvPr/>
        </p:nvSpPr>
        <p:spPr>
          <a:xfrm>
            <a:off x="640080" y="5586984"/>
            <a:ext cx="10881360" cy="228600"/>
          </a:xfrm>
          <a:prstGeom prst="rect">
            <a:avLst/>
          </a:prstGeom>
          <a:noFill/>
          <a:ln/>
        </p:spPr>
        <p:txBody>
          <a:bodyPr wrap="square" rtlCol="0" anchor="ctr"/>
          <a:lstStyle/>
          <a:p>
            <a:pPr indent="0" marL="0">
              <a:buNone/>
            </a:pPr>
            <a:r>
              <a:rPr lang="en-US" sz="1000" b="1" dirty="0">
                <a:solidFill>
                  <a:srgbClr val="059669"/>
                </a:solidFill>
                <a:latin typeface="Times New Roman" pitchFamily="34" charset="0"/>
                <a:ea typeface="Times New Roman" pitchFamily="34" charset="-122"/>
                <a:cs typeface="Times New Roman" pitchFamily="34" charset="-120"/>
              </a:rPr>
              <a:t>[Results] </a:t>
            </a:r>
            <a:endParaRPr lang="en-US" sz="1000" dirty="0"/>
          </a:p>
        </p:txBody>
      </p:sp>
      <p:sp>
        <p:nvSpPr>
          <p:cNvPr id="14" name="Text 12"/>
          <p:cNvSpPr/>
          <p:nvPr/>
        </p:nvSpPr>
        <p:spPr>
          <a:xfrm>
            <a:off x="777240" y="5815584"/>
            <a:ext cx="10607040" cy="128016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Computational results show that the ALNS algorithm finds solutions within 3.2% of optimal for small instances (up to 25 customers) and scales effectively to problems with 200 customers. Partial charging policies reduce total operational time by 14.6% compared to full-charge-only strategies. The joint optimization framework achieves an 8.3% total cost reduction over sequential route-then-charge approaches. Sensitivity analysis reveals that charging infrastructure density exhibits diminishing marginal returns beyond 1.2 stations per square kilometer.</a:t>
            </a:r>
            <a:endParaRPr lang="en-US" sz="900" dirty="0"/>
          </a:p>
        </p:txBody>
      </p:sp>
      <p:sp>
        <p:nvSpPr>
          <p:cNvPr id="15" name="Text 13"/>
          <p:cNvSpPr/>
          <p:nvPr/>
        </p:nvSpPr>
        <p:spPr>
          <a:xfrm>
            <a:off x="640080" y="7168896"/>
            <a:ext cx="10881360" cy="228600"/>
          </a:xfrm>
          <a:prstGeom prst="rect">
            <a:avLst/>
          </a:prstGeom>
          <a:noFill/>
          <a:ln/>
        </p:spPr>
        <p:txBody>
          <a:bodyPr wrap="square" rtlCol="0" anchor="ctr"/>
          <a:lstStyle/>
          <a:p>
            <a:pPr indent="0" marL="0">
              <a:buNone/>
            </a:pPr>
            <a:r>
              <a:rPr lang="en-US" sz="1000" b="1" dirty="0">
                <a:solidFill>
                  <a:srgbClr val="7C3AED"/>
                </a:solidFill>
                <a:latin typeface="Times New Roman" pitchFamily="34" charset="0"/>
                <a:ea typeface="Times New Roman" pitchFamily="34" charset="-122"/>
                <a:cs typeface="Times New Roman" pitchFamily="34" charset="-120"/>
              </a:rPr>
              <a:t>[Conclusion] </a:t>
            </a:r>
            <a:endParaRPr lang="en-US" sz="1000" dirty="0"/>
          </a:p>
        </p:txBody>
      </p:sp>
      <p:sp>
        <p:nvSpPr>
          <p:cNvPr id="16" name="Text 14"/>
          <p:cNvSpPr/>
          <p:nvPr/>
        </p:nvSpPr>
        <p:spPr>
          <a:xfrm>
            <a:off x="777240" y="7397496"/>
            <a:ext cx="10607040" cy="73152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The proposed joint optimization framework effectively captures the interdependency between routing and charging decisions. Partial charging policies and time-dependent energy modeling significantly improve solution quality, providing practical guidelines for electric fleet operators transitioning to sustainable urban delivery operations.</a:t>
            </a:r>
            <a:endParaRPr lang="en-US" sz="900" dirty="0"/>
          </a:p>
        </p:txBody>
      </p:sp>
      <p:sp>
        <p:nvSpPr>
          <p:cNvPr id="17" name="Shape 15"/>
          <p:cNvSpPr/>
          <p:nvPr/>
        </p:nvSpPr>
        <p:spPr>
          <a:xfrm>
            <a:off x="731520" y="8247888"/>
            <a:ext cx="10725912" cy="13716"/>
          </a:xfrm>
          <a:prstGeom prst="rect">
            <a:avLst/>
          </a:prstGeom>
          <a:solidFill>
            <a:srgbClr val="E2E8F0"/>
          </a:solidFill>
          <a:ln/>
        </p:spPr>
      </p:sp>
      <p:sp>
        <p:nvSpPr>
          <p:cNvPr id="18" name="Text 16"/>
          <p:cNvSpPr/>
          <p:nvPr/>
        </p:nvSpPr>
        <p:spPr>
          <a:xfrm>
            <a:off x="640080" y="8385048"/>
            <a:ext cx="10908792" cy="320040"/>
          </a:xfrm>
          <a:prstGeom prst="rect">
            <a:avLst/>
          </a:prstGeom>
          <a:noFill/>
          <a:ln/>
        </p:spPr>
        <p:txBody>
          <a:bodyPr wrap="square" rtlCol="0" anchor="ctr"/>
          <a:lstStyle/>
          <a:p>
            <a:pPr indent="0" marL="0">
              <a:buNone/>
            </a:pPr>
            <a:r>
              <a:rPr lang="en-US" sz="900" i="1" dirty="0">
                <a:solidFill>
                  <a:srgbClr val="334155"/>
                </a:solidFill>
                <a:latin typeface="Times New Roman" pitchFamily="34" charset="0"/>
                <a:ea typeface="Times New Roman" pitchFamily="34" charset="-122"/>
                <a:cs typeface="Times New Roman" pitchFamily="34" charset="-120"/>
              </a:rPr>
              <a:t>Keywords: Electric vehicle routing; Charging scheduling; Adaptive Large Neighborhood Search; Time-dependent energy consumption; Partial charging; Sustainable logistics</a:t>
            </a:r>
            <a:endParaRPr lang="en-US" sz="900" dirty="0"/>
          </a:p>
        </p:txBody>
      </p:sp>
      <p:sp>
        <p:nvSpPr>
          <p:cNvPr id="19" name="Shape 17"/>
          <p:cNvSpPr/>
          <p:nvPr/>
        </p:nvSpPr>
        <p:spPr>
          <a:xfrm>
            <a:off x="0" y="6080760"/>
            <a:ext cx="12188952" cy="594360"/>
          </a:xfrm>
          <a:prstGeom prst="rect">
            <a:avLst/>
          </a:prstGeom>
          <a:solidFill>
            <a:srgbClr val="FEF3C7"/>
          </a:solidFill>
          <a:ln/>
        </p:spPr>
      </p:sp>
      <p:sp>
        <p:nvSpPr>
          <p:cNvPr id="20" name="Shape 18"/>
          <p:cNvSpPr/>
          <p:nvPr/>
        </p:nvSpPr>
        <p:spPr>
          <a:xfrm>
            <a:off x="0" y="6080760"/>
            <a:ext cx="73152" cy="594360"/>
          </a:xfrm>
          <a:prstGeom prst="rect">
            <a:avLst/>
          </a:prstGeom>
          <a:solidFill>
            <a:srgbClr val="D97706"/>
          </a:solidFill>
          <a:ln/>
        </p:spPr>
      </p:sp>
      <p:sp>
        <p:nvSpPr>
          <p:cNvPr id="21" name="Text 19"/>
          <p:cNvSpPr/>
          <p:nvPr/>
        </p:nvSpPr>
        <p:spPr>
          <a:xfrm>
            <a:off x="457200" y="6126480"/>
            <a:ext cx="11430000" cy="502920"/>
          </a:xfrm>
          <a:prstGeom prst="rect">
            <a:avLst/>
          </a:prstGeom>
          <a:noFill/>
          <a:ln/>
        </p:spPr>
        <p:txBody>
          <a:bodyPr wrap="square" rtlCol="0" anchor="ctr"/>
          <a:lstStyle/>
          <a:p>
            <a:pPr indent="0" marL="0">
              <a:buNone/>
            </a:pPr>
            <a:r>
              <a:rPr lang="en-US" sz="1000" dirty="0">
                <a:solidFill>
                  <a:srgbClr val="92400E"/>
                </a:solidFill>
                <a:latin typeface="Microsoft YaHei" pitchFamily="34" charset="0"/>
                <a:ea typeface="Microsoft YaHei" pitchFamily="34" charset="-122"/>
                <a:cs typeface="Microsoft YaHei" pitchFamily="34" charset="-120"/>
              </a:rPr>
              <a:t>Strong methodological contribution: customized ALNS with charging-specific operators. Policy insights derived from sensitivity analysis are a TR-E requirement.</a:t>
            </a:r>
            <a:endParaRPr lang="en-US" sz="1000" dirty="0"/>
          </a:p>
        </p:txBody>
      </p:sp>
      <p:sp>
        <p:nvSpPr>
          <p:cNvPr id="22" name="Shape 20"/>
          <p:cNvSpPr/>
          <p:nvPr/>
        </p:nvSpPr>
        <p:spPr>
          <a:xfrm>
            <a:off x="11320272" y="1005840"/>
            <a:ext cx="685800" cy="502920"/>
          </a:xfrm>
          <a:prstGeom prst="rect">
            <a:avLst>
              <a:gd name="adj" fmla="val 9091"/>
            </a:avLst>
          </a:prstGeom>
          <a:solidFill>
            <a:srgbClr val="1E3A5F"/>
          </a:solidFill>
          <a:ln/>
        </p:spPr>
      </p:sp>
      <p:sp>
        <p:nvSpPr>
          <p:cNvPr id="23" name="Text 21"/>
          <p:cNvSpPr/>
          <p:nvPr/>
        </p:nvSpPr>
        <p:spPr>
          <a:xfrm>
            <a:off x="11320272" y="1005840"/>
            <a:ext cx="685800" cy="502920"/>
          </a:xfrm>
          <a:prstGeom prst="rect">
            <a:avLst/>
          </a:prstGeom>
          <a:noFill/>
          <a:ln/>
        </p:spPr>
        <p:txBody>
          <a:bodyPr wrap="square" rtlCol="0" anchor="ctr"/>
          <a:lstStyle/>
          <a:p>
            <a:pPr algn="ctr" indent="0" marL="0">
              <a:buNone/>
            </a:pPr>
            <a:r>
              <a:rPr lang="en-US" sz="900" b="1" dirty="0">
                <a:solidFill>
                  <a:srgbClr val="FFFFFF"/>
                </a:solidFill>
                <a:latin typeface="Microsoft YaHei" pitchFamily="34" charset="0"/>
                <a:ea typeface="Microsoft YaHei" pitchFamily="34" charset="-122"/>
                <a:cs typeface="Microsoft YaHei" pitchFamily="34" charset="-120"/>
              </a:rPr>
              <a:t>Case</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12188952" cy="640080"/>
          </a:xfrm>
          <a:prstGeom prst="rect">
            <a:avLst/>
          </a:prstGeom>
          <a:solidFill>
            <a:srgbClr val="1E3A5F"/>
          </a:solidFill>
          <a:ln/>
        </p:spPr>
      </p:sp>
      <p:sp>
        <p:nvSpPr>
          <p:cNvPr id="3" name="Text 1"/>
          <p:cNvSpPr/>
          <p:nvPr/>
        </p:nvSpPr>
        <p:spPr>
          <a:xfrm>
            <a:off x="457200" y="91440"/>
            <a:ext cx="11274552" cy="457200"/>
          </a:xfrm>
          <a:prstGeom prst="rect">
            <a:avLst/>
          </a:prstGeom>
          <a:noFill/>
          <a:ln/>
        </p:spPr>
        <p:txBody>
          <a:bodyPr wrap="square"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Transportation Research Part E  |  Vol.196  |  Article 103XXX  |  2025</a:t>
            </a:r>
            <a:endParaRPr lang="en-US" sz="1100" dirty="0"/>
          </a:p>
        </p:txBody>
      </p:sp>
      <p:sp>
        <p:nvSpPr>
          <p:cNvPr id="4" name="Text 2"/>
          <p:cNvSpPr/>
          <p:nvPr/>
        </p:nvSpPr>
        <p:spPr>
          <a:xfrm>
            <a:off x="548640" y="822960"/>
            <a:ext cx="11091672" cy="731520"/>
          </a:xfrm>
          <a:prstGeom prst="rect">
            <a:avLst/>
          </a:prstGeom>
          <a:noFill/>
          <a:ln/>
        </p:spPr>
        <p:txBody>
          <a:bodyPr wrap="square" rtlCol="0" anchor="ctr"/>
          <a:lstStyle/>
          <a:p>
            <a:pPr indent="0" marL="0">
              <a:buNone/>
            </a:pPr>
            <a:r>
              <a:rPr lang="en-US" sz="1600" b="1" dirty="0">
                <a:solidFill>
                  <a:srgbClr val="0F172A"/>
                </a:solidFill>
                <a:latin typeface="Times New Roman" pitchFamily="34" charset="0"/>
                <a:ea typeface="Times New Roman" pitchFamily="34" charset="-122"/>
                <a:cs typeface="Times New Roman" pitchFamily="34" charset="-120"/>
              </a:rPr>
              <a:t>Spatial-temporal graph neural networks for large-scale transportation network state prediction and route optimization</a:t>
            </a:r>
            <a:endParaRPr lang="en-US" sz="1600" dirty="0"/>
          </a:p>
        </p:txBody>
      </p:sp>
      <p:sp>
        <p:nvSpPr>
          <p:cNvPr id="5" name="Text 3"/>
          <p:cNvSpPr/>
          <p:nvPr/>
        </p:nvSpPr>
        <p:spPr>
          <a:xfrm>
            <a:off x="548640" y="1554480"/>
            <a:ext cx="11091672" cy="320040"/>
          </a:xfrm>
          <a:prstGeom prst="rect">
            <a:avLst/>
          </a:prstGeom>
          <a:noFill/>
          <a:ln/>
        </p:spPr>
        <p:txBody>
          <a:bodyPr wrap="square" rtlCol="0" anchor="ctr"/>
          <a:lstStyle/>
          <a:p>
            <a:pPr algn="ctr" indent="0" marL="0">
              <a:buNone/>
            </a:pPr>
            <a:r>
              <a:rPr lang="en-US" sz="900" dirty="0">
                <a:solidFill>
                  <a:srgbClr val="334155"/>
                </a:solidFill>
                <a:latin typeface="Times New Roman" pitchFamily="34" charset="0"/>
                <a:ea typeface="Times New Roman" pitchFamily="34" charset="-122"/>
                <a:cs typeface="Times New Roman" pitchFamily="34" charset="-120"/>
              </a:rPr>
              <a:t>[Representative TR-E Author et al.]</a:t>
            </a:r>
            <a:endParaRPr lang="en-US" sz="900" dirty="0"/>
          </a:p>
        </p:txBody>
      </p:sp>
      <p:sp>
        <p:nvSpPr>
          <p:cNvPr id="6" name="Text 4"/>
          <p:cNvSpPr/>
          <p:nvPr/>
        </p:nvSpPr>
        <p:spPr>
          <a:xfrm>
            <a:off x="548640" y="1828800"/>
            <a:ext cx="11091672" cy="274320"/>
          </a:xfrm>
          <a:prstGeom prst="rect">
            <a:avLst/>
          </a:prstGeom>
          <a:noFill/>
          <a:ln/>
        </p:spPr>
        <p:txBody>
          <a:bodyPr wrap="square" rtlCol="0" anchor="ctr"/>
          <a:lstStyle/>
          <a:p>
            <a:pPr algn="ctr" indent="0" marL="0">
              <a:buNone/>
            </a:pPr>
            <a:r>
              <a:rPr lang="en-US" sz="800" i="1" dirty="0">
                <a:solidFill>
                  <a:srgbClr val="64748B"/>
                </a:solidFill>
                <a:latin typeface="Times New Roman" pitchFamily="34" charset="0"/>
                <a:ea typeface="Times New Roman" pitchFamily="34" charset="-122"/>
                <a:cs typeface="Times New Roman" pitchFamily="34" charset="-120"/>
              </a:rPr>
              <a:t>Transportation Research Part E: Logistics and Transportation Review</a:t>
            </a:r>
            <a:endParaRPr lang="en-US" sz="800" dirty="0"/>
          </a:p>
        </p:txBody>
      </p:sp>
      <p:sp>
        <p:nvSpPr>
          <p:cNvPr id="7" name="Shape 5"/>
          <p:cNvSpPr/>
          <p:nvPr/>
        </p:nvSpPr>
        <p:spPr>
          <a:xfrm>
            <a:off x="731520" y="2148840"/>
            <a:ext cx="10725912" cy="13716"/>
          </a:xfrm>
          <a:prstGeom prst="rect">
            <a:avLst/>
          </a:prstGeom>
          <a:solidFill>
            <a:srgbClr val="E2E8F0"/>
          </a:solidFill>
          <a:ln/>
        </p:spPr>
      </p:sp>
      <p:sp>
        <p:nvSpPr>
          <p:cNvPr id="8" name="Text 6"/>
          <p:cNvSpPr/>
          <p:nvPr/>
        </p:nvSpPr>
        <p:spPr>
          <a:xfrm>
            <a:off x="548640" y="2286000"/>
            <a:ext cx="914400" cy="274320"/>
          </a:xfrm>
          <a:prstGeom prst="rect">
            <a:avLst/>
          </a:prstGeom>
          <a:noFill/>
          <a:ln/>
        </p:spPr>
        <p:txBody>
          <a:bodyPr wrap="square" rtlCol="0" anchor="ctr"/>
          <a:lstStyle/>
          <a:p>
            <a:pPr indent="0" marL="0">
              <a:buNone/>
            </a:pPr>
            <a:r>
              <a:rPr lang="en-US" sz="1200" b="1" dirty="0">
                <a:solidFill>
                  <a:srgbClr val="0F172A"/>
                </a:solidFill>
                <a:latin typeface="Times New Roman" pitchFamily="34" charset="0"/>
                <a:ea typeface="Times New Roman" pitchFamily="34" charset="-122"/>
                <a:cs typeface="Times New Roman" pitchFamily="34" charset="-120"/>
              </a:rPr>
              <a:t>Abstract</a:t>
            </a:r>
            <a:endParaRPr lang="en-US" sz="1200" dirty="0"/>
          </a:p>
        </p:txBody>
      </p:sp>
      <p:sp>
        <p:nvSpPr>
          <p:cNvPr id="9" name="Text 7"/>
          <p:cNvSpPr/>
          <p:nvPr/>
        </p:nvSpPr>
        <p:spPr>
          <a:xfrm>
            <a:off x="640080" y="2606040"/>
            <a:ext cx="10881360" cy="228600"/>
          </a:xfrm>
          <a:prstGeom prst="rect">
            <a:avLst/>
          </a:prstGeom>
          <a:noFill/>
          <a:ln/>
        </p:spPr>
        <p:txBody>
          <a:bodyPr wrap="square" rtlCol="0" anchor="ctr"/>
          <a:lstStyle/>
          <a:p>
            <a:pPr indent="0" marL="0">
              <a:buNone/>
            </a:pPr>
            <a:r>
              <a:rPr lang="en-US" sz="1000" b="1" dirty="0">
                <a:solidFill>
                  <a:srgbClr val="DC2626"/>
                </a:solidFill>
                <a:latin typeface="Times New Roman" pitchFamily="34" charset="0"/>
                <a:ea typeface="Times New Roman" pitchFamily="34" charset="-122"/>
                <a:cs typeface="Times New Roman" pitchFamily="34" charset="-120"/>
              </a:rPr>
              <a:t>[Objective] </a:t>
            </a:r>
            <a:endParaRPr lang="en-US" sz="1000" dirty="0"/>
          </a:p>
        </p:txBody>
      </p:sp>
      <p:sp>
        <p:nvSpPr>
          <p:cNvPr id="10" name="Text 8"/>
          <p:cNvSpPr/>
          <p:nvPr/>
        </p:nvSpPr>
        <p:spPr>
          <a:xfrm>
            <a:off x="777240" y="2834640"/>
            <a:ext cx="10607040" cy="91440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This study leverages graph neural networks to address two interconnected transportation network optimization challenges: (1) accurate spatio-temporal traffic state prediction and (2) network-wide route optimization under predicted congestion patterns. The objective is to develop a unified deep learning framework that captures complex topological dependencies and dynamic traffic evolution for real-time decision support.</a:t>
            </a:r>
            <a:endParaRPr lang="en-US" sz="900" dirty="0"/>
          </a:p>
        </p:txBody>
      </p:sp>
      <p:sp>
        <p:nvSpPr>
          <p:cNvPr id="11" name="Text 9"/>
          <p:cNvSpPr/>
          <p:nvPr/>
        </p:nvSpPr>
        <p:spPr>
          <a:xfrm>
            <a:off x="640080" y="3822192"/>
            <a:ext cx="10881360" cy="228600"/>
          </a:xfrm>
          <a:prstGeom prst="rect">
            <a:avLst/>
          </a:prstGeom>
          <a:noFill/>
          <a:ln/>
        </p:spPr>
        <p:txBody>
          <a:bodyPr wrap="square" rtlCol="0" anchor="ctr"/>
          <a:lstStyle/>
          <a:p>
            <a:pPr indent="0" marL="0">
              <a:buNone/>
            </a:pPr>
            <a:r>
              <a:rPr lang="en-US" sz="1000" b="1" dirty="0">
                <a:solidFill>
                  <a:srgbClr val="1E3A5F"/>
                </a:solidFill>
                <a:latin typeface="Times New Roman" pitchFamily="34" charset="0"/>
                <a:ea typeface="Times New Roman" pitchFamily="34" charset="-122"/>
                <a:cs typeface="Times New Roman" pitchFamily="34" charset="-120"/>
              </a:rPr>
              <a:t>[Method] </a:t>
            </a:r>
            <a:endParaRPr lang="en-US" sz="1000" dirty="0"/>
          </a:p>
        </p:txBody>
      </p:sp>
      <p:sp>
        <p:nvSpPr>
          <p:cNvPr id="12" name="Text 10"/>
          <p:cNvSpPr/>
          <p:nvPr/>
        </p:nvSpPr>
        <p:spPr>
          <a:xfrm>
            <a:off x="777240" y="4050792"/>
            <a:ext cx="10607040" cy="146304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We propose a Spatial-Temporal Graph Convolutional Network (STGCN) with an attention-augmented decoder. The encoder employs multi-scale graph convolutional layers to capture spatial dependencies at local and global scales, while gated temporal convolutional layers model traffic flow evolution. A multi-task learning architecture jointly optimizes three objectives: traffic speed prediction, travel time estimation, and congestion hotspot identification. The framework is trained and validated on three months of high-resolution traffic data from the California PeMS system, covering 4,500 loop detectors across the Bay Area network.</a:t>
            </a:r>
            <a:endParaRPr lang="en-US" sz="900" dirty="0"/>
          </a:p>
        </p:txBody>
      </p:sp>
      <p:sp>
        <p:nvSpPr>
          <p:cNvPr id="13" name="Text 11"/>
          <p:cNvSpPr/>
          <p:nvPr/>
        </p:nvSpPr>
        <p:spPr>
          <a:xfrm>
            <a:off x="640080" y="5586984"/>
            <a:ext cx="10881360" cy="228600"/>
          </a:xfrm>
          <a:prstGeom prst="rect">
            <a:avLst/>
          </a:prstGeom>
          <a:noFill/>
          <a:ln/>
        </p:spPr>
        <p:txBody>
          <a:bodyPr wrap="square" rtlCol="0" anchor="ctr"/>
          <a:lstStyle/>
          <a:p>
            <a:pPr indent="0" marL="0">
              <a:buNone/>
            </a:pPr>
            <a:r>
              <a:rPr lang="en-US" sz="1000" b="1" dirty="0">
                <a:solidFill>
                  <a:srgbClr val="059669"/>
                </a:solidFill>
                <a:latin typeface="Times New Roman" pitchFamily="34" charset="0"/>
                <a:ea typeface="Times New Roman" pitchFamily="34" charset="-122"/>
                <a:cs typeface="Times New Roman" pitchFamily="34" charset="-120"/>
              </a:rPr>
              <a:t>[Results] </a:t>
            </a:r>
            <a:endParaRPr lang="en-US" sz="1000" dirty="0"/>
          </a:p>
        </p:txBody>
      </p:sp>
      <p:sp>
        <p:nvSpPr>
          <p:cNvPr id="14" name="Text 12"/>
          <p:cNvSpPr/>
          <p:nvPr/>
        </p:nvSpPr>
        <p:spPr>
          <a:xfrm>
            <a:off x="777240" y="5815584"/>
            <a:ext cx="10607040" cy="128016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On the PeMS benchmark, STGCN achieves 15.3% lower mean absolute percentage error compared to state-of-the-art methods including LSTM, GRU, and T-GCN across all prediction horizons (15, 30, and 60 minutes). For route optimization, the GNN-guided routing strategy reduces average travel time by 12.8% during peak hours and 7.2% during off-peak periods. Transfer learning experiments demonstrate effective knowledge transfer across different urban networks with only 30% target-domain fine-tuning data, maintaining 91.5% of the fully-trained model performance.</a:t>
            </a:r>
            <a:endParaRPr lang="en-US" sz="900" dirty="0"/>
          </a:p>
        </p:txBody>
      </p:sp>
      <p:sp>
        <p:nvSpPr>
          <p:cNvPr id="15" name="Text 13"/>
          <p:cNvSpPr/>
          <p:nvPr/>
        </p:nvSpPr>
        <p:spPr>
          <a:xfrm>
            <a:off x="640080" y="7168896"/>
            <a:ext cx="10881360" cy="228600"/>
          </a:xfrm>
          <a:prstGeom prst="rect">
            <a:avLst/>
          </a:prstGeom>
          <a:noFill/>
          <a:ln/>
        </p:spPr>
        <p:txBody>
          <a:bodyPr wrap="square" rtlCol="0" anchor="ctr"/>
          <a:lstStyle/>
          <a:p>
            <a:pPr indent="0" marL="0">
              <a:buNone/>
            </a:pPr>
            <a:r>
              <a:rPr lang="en-US" sz="1000" b="1" dirty="0">
                <a:solidFill>
                  <a:srgbClr val="7C3AED"/>
                </a:solidFill>
                <a:latin typeface="Times New Roman" pitchFamily="34" charset="0"/>
                <a:ea typeface="Times New Roman" pitchFamily="34" charset="-122"/>
                <a:cs typeface="Times New Roman" pitchFamily="34" charset="-120"/>
              </a:rPr>
              <a:t>[Conclusion] </a:t>
            </a:r>
            <a:endParaRPr lang="en-US" sz="1000" dirty="0"/>
          </a:p>
        </p:txBody>
      </p:sp>
      <p:sp>
        <p:nvSpPr>
          <p:cNvPr id="16" name="Text 14"/>
          <p:cNvSpPr/>
          <p:nvPr/>
        </p:nvSpPr>
        <p:spPr>
          <a:xfrm>
            <a:off x="777240" y="7397496"/>
            <a:ext cx="10607040" cy="91440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Graph neural networks provide a powerful and flexible paradigm for transportation network optimization, simultaneously enabling accurate multi-horizon traffic prediction and efficient routing decisions. The multi-task learning framework captures the inherent coupling between prediction and optimization tasks, while transfer learning capabilities reduce the data burden for deployment in new urban contexts.</a:t>
            </a:r>
            <a:endParaRPr lang="en-US" sz="900" dirty="0"/>
          </a:p>
        </p:txBody>
      </p:sp>
      <p:sp>
        <p:nvSpPr>
          <p:cNvPr id="17" name="Shape 15"/>
          <p:cNvSpPr/>
          <p:nvPr/>
        </p:nvSpPr>
        <p:spPr>
          <a:xfrm>
            <a:off x="731520" y="8430768"/>
            <a:ext cx="10725912" cy="13716"/>
          </a:xfrm>
          <a:prstGeom prst="rect">
            <a:avLst/>
          </a:prstGeom>
          <a:solidFill>
            <a:srgbClr val="E2E8F0"/>
          </a:solidFill>
          <a:ln/>
        </p:spPr>
      </p:sp>
      <p:sp>
        <p:nvSpPr>
          <p:cNvPr id="18" name="Text 16"/>
          <p:cNvSpPr/>
          <p:nvPr/>
        </p:nvSpPr>
        <p:spPr>
          <a:xfrm>
            <a:off x="640080" y="8567928"/>
            <a:ext cx="10908792" cy="320040"/>
          </a:xfrm>
          <a:prstGeom prst="rect">
            <a:avLst/>
          </a:prstGeom>
          <a:noFill/>
          <a:ln/>
        </p:spPr>
        <p:txBody>
          <a:bodyPr wrap="square" rtlCol="0" anchor="ctr"/>
          <a:lstStyle/>
          <a:p>
            <a:pPr indent="0" marL="0">
              <a:buNone/>
            </a:pPr>
            <a:r>
              <a:rPr lang="en-US" sz="900" i="1" dirty="0">
                <a:solidFill>
                  <a:srgbClr val="334155"/>
                </a:solidFill>
                <a:latin typeface="Times New Roman" pitchFamily="34" charset="0"/>
                <a:ea typeface="Times New Roman" pitchFamily="34" charset="-122"/>
                <a:cs typeface="Times New Roman" pitchFamily="34" charset="-120"/>
              </a:rPr>
              <a:t>Keywords: Graph neural networks; Spatial-temporal modeling; Traffic prediction; Route optimization; Multi-task learning; Transfer learning; Deep learning</a:t>
            </a:r>
            <a:endParaRPr lang="en-US" sz="900" dirty="0"/>
          </a:p>
        </p:txBody>
      </p:sp>
      <p:sp>
        <p:nvSpPr>
          <p:cNvPr id="19" name="Shape 17"/>
          <p:cNvSpPr/>
          <p:nvPr/>
        </p:nvSpPr>
        <p:spPr>
          <a:xfrm>
            <a:off x="0" y="6080760"/>
            <a:ext cx="12188952" cy="594360"/>
          </a:xfrm>
          <a:prstGeom prst="rect">
            <a:avLst/>
          </a:prstGeom>
          <a:solidFill>
            <a:srgbClr val="FEF3C7"/>
          </a:solidFill>
          <a:ln/>
        </p:spPr>
      </p:sp>
      <p:sp>
        <p:nvSpPr>
          <p:cNvPr id="20" name="Shape 18"/>
          <p:cNvSpPr/>
          <p:nvPr/>
        </p:nvSpPr>
        <p:spPr>
          <a:xfrm>
            <a:off x="0" y="6080760"/>
            <a:ext cx="73152" cy="594360"/>
          </a:xfrm>
          <a:prstGeom prst="rect">
            <a:avLst/>
          </a:prstGeom>
          <a:solidFill>
            <a:srgbClr val="D97706"/>
          </a:solidFill>
          <a:ln/>
        </p:spPr>
      </p:sp>
      <p:sp>
        <p:nvSpPr>
          <p:cNvPr id="21" name="Text 19"/>
          <p:cNvSpPr/>
          <p:nvPr/>
        </p:nvSpPr>
        <p:spPr>
          <a:xfrm>
            <a:off x="457200" y="6126480"/>
            <a:ext cx="11430000" cy="502920"/>
          </a:xfrm>
          <a:prstGeom prst="rect">
            <a:avLst/>
          </a:prstGeom>
          <a:noFill/>
          <a:ln/>
        </p:spPr>
        <p:txBody>
          <a:bodyPr wrap="square" rtlCol="0" anchor="ctr"/>
          <a:lstStyle/>
          <a:p>
            <a:pPr indent="0" marL="0">
              <a:buNone/>
            </a:pPr>
            <a:r>
              <a:rPr lang="en-US" sz="1000" dirty="0">
                <a:solidFill>
                  <a:srgbClr val="92400E"/>
                </a:solidFill>
                <a:latin typeface="Microsoft YaHei" pitchFamily="34" charset="0"/>
                <a:ea typeface="Microsoft YaHei" pitchFamily="34" charset="-122"/>
                <a:cs typeface="Microsoft YaHei" pitchFamily="34" charset="-120"/>
              </a:rPr>
              <a:t>Method contribution with multiple downstream applications. Transfer learning analysis demonstrates generalizability — a key TR-E review criterion for ML papers.</a:t>
            </a:r>
            <a:endParaRPr lang="en-US" sz="1000" dirty="0"/>
          </a:p>
        </p:txBody>
      </p:sp>
      <p:sp>
        <p:nvSpPr>
          <p:cNvPr id="22" name="Shape 20"/>
          <p:cNvSpPr/>
          <p:nvPr/>
        </p:nvSpPr>
        <p:spPr>
          <a:xfrm>
            <a:off x="11320272" y="1005840"/>
            <a:ext cx="685800" cy="502920"/>
          </a:xfrm>
          <a:prstGeom prst="rect">
            <a:avLst>
              <a:gd name="adj" fmla="val 9091"/>
            </a:avLst>
          </a:prstGeom>
          <a:solidFill>
            <a:srgbClr val="1E3A5F"/>
          </a:solidFill>
          <a:ln/>
        </p:spPr>
      </p:sp>
      <p:sp>
        <p:nvSpPr>
          <p:cNvPr id="23" name="Text 21"/>
          <p:cNvSpPr/>
          <p:nvPr/>
        </p:nvSpPr>
        <p:spPr>
          <a:xfrm>
            <a:off x="11320272" y="1005840"/>
            <a:ext cx="685800" cy="502920"/>
          </a:xfrm>
          <a:prstGeom prst="rect">
            <a:avLst/>
          </a:prstGeom>
          <a:noFill/>
          <a:ln/>
        </p:spPr>
        <p:txBody>
          <a:bodyPr wrap="square" rtlCol="0" anchor="ctr"/>
          <a:lstStyle/>
          <a:p>
            <a:pPr algn="ctr" indent="0" marL="0">
              <a:buNone/>
            </a:pPr>
            <a:r>
              <a:rPr lang="en-US" sz="900" b="1" dirty="0">
                <a:solidFill>
                  <a:srgbClr val="FFFFFF"/>
                </a:solidFill>
                <a:latin typeface="Microsoft YaHei" pitchFamily="34" charset="0"/>
                <a:ea typeface="Microsoft YaHei" pitchFamily="34" charset="-122"/>
                <a:cs typeface="Microsoft YaHei" pitchFamily="34" charset="-120"/>
              </a:rPr>
              <a:t>Case</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跨案例模式提取：结构特征对比</a:t>
            </a:r>
            <a:endParaRPr lang="en-US" sz="2800" dirty="0"/>
          </a:p>
        </p:txBody>
      </p:sp>
      <p:sp>
        <p:nvSpPr>
          <p:cNvPr id="4" name="Shape 2"/>
          <p:cNvSpPr/>
          <p:nvPr/>
        </p:nvSpPr>
        <p:spPr>
          <a:xfrm>
            <a:off x="731520" y="914400"/>
            <a:ext cx="2286000" cy="36576"/>
          </a:xfrm>
          <a:prstGeom prst="rect">
            <a:avLst/>
          </a:prstGeom>
          <a:solidFill>
            <a:srgbClr val="0D9488"/>
          </a:solidFill>
          <a:ln/>
        </p:spPr>
      </p:sp>
      <p:sp>
        <p:nvSpPr>
          <p:cNvPr id="5" name="Shape 3"/>
          <p:cNvSpPr/>
          <p:nvPr/>
        </p:nvSpPr>
        <p:spPr>
          <a:xfrm>
            <a:off x="457200" y="1280160"/>
            <a:ext cx="5394960" cy="2560320"/>
          </a:xfrm>
          <a:prstGeom prst="rect">
            <a:avLst>
              <a:gd name="adj" fmla="val 3571"/>
            </a:avLst>
          </a:prstGeom>
          <a:solidFill>
            <a:srgbClr val="FFFFFF"/>
          </a:solidFill>
          <a:ln/>
          <a:effectLst>
            <a:outerShdw sx="100000" sy="100000" kx="0" ky="0" algn="bl" rotWithShape="0" blurRad="50800" dist="12700" dir="16200000">
              <a:srgbClr val="CCCCCC">
                <a:alpha val="30000"/>
              </a:srgbClr>
            </a:outerShdw>
          </a:effectLst>
        </p:spPr>
      </p:sp>
      <p:sp>
        <p:nvSpPr>
          <p:cNvPr id="6" name="Shape 4"/>
          <p:cNvSpPr/>
          <p:nvPr/>
        </p:nvSpPr>
        <p:spPr>
          <a:xfrm>
            <a:off x="457200" y="1371600"/>
            <a:ext cx="54864" cy="2377440"/>
          </a:xfrm>
          <a:prstGeom prst="rect">
            <a:avLst/>
          </a:prstGeom>
          <a:solidFill>
            <a:srgbClr val="8B1A1A"/>
          </a:solidFill>
          <a:ln/>
        </p:spPr>
      </p:sp>
      <p:sp>
        <p:nvSpPr>
          <p:cNvPr id="7" name="Text 5"/>
          <p:cNvSpPr/>
          <p:nvPr/>
        </p:nvSpPr>
        <p:spPr>
          <a:xfrm>
            <a:off x="685800" y="1371600"/>
            <a:ext cx="502920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控制与决策 结构模式</a:t>
            </a:r>
            <a:endParaRPr lang="en-US" sz="1400" dirty="0"/>
          </a:p>
        </p:txBody>
      </p:sp>
      <p:sp>
        <p:nvSpPr>
          <p:cNvPr id="8" name="Text 6"/>
          <p:cNvSpPr/>
          <p:nvPr/>
        </p:nvSpPr>
        <p:spPr>
          <a:xfrm>
            <a:off x="685800" y="1737360"/>
            <a:ext cx="5029200" cy="196596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问题导向开篇：“针对...问题”</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四步递进方法：“首先...然后...接着...最后...”</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定量结果展示：百分比对比 (X%降幅)</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结论回归应用：“为...提供...方案”</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关键词精确覆盖方法+问题域</a:t>
            </a:r>
            <a:endParaRPr lang="en-US" sz="1100" dirty="0"/>
          </a:p>
        </p:txBody>
      </p:sp>
      <p:sp>
        <p:nvSpPr>
          <p:cNvPr id="9" name="Shape 7"/>
          <p:cNvSpPr/>
          <p:nvPr/>
        </p:nvSpPr>
        <p:spPr>
          <a:xfrm>
            <a:off x="6263640" y="1280160"/>
            <a:ext cx="5468112" cy="2560320"/>
          </a:xfrm>
          <a:prstGeom prst="rect">
            <a:avLst>
              <a:gd name="adj" fmla="val 3571"/>
            </a:avLst>
          </a:prstGeom>
          <a:solidFill>
            <a:srgbClr val="FFFFFF"/>
          </a:solidFill>
          <a:ln/>
          <a:effectLst>
            <a:outerShdw sx="100000" sy="100000" kx="0" ky="0" algn="bl" rotWithShape="0" blurRad="50800" dist="12700" dir="16200000">
              <a:srgbClr val="CCCCCC">
                <a:alpha val="30000"/>
              </a:srgbClr>
            </a:outerShdw>
          </a:effectLst>
        </p:spPr>
      </p:sp>
      <p:sp>
        <p:nvSpPr>
          <p:cNvPr id="10" name="Shape 8"/>
          <p:cNvSpPr/>
          <p:nvPr/>
        </p:nvSpPr>
        <p:spPr>
          <a:xfrm>
            <a:off x="6263640" y="1371600"/>
            <a:ext cx="54864" cy="2377440"/>
          </a:xfrm>
          <a:prstGeom prst="rect">
            <a:avLst/>
          </a:prstGeom>
          <a:solidFill>
            <a:srgbClr val="1E3A5F"/>
          </a:solidFill>
          <a:ln/>
        </p:spPr>
      </p:sp>
      <p:sp>
        <p:nvSpPr>
          <p:cNvPr id="11" name="Text 9"/>
          <p:cNvSpPr/>
          <p:nvPr/>
        </p:nvSpPr>
        <p:spPr>
          <a:xfrm>
            <a:off x="6492240" y="1371600"/>
            <a:ext cx="5102352"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TR-E Structure Patterns</a:t>
            </a:r>
            <a:endParaRPr lang="en-US" sz="1400" dirty="0"/>
          </a:p>
        </p:txBody>
      </p:sp>
      <p:sp>
        <p:nvSpPr>
          <p:cNvPr id="12" name="Text 10"/>
          <p:cNvSpPr/>
          <p:nvPr/>
        </p:nvSpPr>
        <p:spPr>
          <a:xfrm>
            <a:off x="6492240" y="1737360"/>
            <a:ext cx="5102352" cy="196596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Gap-driven opening: "This study addresses..."</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Sequential signposting: "First, ... Second, ... Then, ... Finally, ..."</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Multi-metric results: cost + environmental + statistical measures</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Managerial insights required: "provides practical guidelines for..."</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Explicit contribution statement in Introduction</a:t>
            </a:r>
            <a:endParaRPr lang="en-US" sz="1100" dirty="0"/>
          </a:p>
        </p:txBody>
      </p:sp>
      <p:sp>
        <p:nvSpPr>
          <p:cNvPr id="13" name="Shape 11"/>
          <p:cNvSpPr/>
          <p:nvPr/>
        </p:nvSpPr>
        <p:spPr>
          <a:xfrm>
            <a:off x="457200" y="4114800"/>
            <a:ext cx="11274552" cy="1828800"/>
          </a:xfrm>
          <a:prstGeom prst="rect">
            <a:avLst>
              <a:gd name="adj" fmla="val 5000"/>
            </a:avLst>
          </a:prstGeom>
          <a:solidFill>
            <a:srgbClr val="FFFFFF"/>
          </a:solidFill>
          <a:ln/>
          <a:effectLst>
            <a:outerShdw sx="100000" sy="100000" kx="0" ky="0" algn="bl" rotWithShape="0" blurRad="50800" dist="12700" dir="16200000">
              <a:srgbClr val="CCCCCC">
                <a:alpha val="30000"/>
              </a:srgbClr>
            </a:outerShdw>
          </a:effectLst>
        </p:spPr>
      </p:sp>
      <p:sp>
        <p:nvSpPr>
          <p:cNvPr id="14" name="Shape 12"/>
          <p:cNvSpPr/>
          <p:nvPr/>
        </p:nvSpPr>
        <p:spPr>
          <a:xfrm>
            <a:off x="457200" y="4206240"/>
            <a:ext cx="54864" cy="1645920"/>
          </a:xfrm>
          <a:prstGeom prst="rect">
            <a:avLst/>
          </a:prstGeom>
          <a:solidFill>
            <a:srgbClr val="0D9488"/>
          </a:solidFill>
          <a:ln/>
        </p:spPr>
      </p:sp>
      <p:sp>
        <p:nvSpPr>
          <p:cNvPr id="15" name="Text 13"/>
          <p:cNvSpPr/>
          <p:nvPr/>
        </p:nvSpPr>
        <p:spPr>
          <a:xfrm>
            <a:off x="685800" y="4206240"/>
            <a:ext cx="10908792"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关键差异与转化路径</a:t>
            </a:r>
            <a:endParaRPr lang="en-US" sz="1400" dirty="0"/>
          </a:p>
        </p:txBody>
      </p:sp>
      <p:sp>
        <p:nvSpPr>
          <p:cNvPr id="16" name="Text 14"/>
          <p:cNvSpPr/>
          <p:nvPr/>
        </p:nvSpPr>
        <p:spPr>
          <a:xfrm>
            <a:off x="685800" y="4572000"/>
            <a:ext cx="10908792" cy="123444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① 问题定义：控制与决策“工程问题导向” → TR-E“研究空白导向”</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② 方法论述：控制与决策“算法设计为主” → TR-E“数学模型+算法设计+管理启示”</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③ 结果展示：控制与决策“单一百分比” → TR-E“多指标+统计检验+灵敏度分析”</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④ 结论层次：控制与决策“方法有效性” → TR-E“理论贡献+实践指导+政策建议”</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中国学者常见问题诊断</a:t>
            </a:r>
            <a:endParaRPr lang="en-US" sz="2800" dirty="0"/>
          </a:p>
        </p:txBody>
      </p:sp>
      <p:sp>
        <p:nvSpPr>
          <p:cNvPr id="4" name="Shape 2"/>
          <p:cNvSpPr/>
          <p:nvPr/>
        </p:nvSpPr>
        <p:spPr>
          <a:xfrm>
            <a:off x="731520" y="914400"/>
            <a:ext cx="2286000" cy="36576"/>
          </a:xfrm>
          <a:prstGeom prst="rect">
            <a:avLst/>
          </a:prstGeom>
          <a:solidFill>
            <a:srgbClr val="0D9488"/>
          </a:solidFill>
          <a:ln/>
        </p:spPr>
      </p:sp>
      <p:sp>
        <p:nvSpPr>
          <p:cNvPr id="5" name="Shape 3"/>
          <p:cNvSpPr/>
          <p:nvPr/>
        </p:nvSpPr>
        <p:spPr>
          <a:xfrm>
            <a:off x="731520" y="1234440"/>
            <a:ext cx="10725912" cy="822960"/>
          </a:xfrm>
          <a:prstGeom prst="rect">
            <a:avLst>
              <a:gd name="adj" fmla="val 5556"/>
            </a:avLst>
          </a:prstGeom>
          <a:solidFill>
            <a:srgbClr val="FFFFFF"/>
          </a:solidFill>
          <a:ln/>
        </p:spPr>
      </p:sp>
      <p:sp>
        <p:nvSpPr>
          <p:cNvPr id="6" name="Shape 4"/>
          <p:cNvSpPr/>
          <p:nvPr/>
        </p:nvSpPr>
        <p:spPr>
          <a:xfrm>
            <a:off x="731520" y="1234440"/>
            <a:ext cx="54864" cy="822960"/>
          </a:xfrm>
          <a:prstGeom prst="rect">
            <a:avLst/>
          </a:prstGeom>
          <a:solidFill>
            <a:srgbClr val="DC2626"/>
          </a:solidFill>
          <a:ln/>
        </p:spPr>
      </p:sp>
      <p:sp>
        <p:nvSpPr>
          <p:cNvPr id="7" name="Text 5"/>
          <p:cNvSpPr/>
          <p:nvPr/>
        </p:nvSpPr>
        <p:spPr>
          <a:xfrm>
            <a:off x="1005840" y="1280160"/>
            <a:ext cx="10241280" cy="274320"/>
          </a:xfrm>
          <a:prstGeom prst="rect">
            <a:avLst/>
          </a:prstGeom>
          <a:noFill/>
          <a:ln/>
        </p:spPr>
        <p:txBody>
          <a:bodyPr wrap="square" rtlCol="0" anchor="ctr"/>
          <a:lstStyle/>
          <a:p>
            <a:pPr indent="0" marL="0">
              <a:buNone/>
            </a:pPr>
            <a:r>
              <a:rPr lang="en-US" sz="1300" b="1" dirty="0">
                <a:solidFill>
                  <a:srgbClr val="DC2626"/>
                </a:solidFill>
                <a:latin typeface="Microsoft YaHei" pitchFamily="34" charset="0"/>
                <a:ea typeface="Microsoft YaHei" pitchFamily="34" charset="-122"/>
                <a:cs typeface="Microsoft YaHei" pitchFamily="34" charset="-120"/>
              </a:rPr>
              <a:t>问题 1: 目的与方法混淆</a:t>
            </a:r>
            <a:endParaRPr lang="en-US" sz="1300" dirty="0"/>
          </a:p>
        </p:txBody>
      </p:sp>
      <p:sp>
        <p:nvSpPr>
          <p:cNvPr id="8" name="Text 6"/>
          <p:cNvSpPr/>
          <p:nvPr/>
        </p:nvSpPr>
        <p:spPr>
          <a:xfrm>
            <a:off x="1005840" y="1527048"/>
            <a:ext cx="10241280" cy="457200"/>
          </a:xfrm>
          <a:prstGeom prst="rect">
            <a:avLst/>
          </a:prstGeom>
          <a:noFill/>
          <a:ln/>
        </p:spPr>
        <p:txBody>
          <a:bodyPr wrap="square" rtlCol="0" anchor="t"/>
          <a:lstStyle/>
          <a:p>
            <a:pPr indent="0" marL="0">
              <a:lnSpc>
                <a:spcPct val="130000"/>
              </a:lnSpc>
              <a:buNone/>
            </a:pPr>
            <a:r>
              <a:rPr lang="en-US" sz="1000" dirty="0">
                <a:solidFill>
                  <a:srgbClr val="334155"/>
                </a:solidFill>
                <a:latin typeface="Microsoft YaHei" pitchFamily="34" charset="0"/>
                <a:ea typeface="Microsoft YaHei" pitchFamily="34" charset="-122"/>
                <a:cs typeface="Microsoft YaHei" pitchFamily="34" charset="-120"/>
              </a:rPr>
              <a:t>摘要中“本文提出...方法以解决...问题”将目的句与方法句合并，导致结构不清。应分离为: “针对[P]，提出[M]”。</a:t>
            </a:r>
            <a:endParaRPr lang="en-US" sz="1000" dirty="0"/>
          </a:p>
        </p:txBody>
      </p:sp>
      <p:sp>
        <p:nvSpPr>
          <p:cNvPr id="9" name="Shape 7"/>
          <p:cNvSpPr/>
          <p:nvPr/>
        </p:nvSpPr>
        <p:spPr>
          <a:xfrm>
            <a:off x="731520" y="2194560"/>
            <a:ext cx="10725912" cy="822960"/>
          </a:xfrm>
          <a:prstGeom prst="rect">
            <a:avLst>
              <a:gd name="adj" fmla="val 5556"/>
            </a:avLst>
          </a:prstGeom>
          <a:solidFill>
            <a:srgbClr val="FFFFFF"/>
          </a:solidFill>
          <a:ln/>
        </p:spPr>
      </p:sp>
      <p:sp>
        <p:nvSpPr>
          <p:cNvPr id="10" name="Shape 8"/>
          <p:cNvSpPr/>
          <p:nvPr/>
        </p:nvSpPr>
        <p:spPr>
          <a:xfrm>
            <a:off x="731520" y="2194560"/>
            <a:ext cx="54864" cy="822960"/>
          </a:xfrm>
          <a:prstGeom prst="rect">
            <a:avLst/>
          </a:prstGeom>
          <a:solidFill>
            <a:srgbClr val="059669"/>
          </a:solidFill>
          <a:ln/>
        </p:spPr>
      </p:sp>
      <p:sp>
        <p:nvSpPr>
          <p:cNvPr id="11" name="Text 9"/>
          <p:cNvSpPr/>
          <p:nvPr/>
        </p:nvSpPr>
        <p:spPr>
          <a:xfrm>
            <a:off x="1005840" y="2240280"/>
            <a:ext cx="10241280" cy="274320"/>
          </a:xfrm>
          <a:prstGeom prst="rect">
            <a:avLst/>
          </a:prstGeom>
          <a:noFill/>
          <a:ln/>
        </p:spPr>
        <p:txBody>
          <a:bodyPr wrap="square" rtlCol="0" anchor="ctr"/>
          <a:lstStyle/>
          <a:p>
            <a:pPr indent="0" marL="0">
              <a:buNone/>
            </a:pPr>
            <a:r>
              <a:rPr lang="en-US" sz="1300" b="1" dirty="0">
                <a:solidFill>
                  <a:srgbClr val="059669"/>
                </a:solidFill>
                <a:latin typeface="Microsoft YaHei" pitchFamily="34" charset="0"/>
                <a:ea typeface="Microsoft YaHei" pitchFamily="34" charset="-122"/>
                <a:cs typeface="Microsoft YaHei" pitchFamily="34" charset="-120"/>
              </a:rPr>
              <a:t>问题 2: 结果缺乏对比基线</a:t>
            </a:r>
            <a:endParaRPr lang="en-US" sz="1300" dirty="0"/>
          </a:p>
        </p:txBody>
      </p:sp>
      <p:sp>
        <p:nvSpPr>
          <p:cNvPr id="12" name="Text 10"/>
          <p:cNvSpPr/>
          <p:nvPr/>
        </p:nvSpPr>
        <p:spPr>
          <a:xfrm>
            <a:off x="1005840" y="2487168"/>
            <a:ext cx="10241280" cy="457200"/>
          </a:xfrm>
          <a:prstGeom prst="rect">
            <a:avLst/>
          </a:prstGeom>
          <a:noFill/>
          <a:ln/>
        </p:spPr>
        <p:txBody>
          <a:bodyPr wrap="square" rtlCol="0" anchor="t"/>
          <a:lstStyle/>
          <a:p>
            <a:pPr indent="0" marL="0">
              <a:lnSpc>
                <a:spcPct val="130000"/>
              </a:lnSpc>
              <a:buNone/>
            </a:pPr>
            <a:r>
              <a:rPr lang="en-US" sz="1000" dirty="0">
                <a:solidFill>
                  <a:srgbClr val="334155"/>
                </a:solidFill>
                <a:latin typeface="Microsoft YaHei" pitchFamily="34" charset="0"/>
                <a:ea typeface="Microsoft YaHei" pitchFamily="34" charset="-122"/>
                <a:cs typeface="Microsoft YaHei" pitchFamily="34" charset="-120"/>
              </a:rPr>
              <a:t>仅报告“本文方法取得良好效果”而未与典型方法对比。应明确“与X, Y, Z方法相比，本文方法将A指标提升B%”。</a:t>
            </a:r>
            <a:endParaRPr lang="en-US" sz="1000" dirty="0"/>
          </a:p>
        </p:txBody>
      </p:sp>
      <p:sp>
        <p:nvSpPr>
          <p:cNvPr id="13" name="Shape 11"/>
          <p:cNvSpPr/>
          <p:nvPr/>
        </p:nvSpPr>
        <p:spPr>
          <a:xfrm>
            <a:off x="731520" y="3154680"/>
            <a:ext cx="10725912" cy="822960"/>
          </a:xfrm>
          <a:prstGeom prst="rect">
            <a:avLst>
              <a:gd name="adj" fmla="val 5556"/>
            </a:avLst>
          </a:prstGeom>
          <a:solidFill>
            <a:srgbClr val="FFFFFF"/>
          </a:solidFill>
          <a:ln/>
        </p:spPr>
      </p:sp>
      <p:sp>
        <p:nvSpPr>
          <p:cNvPr id="14" name="Shape 12"/>
          <p:cNvSpPr/>
          <p:nvPr/>
        </p:nvSpPr>
        <p:spPr>
          <a:xfrm>
            <a:off x="731520" y="3154680"/>
            <a:ext cx="54864" cy="822960"/>
          </a:xfrm>
          <a:prstGeom prst="rect">
            <a:avLst/>
          </a:prstGeom>
          <a:solidFill>
            <a:srgbClr val="7C3AED"/>
          </a:solidFill>
          <a:ln/>
        </p:spPr>
      </p:sp>
      <p:sp>
        <p:nvSpPr>
          <p:cNvPr id="15" name="Text 13"/>
          <p:cNvSpPr/>
          <p:nvPr/>
        </p:nvSpPr>
        <p:spPr>
          <a:xfrm>
            <a:off x="1005840" y="3200400"/>
            <a:ext cx="10241280" cy="274320"/>
          </a:xfrm>
          <a:prstGeom prst="rect">
            <a:avLst/>
          </a:prstGeom>
          <a:noFill/>
          <a:ln/>
        </p:spPr>
        <p:txBody>
          <a:bodyPr wrap="square" rtlCol="0" anchor="ctr"/>
          <a:lstStyle/>
          <a:p>
            <a:pPr indent="0" marL="0">
              <a:buNone/>
            </a:pPr>
            <a:r>
              <a:rPr lang="en-US" sz="1300" b="1" dirty="0">
                <a:solidFill>
                  <a:srgbClr val="7C3AED"/>
                </a:solidFill>
                <a:latin typeface="Microsoft YaHei" pitchFamily="34" charset="0"/>
                <a:ea typeface="Microsoft YaHei" pitchFamily="34" charset="-122"/>
                <a:cs typeface="Microsoft YaHei" pitchFamily="34" charset="-120"/>
              </a:rPr>
              <a:t>问题 3: 结论空洞化</a:t>
            </a:r>
            <a:endParaRPr lang="en-US" sz="1300" dirty="0"/>
          </a:p>
        </p:txBody>
      </p:sp>
      <p:sp>
        <p:nvSpPr>
          <p:cNvPr id="16" name="Text 14"/>
          <p:cNvSpPr/>
          <p:nvPr/>
        </p:nvSpPr>
        <p:spPr>
          <a:xfrm>
            <a:off x="1005840" y="3447288"/>
            <a:ext cx="10241280" cy="457200"/>
          </a:xfrm>
          <a:prstGeom prst="rect">
            <a:avLst/>
          </a:prstGeom>
          <a:noFill/>
          <a:ln/>
        </p:spPr>
        <p:txBody>
          <a:bodyPr wrap="square" rtlCol="0" anchor="t"/>
          <a:lstStyle/>
          <a:p>
            <a:pPr indent="0" marL="0">
              <a:lnSpc>
                <a:spcPct val="130000"/>
              </a:lnSpc>
              <a:buNone/>
            </a:pPr>
            <a:r>
              <a:rPr lang="en-US" sz="1000" dirty="0">
                <a:solidFill>
                  <a:srgbClr val="334155"/>
                </a:solidFill>
                <a:latin typeface="Microsoft YaHei" pitchFamily="34" charset="0"/>
                <a:ea typeface="Microsoft YaHei" pitchFamily="34" charset="-122"/>
                <a:cs typeface="Microsoft YaHei" pitchFamily="34" charset="-120"/>
              </a:rPr>
              <a:t>“具有一定的理论意义和实践价值”过于空洞。应具体说明: “本研究为[X领域]提供了[Y方案]，可应用于[Z场景]”。</a:t>
            </a:r>
            <a:endParaRPr lang="en-US" sz="1000" dirty="0"/>
          </a:p>
        </p:txBody>
      </p:sp>
      <p:sp>
        <p:nvSpPr>
          <p:cNvPr id="17" name="Shape 15"/>
          <p:cNvSpPr/>
          <p:nvPr/>
        </p:nvSpPr>
        <p:spPr>
          <a:xfrm>
            <a:off x="731520" y="4114800"/>
            <a:ext cx="10725912" cy="822960"/>
          </a:xfrm>
          <a:prstGeom prst="rect">
            <a:avLst>
              <a:gd name="adj" fmla="val 5556"/>
            </a:avLst>
          </a:prstGeom>
          <a:solidFill>
            <a:srgbClr val="FFFFFF"/>
          </a:solidFill>
          <a:ln/>
        </p:spPr>
      </p:sp>
      <p:sp>
        <p:nvSpPr>
          <p:cNvPr id="18" name="Shape 16"/>
          <p:cNvSpPr/>
          <p:nvPr/>
        </p:nvSpPr>
        <p:spPr>
          <a:xfrm>
            <a:off x="731520" y="4114800"/>
            <a:ext cx="54864" cy="822960"/>
          </a:xfrm>
          <a:prstGeom prst="rect">
            <a:avLst/>
          </a:prstGeom>
          <a:solidFill>
            <a:srgbClr val="1E3A5F"/>
          </a:solidFill>
          <a:ln/>
        </p:spPr>
      </p:sp>
      <p:sp>
        <p:nvSpPr>
          <p:cNvPr id="19" name="Text 17"/>
          <p:cNvSpPr/>
          <p:nvPr/>
        </p:nvSpPr>
        <p:spPr>
          <a:xfrm>
            <a:off x="1005840" y="4160520"/>
            <a:ext cx="10241280" cy="274320"/>
          </a:xfrm>
          <a:prstGeom prst="rect">
            <a:avLst/>
          </a:prstGeom>
          <a:noFill/>
          <a:ln/>
        </p:spPr>
        <p:txBody>
          <a:bodyPr wrap="square" rtlCol="0" anchor="ctr"/>
          <a:lstStyle/>
          <a:p>
            <a:pPr indent="0" marL="0">
              <a:buNone/>
            </a:pPr>
            <a:r>
              <a:rPr lang="en-US" sz="1300" b="1" dirty="0">
                <a:solidFill>
                  <a:srgbClr val="1E3A5F"/>
                </a:solidFill>
                <a:latin typeface="Microsoft YaHei" pitchFamily="34" charset="0"/>
                <a:ea typeface="Microsoft YaHei" pitchFamily="34" charset="-122"/>
                <a:cs typeface="Microsoft YaHei" pitchFamily="34" charset="-120"/>
              </a:rPr>
              <a:t>问题 4: 方法描述缺乏逻辑链</a:t>
            </a:r>
            <a:endParaRPr lang="en-US" sz="1300" dirty="0"/>
          </a:p>
        </p:txBody>
      </p:sp>
      <p:sp>
        <p:nvSpPr>
          <p:cNvPr id="20" name="Text 18"/>
          <p:cNvSpPr/>
          <p:nvPr/>
        </p:nvSpPr>
        <p:spPr>
          <a:xfrm>
            <a:off x="1005840" y="4407408"/>
            <a:ext cx="10241280" cy="457200"/>
          </a:xfrm>
          <a:prstGeom prst="rect">
            <a:avLst/>
          </a:prstGeom>
          <a:noFill/>
          <a:ln/>
        </p:spPr>
        <p:txBody>
          <a:bodyPr wrap="square" rtlCol="0" anchor="t"/>
          <a:lstStyle/>
          <a:p>
            <a:pPr indent="0" marL="0">
              <a:lnSpc>
                <a:spcPct val="130000"/>
              </a:lnSpc>
              <a:buNone/>
            </a:pPr>
            <a:r>
              <a:rPr lang="en-US" sz="1000" dirty="0">
                <a:solidFill>
                  <a:srgbClr val="334155"/>
                </a:solidFill>
                <a:latin typeface="Microsoft YaHei" pitchFamily="34" charset="0"/>
                <a:ea typeface="Microsoft YaHei" pitchFamily="34" charset="-122"/>
                <a:cs typeface="Microsoft YaHei" pitchFamily="34" charset="-120"/>
              </a:rPr>
              <a:t>直接列举算法步骤而非用“首先-然后-接着-最后”组织逻辑，读者难以理解设计动机。</a:t>
            </a:r>
            <a:endParaRPr lang="en-US" sz="1000" dirty="0"/>
          </a:p>
        </p:txBody>
      </p:sp>
      <p:sp>
        <p:nvSpPr>
          <p:cNvPr id="21" name="Shape 19"/>
          <p:cNvSpPr/>
          <p:nvPr/>
        </p:nvSpPr>
        <p:spPr>
          <a:xfrm>
            <a:off x="731520" y="5074920"/>
            <a:ext cx="10725912" cy="822960"/>
          </a:xfrm>
          <a:prstGeom prst="rect">
            <a:avLst>
              <a:gd name="adj" fmla="val 5556"/>
            </a:avLst>
          </a:prstGeom>
          <a:solidFill>
            <a:srgbClr val="FFFFFF"/>
          </a:solidFill>
          <a:ln/>
        </p:spPr>
      </p:sp>
      <p:sp>
        <p:nvSpPr>
          <p:cNvPr id="22" name="Shape 20"/>
          <p:cNvSpPr/>
          <p:nvPr/>
        </p:nvSpPr>
        <p:spPr>
          <a:xfrm>
            <a:off x="731520" y="5074920"/>
            <a:ext cx="54864" cy="822960"/>
          </a:xfrm>
          <a:prstGeom prst="rect">
            <a:avLst/>
          </a:prstGeom>
          <a:solidFill>
            <a:srgbClr val="D97706"/>
          </a:solidFill>
          <a:ln/>
        </p:spPr>
      </p:sp>
      <p:sp>
        <p:nvSpPr>
          <p:cNvPr id="23" name="Text 21"/>
          <p:cNvSpPr/>
          <p:nvPr/>
        </p:nvSpPr>
        <p:spPr>
          <a:xfrm>
            <a:off x="1005840" y="5120640"/>
            <a:ext cx="10241280" cy="274320"/>
          </a:xfrm>
          <a:prstGeom prst="rect">
            <a:avLst/>
          </a:prstGeom>
          <a:noFill/>
          <a:ln/>
        </p:spPr>
        <p:txBody>
          <a:bodyPr wrap="square" rtlCol="0" anchor="ctr"/>
          <a:lstStyle/>
          <a:p>
            <a:pPr indent="0" marL="0">
              <a:buNone/>
            </a:pPr>
            <a:r>
              <a:rPr lang="en-US" sz="1300" b="1" dirty="0">
                <a:solidFill>
                  <a:srgbClr val="D97706"/>
                </a:solidFill>
                <a:latin typeface="Microsoft YaHei" pitchFamily="34" charset="0"/>
                <a:ea typeface="Microsoft YaHei" pitchFamily="34" charset="-122"/>
                <a:cs typeface="Microsoft YaHei" pitchFamily="34" charset="-120"/>
              </a:rPr>
              <a:t>问题 5: 跨刊转化时的“翻译体”问题</a:t>
            </a:r>
            <a:endParaRPr lang="en-US" sz="1300" dirty="0"/>
          </a:p>
        </p:txBody>
      </p:sp>
      <p:sp>
        <p:nvSpPr>
          <p:cNvPr id="24" name="Text 22"/>
          <p:cNvSpPr/>
          <p:nvPr/>
        </p:nvSpPr>
        <p:spPr>
          <a:xfrm>
            <a:off x="1005840" y="5367528"/>
            <a:ext cx="10241280" cy="457200"/>
          </a:xfrm>
          <a:prstGeom prst="rect">
            <a:avLst/>
          </a:prstGeom>
          <a:noFill/>
          <a:ln/>
        </p:spPr>
        <p:txBody>
          <a:bodyPr wrap="square" rtlCol="0" anchor="t"/>
          <a:lstStyle/>
          <a:p>
            <a:pPr indent="0" marL="0">
              <a:lnSpc>
                <a:spcPct val="130000"/>
              </a:lnSpc>
              <a:buNone/>
            </a:pPr>
            <a:r>
              <a:rPr lang="en-US" sz="1000" dirty="0">
                <a:solidFill>
                  <a:srgbClr val="334155"/>
                </a:solidFill>
                <a:latin typeface="Microsoft YaHei" pitchFamily="34" charset="0"/>
                <a:ea typeface="Microsoft YaHei" pitchFamily="34" charset="-122"/>
                <a:cs typeface="Microsoft YaHei" pitchFamily="34" charset="-120"/>
              </a:rPr>
              <a:t>直接中译英而非用英文学术思维重写，导致TR-E编辑认为“缺乏国际视角”。</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从控制与决策到TR-E的写作转化策略</a:t>
            </a:r>
            <a:endParaRPr lang="en-US" sz="2800" dirty="0"/>
          </a:p>
        </p:txBody>
      </p:sp>
      <p:sp>
        <p:nvSpPr>
          <p:cNvPr id="4" name="Shape 2"/>
          <p:cNvSpPr/>
          <p:nvPr/>
        </p:nvSpPr>
        <p:spPr>
          <a:xfrm>
            <a:off x="731520" y="914400"/>
            <a:ext cx="2286000" cy="36576"/>
          </a:xfrm>
          <a:prstGeom prst="rect">
            <a:avLst/>
          </a:prstGeom>
          <a:solidFill>
            <a:srgbClr val="0D9488"/>
          </a:solidFill>
          <a:ln/>
        </p:spPr>
      </p:sp>
      <p:sp>
        <p:nvSpPr>
          <p:cNvPr id="5" name="Shape 3"/>
          <p:cNvSpPr/>
          <p:nvPr/>
        </p:nvSpPr>
        <p:spPr>
          <a:xfrm>
            <a:off x="731520" y="1188720"/>
            <a:ext cx="5212080" cy="1828800"/>
          </a:xfrm>
          <a:prstGeom prst="rect">
            <a:avLst>
              <a:gd name="adj" fmla="val 5000"/>
            </a:avLst>
          </a:prstGeom>
          <a:solidFill>
            <a:srgbClr val="FFFFFF"/>
          </a:solidFill>
          <a:ln/>
          <a:effectLst>
            <a:outerShdw sx="100000" sy="100000" kx="0" ky="0" algn="bl" rotWithShape="0" blurRad="50800" dist="12700" dir="16200000">
              <a:srgbClr val="CCCCCC">
                <a:alpha val="30000"/>
              </a:srgbClr>
            </a:outerShdw>
          </a:effectLst>
        </p:spPr>
      </p:sp>
      <p:sp>
        <p:nvSpPr>
          <p:cNvPr id="6" name="Shape 4"/>
          <p:cNvSpPr/>
          <p:nvPr/>
        </p:nvSpPr>
        <p:spPr>
          <a:xfrm>
            <a:off x="731520" y="1280160"/>
            <a:ext cx="54864" cy="1645920"/>
          </a:xfrm>
          <a:prstGeom prst="rect">
            <a:avLst/>
          </a:prstGeom>
          <a:solidFill>
            <a:srgbClr val="0D9488"/>
          </a:solidFill>
          <a:ln/>
        </p:spPr>
      </p:sp>
      <p:sp>
        <p:nvSpPr>
          <p:cNvPr id="7" name="Text 5"/>
          <p:cNvSpPr/>
          <p:nvPr/>
        </p:nvSpPr>
        <p:spPr>
          <a:xfrm>
            <a:off x="960120" y="1280160"/>
            <a:ext cx="484632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策略一：结构重构</a:t>
            </a:r>
            <a:endParaRPr lang="en-US" sz="1400" dirty="0"/>
          </a:p>
        </p:txBody>
      </p:sp>
      <p:sp>
        <p:nvSpPr>
          <p:cNvPr id="8" name="Text 6"/>
          <p:cNvSpPr/>
          <p:nvPr/>
        </p:nvSpPr>
        <p:spPr>
          <a:xfrm>
            <a:off x="960120" y="1645920"/>
            <a:ext cx="4846320" cy="123444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将“目的-方法-结果-结论”重组为IMRaD。将“结论”扩展为“Discussion”，增加Managerial Insights小节。</a:t>
            </a:r>
            <a:endParaRPr lang="en-US" sz="1100" dirty="0"/>
          </a:p>
        </p:txBody>
      </p:sp>
      <p:sp>
        <p:nvSpPr>
          <p:cNvPr id="9" name="Shape 7"/>
          <p:cNvSpPr/>
          <p:nvPr/>
        </p:nvSpPr>
        <p:spPr>
          <a:xfrm>
            <a:off x="6263640" y="1188720"/>
            <a:ext cx="5212080" cy="1828800"/>
          </a:xfrm>
          <a:prstGeom prst="rect">
            <a:avLst>
              <a:gd name="adj" fmla="val 5000"/>
            </a:avLst>
          </a:prstGeom>
          <a:solidFill>
            <a:srgbClr val="FFFFFF"/>
          </a:solidFill>
          <a:ln/>
          <a:effectLst>
            <a:outerShdw sx="100000" sy="100000" kx="0" ky="0" algn="bl" rotWithShape="0" blurRad="50800" dist="12700" dir="16200000">
              <a:srgbClr val="CCCCCC">
                <a:alpha val="30000"/>
              </a:srgbClr>
            </a:outerShdw>
          </a:effectLst>
        </p:spPr>
      </p:sp>
      <p:sp>
        <p:nvSpPr>
          <p:cNvPr id="10" name="Shape 8"/>
          <p:cNvSpPr/>
          <p:nvPr/>
        </p:nvSpPr>
        <p:spPr>
          <a:xfrm>
            <a:off x="6263640" y="1280160"/>
            <a:ext cx="54864" cy="1645920"/>
          </a:xfrm>
          <a:prstGeom prst="rect">
            <a:avLst/>
          </a:prstGeom>
          <a:solidFill>
            <a:srgbClr val="0D9488"/>
          </a:solidFill>
          <a:ln/>
        </p:spPr>
      </p:sp>
      <p:sp>
        <p:nvSpPr>
          <p:cNvPr id="11" name="Text 9"/>
          <p:cNvSpPr/>
          <p:nvPr/>
        </p:nvSpPr>
        <p:spPr>
          <a:xfrm>
            <a:off x="6492240" y="1280160"/>
            <a:ext cx="484632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策略二：问题定义国际化</a:t>
            </a:r>
            <a:endParaRPr lang="en-US" sz="1400" dirty="0"/>
          </a:p>
        </p:txBody>
      </p:sp>
      <p:sp>
        <p:nvSpPr>
          <p:cNvPr id="12" name="Text 10"/>
          <p:cNvSpPr/>
          <p:nvPr/>
        </p:nvSpPr>
        <p:spPr>
          <a:xfrm>
            <a:off x="6492240" y="1645920"/>
            <a:ext cx="4846320" cy="123444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将“针对某某工程问题”转化为“填补某某研究空白”，引用国际前沿文献定位贡献。</a:t>
            </a:r>
            <a:endParaRPr lang="en-US" sz="1100" dirty="0"/>
          </a:p>
        </p:txBody>
      </p:sp>
      <p:sp>
        <p:nvSpPr>
          <p:cNvPr id="13" name="Shape 11"/>
          <p:cNvSpPr/>
          <p:nvPr/>
        </p:nvSpPr>
        <p:spPr>
          <a:xfrm>
            <a:off x="731520" y="3291840"/>
            <a:ext cx="5212080" cy="1828800"/>
          </a:xfrm>
          <a:prstGeom prst="rect">
            <a:avLst>
              <a:gd name="adj" fmla="val 5000"/>
            </a:avLst>
          </a:prstGeom>
          <a:solidFill>
            <a:srgbClr val="FFFFFF"/>
          </a:solidFill>
          <a:ln/>
          <a:effectLst>
            <a:outerShdw sx="100000" sy="100000" kx="0" ky="0" algn="bl" rotWithShape="0" blurRad="50800" dist="12700" dir="16200000">
              <a:srgbClr val="CCCCCC">
                <a:alpha val="30000"/>
              </a:srgbClr>
            </a:outerShdw>
          </a:effectLst>
        </p:spPr>
      </p:sp>
      <p:sp>
        <p:nvSpPr>
          <p:cNvPr id="14" name="Shape 12"/>
          <p:cNvSpPr/>
          <p:nvPr/>
        </p:nvSpPr>
        <p:spPr>
          <a:xfrm>
            <a:off x="731520" y="3383280"/>
            <a:ext cx="54864" cy="1645920"/>
          </a:xfrm>
          <a:prstGeom prst="rect">
            <a:avLst/>
          </a:prstGeom>
          <a:solidFill>
            <a:srgbClr val="0D9488"/>
          </a:solidFill>
          <a:ln/>
        </p:spPr>
      </p:sp>
      <p:sp>
        <p:nvSpPr>
          <p:cNvPr id="15" name="Text 13"/>
          <p:cNvSpPr/>
          <p:nvPr/>
        </p:nvSpPr>
        <p:spPr>
          <a:xfrm>
            <a:off x="960120" y="3383280"/>
            <a:ext cx="484632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策略三：结果升级化</a:t>
            </a:r>
            <a:endParaRPr lang="en-US" sz="1400" dirty="0"/>
          </a:p>
        </p:txBody>
      </p:sp>
      <p:sp>
        <p:nvSpPr>
          <p:cNvPr id="16" name="Text 14"/>
          <p:cNvSpPr/>
          <p:nvPr/>
        </p:nvSpPr>
        <p:spPr>
          <a:xfrm>
            <a:off x="960120" y="3749040"/>
            <a:ext cx="4846320" cy="123444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在百分比对比基础上增加：统计显著性检验、灵敏度分析、消融实验、泛化性验证。</a:t>
            </a:r>
            <a:endParaRPr lang="en-US" sz="1100" dirty="0"/>
          </a:p>
        </p:txBody>
      </p:sp>
      <p:sp>
        <p:nvSpPr>
          <p:cNvPr id="17" name="Shape 15"/>
          <p:cNvSpPr/>
          <p:nvPr/>
        </p:nvSpPr>
        <p:spPr>
          <a:xfrm>
            <a:off x="6263640" y="3291840"/>
            <a:ext cx="5212080" cy="1828800"/>
          </a:xfrm>
          <a:prstGeom prst="rect">
            <a:avLst>
              <a:gd name="adj" fmla="val 5000"/>
            </a:avLst>
          </a:prstGeom>
          <a:solidFill>
            <a:srgbClr val="FFFFFF"/>
          </a:solidFill>
          <a:ln/>
          <a:effectLst>
            <a:outerShdw sx="100000" sy="100000" kx="0" ky="0" algn="bl" rotWithShape="0" blurRad="50800" dist="12700" dir="16200000">
              <a:srgbClr val="CCCCCC">
                <a:alpha val="30000"/>
              </a:srgbClr>
            </a:outerShdw>
          </a:effectLst>
        </p:spPr>
      </p:sp>
      <p:sp>
        <p:nvSpPr>
          <p:cNvPr id="18" name="Shape 16"/>
          <p:cNvSpPr/>
          <p:nvPr/>
        </p:nvSpPr>
        <p:spPr>
          <a:xfrm>
            <a:off x="6263640" y="3383280"/>
            <a:ext cx="54864" cy="1645920"/>
          </a:xfrm>
          <a:prstGeom prst="rect">
            <a:avLst/>
          </a:prstGeom>
          <a:solidFill>
            <a:srgbClr val="0D9488"/>
          </a:solidFill>
          <a:ln/>
        </p:spPr>
      </p:sp>
      <p:sp>
        <p:nvSpPr>
          <p:cNvPr id="19" name="Text 17"/>
          <p:cNvSpPr/>
          <p:nvPr/>
        </p:nvSpPr>
        <p:spPr>
          <a:xfrm>
            <a:off x="6492240" y="3383280"/>
            <a:ext cx="484632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策略四：语言思维转变</a:t>
            </a:r>
            <a:endParaRPr lang="en-US" sz="1400" dirty="0"/>
          </a:p>
        </p:txBody>
      </p:sp>
      <p:sp>
        <p:nvSpPr>
          <p:cNvPr id="20" name="Text 18"/>
          <p:cNvSpPr/>
          <p:nvPr/>
        </p:nvSpPr>
        <p:spPr>
          <a:xfrm>
            <a:off x="6492240" y="3749040"/>
            <a:ext cx="4846320" cy="123444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避免直接中译英。使用TR-E高频句型: “This study contributes to the literature by...”, “Our findings suggest that...”</a:t>
            </a:r>
            <a:endParaRPr lang="en-US" sz="1100" dirty="0"/>
          </a:p>
        </p:txBody>
      </p:sp>
      <p:sp>
        <p:nvSpPr>
          <p:cNvPr id="21" name="Shape 19"/>
          <p:cNvSpPr/>
          <p:nvPr/>
        </p:nvSpPr>
        <p:spPr>
          <a:xfrm>
            <a:off x="731520" y="5486400"/>
            <a:ext cx="10725912" cy="640080"/>
          </a:xfrm>
          <a:prstGeom prst="rect">
            <a:avLst>
              <a:gd name="adj" fmla="val 7143"/>
            </a:avLst>
          </a:prstGeom>
          <a:solidFill>
            <a:srgbClr val="FEF3C7"/>
          </a:solidFill>
          <a:ln/>
        </p:spPr>
      </p:sp>
      <p:sp>
        <p:nvSpPr>
          <p:cNvPr id="22" name="Text 20"/>
          <p:cNvSpPr/>
          <p:nvPr/>
        </p:nvSpPr>
        <p:spPr>
          <a:xfrm>
            <a:off x="914400" y="5486400"/>
            <a:ext cx="10360152" cy="640080"/>
          </a:xfrm>
          <a:prstGeom prst="rect">
            <a:avLst/>
          </a:prstGeom>
          <a:noFill/>
          <a:ln/>
        </p:spPr>
        <p:txBody>
          <a:bodyPr wrap="square" rtlCol="0" anchor="ctr"/>
          <a:lstStyle/>
          <a:p>
            <a:pPr indent="0" marL="0">
              <a:buNone/>
            </a:pPr>
            <a:r>
              <a:rPr lang="en-US" sz="1200" b="1" dirty="0">
                <a:solidFill>
                  <a:srgbClr val="92400E"/>
                </a:solidFill>
                <a:latin typeface="Microsoft YaHei" pitchFamily="34" charset="0"/>
                <a:ea typeface="Microsoft YaHei" pitchFamily="34" charset="-122"/>
                <a:cs typeface="Microsoft YaHei" pitchFamily="34" charset="-120"/>
              </a:rPr>
              <a:t>核心原则：不是“翻译”而是“重写”。用目标期刊的思维框架重新组织研究内容，而非简单地将中文论文转化为英文。</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优化方案一：结构映射与句型模板库</a:t>
            </a:r>
            <a:endParaRPr lang="en-US" sz="2800" dirty="0"/>
          </a:p>
        </p:txBody>
      </p:sp>
      <p:sp>
        <p:nvSpPr>
          <p:cNvPr id="4" name="Shape 2"/>
          <p:cNvSpPr/>
          <p:nvPr/>
        </p:nvSpPr>
        <p:spPr>
          <a:xfrm>
            <a:off x="731520" y="914400"/>
            <a:ext cx="2286000" cy="36576"/>
          </a:xfrm>
          <a:prstGeom prst="rect">
            <a:avLst/>
          </a:prstGeom>
          <a:solidFill>
            <a:srgbClr val="0D9488"/>
          </a:solidFill>
          <a:ln/>
        </p:spPr>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11274552" cy="914400"/>
        </p:xfrm>
        <a:graphic>
          <a:graphicData uri="http://schemas.openxmlformats.org/drawingml/2006/table">
            <a:tbl>
              <a:tblPr/>
              <a:tblGrid>
                <a:gridCol w="2377440"/>
                <a:gridCol w="548640"/>
                <a:gridCol w="3200400"/>
                <a:gridCol w="5148072"/>
              </a:tblGrid>
              <a:tr h="411480">
                <a:tc>
                  <a:txBody>
                    <a:bodyP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控制与决策段落</a:t>
                      </a:r>
                      <a:endParaRPr lang="en-US" sz="1200" dirty="0">
                        <a:latin typeface="Microsoft YaHei" charset="0"/>
                        <a:ea typeface="Microsoft YaHei" charset="0"/>
                        <a:cs typeface="Microsoft YaHe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B1A1A"/>
                    </a:solidFill>
                  </a:tcPr>
                </a:tc>
                <a:tc>
                  <a:txBody>
                    <a:bodyPr/>
                    <a:lstStyle/>
                    <a:p>
                      <a:pPr algn="ctr" indent="0" marL="0">
                        <a:buNone/>
                      </a:pPr>
                      <a:r>
                        <a:rPr lang="en-US" sz="1400" b="1" dirty="0">
                          <a:solidFill>
                            <a:srgbClr val="0D9488"/>
                          </a:solidFill>
                        </a:rPr>
                        <a:t>→</a:t>
                      </a:r>
                      <a:endParaRPr lang="en-US" sz="14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TR-E Section</a:t>
                      </a:r>
                      <a:endParaRPr lang="en-US" sz="1200" dirty="0">
                        <a:latin typeface="Microsoft YaHei" charset="0"/>
                        <a:ea typeface="Microsoft YaHei" charset="0"/>
                        <a:cs typeface="Microsoft YaHe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关键句型模板</a:t>
                      </a:r>
                      <a:endParaRPr lang="en-US" sz="1100" dirty="0">
                        <a:latin typeface="Microsoft YaHei" charset="0"/>
                        <a:ea typeface="Microsoft YaHei" charset="0"/>
                        <a:cs typeface="Microsoft YaHe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r>
              <a:tr h="822960">
                <a:tc>
                  <a:txBody>
                    <a:bodyPr/>
                    <a:lstStyle/>
                    <a:p>
                      <a:pPr indent="0" marL="0">
                        <a:buNone/>
                      </a:pPr>
                      <a:r>
                        <a:rPr lang="en-US" sz="1100" b="1" dirty="0">
                          <a:solidFill>
                            <a:srgbClr val="DC2626"/>
                          </a:solidFill>
                          <a:latin typeface="Microsoft YaHei" pitchFamily="34" charset="0"/>
                          <a:ea typeface="Microsoft YaHei" pitchFamily="34" charset="-122"/>
                          <a:cs typeface="Microsoft YaHei" pitchFamily="34" charset="-120"/>
                        </a:rPr>
                        <a:t>目的（问题描述）</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D9488"/>
                          </a:solidFill>
                        </a:rPr>
                        <a:t>→</a:t>
                      </a:r>
                      <a:endParaRPr lang="en-US" sz="14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Times New Roman" pitchFamily="34" charset="0"/>
                          <a:ea typeface="Times New Roman" pitchFamily="34" charset="-122"/>
                          <a:cs typeface="Times New Roman" pitchFamily="34" charset="-120"/>
                        </a:rPr>
                        <a:t>Introduction</a:t>
                      </a:r>
                      <a:endParaRPr lang="en-US" sz="1000" dirty="0">
                        <a:latin typeface="Times New Roman" charset="0"/>
                        <a:ea typeface="Times New Roman" charset="0"/>
                        <a:cs typeface="Times New Roman" charset="0"/>
                      </a:endParaRPr>
                    </a:p>
                    <a:p>
                      <a:pPr indent="0" marL="0">
                        <a:buNone/>
                      </a:pPr>
                      <a:r>
                        <a:rPr lang="en-US" sz="1000" dirty="0">
                          <a:solidFill>
                            <a:srgbClr val="0F172A"/>
                          </a:solidFill>
                          <a:latin typeface="Times New Roman" pitchFamily="34" charset="0"/>
                          <a:ea typeface="Times New Roman" pitchFamily="34" charset="-122"/>
                          <a:cs typeface="Times New Roman" pitchFamily="34" charset="-120"/>
                        </a:rPr>
                        <a:t>(Research gap &amp; contribution)</a:t>
                      </a:r>
                      <a:endParaRPr lang="en-US" sz="1000" dirty="0">
                        <a:latin typeface="Times New Roman" charset="0"/>
                        <a:ea typeface="Times New Roman" charset="0"/>
                        <a:cs typeface="Times New Roman"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00" i="1" dirty="0">
                          <a:solidFill>
                            <a:srgbClr val="334155"/>
                          </a:solidFill>
                          <a:latin typeface="Times New Roman" pitchFamily="34" charset="0"/>
                          <a:ea typeface="Times New Roman" pitchFamily="34" charset="-122"/>
                          <a:cs typeface="Times New Roman" pitchFamily="34" charset="-120"/>
                        </a:rPr>
                        <a:t>"Despite extensive research on..., the problem of... remains underexplored."</a:t>
                      </a:r>
                      <a:endParaRPr lang="en-US" sz="900" dirty="0">
                        <a:latin typeface="Times New Roman" charset="0"/>
                        <a:ea typeface="Times New Roman" charset="0"/>
                        <a:cs typeface="Times New Roman"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822960">
                <a:tc>
                  <a:txBody>
                    <a:bodyPr/>
                    <a:lstStyle/>
                    <a:p>
                      <a:pPr indent="0" marL="0">
                        <a:buNone/>
                      </a:pPr>
                      <a:r>
                        <a:rPr lang="en-US" sz="1100" b="1" dirty="0">
                          <a:solidFill>
                            <a:srgbClr val="1E3A5F"/>
                          </a:solidFill>
                          <a:latin typeface="Microsoft YaHei" pitchFamily="34" charset="0"/>
                          <a:ea typeface="Microsoft YaHei" pitchFamily="34" charset="-122"/>
                          <a:cs typeface="Microsoft YaHei" pitchFamily="34" charset="-120"/>
                        </a:rPr>
                        <a:t>方法（模型+算法）</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0D9488"/>
                          </a:solidFill>
                        </a:rPr>
                        <a:t>→</a:t>
                      </a:r>
                      <a:endParaRPr lang="en-US" sz="14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000" dirty="0">
                          <a:solidFill>
                            <a:srgbClr val="0F172A"/>
                          </a:solidFill>
                          <a:latin typeface="Times New Roman" pitchFamily="34" charset="0"/>
                          <a:ea typeface="Times New Roman" pitchFamily="34" charset="-122"/>
                          <a:cs typeface="Times New Roman" pitchFamily="34" charset="-120"/>
                        </a:rPr>
                        <a:t>Methodology</a:t>
                      </a:r>
                      <a:endParaRPr lang="en-US" sz="1000" dirty="0">
                        <a:latin typeface="Times New Roman" charset="0"/>
                        <a:ea typeface="Times New Roman" charset="0"/>
                        <a:cs typeface="Times New Roman" charset="0"/>
                      </a:endParaRPr>
                    </a:p>
                    <a:p>
                      <a:pPr indent="0" marL="0">
                        <a:buNone/>
                      </a:pPr>
                      <a:r>
                        <a:rPr lang="en-US" sz="1000" dirty="0">
                          <a:solidFill>
                            <a:srgbClr val="0F172A"/>
                          </a:solidFill>
                          <a:latin typeface="Times New Roman" pitchFamily="34" charset="0"/>
                          <a:ea typeface="Times New Roman" pitchFamily="34" charset="-122"/>
                          <a:cs typeface="Times New Roman" pitchFamily="34" charset="-120"/>
                        </a:rPr>
                        <a:t>(Model + Solution approach)</a:t>
                      </a:r>
                      <a:endParaRPr lang="en-US" sz="1000" dirty="0">
                        <a:latin typeface="Times New Roman" charset="0"/>
                        <a:ea typeface="Times New Roman" charset="0"/>
                        <a:cs typeface="Times New Roman"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900" i="1" dirty="0">
                          <a:solidFill>
                            <a:srgbClr val="334155"/>
                          </a:solidFill>
                          <a:latin typeface="Times New Roman" pitchFamily="34" charset="0"/>
                          <a:ea typeface="Times New Roman" pitchFamily="34" charset="-122"/>
                          <a:cs typeface="Times New Roman" pitchFamily="34" charset="-120"/>
                        </a:rPr>
                        <a:t>"We formulate... as... and develop a... algorithm that..."</a:t>
                      </a:r>
                      <a:endParaRPr lang="en-US" sz="900" dirty="0">
                        <a:latin typeface="Times New Roman" charset="0"/>
                        <a:ea typeface="Times New Roman" charset="0"/>
                        <a:cs typeface="Times New Roman"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822960">
                <a:tc>
                  <a:txBody>
                    <a:bodyPr/>
                    <a:lstStyle/>
                    <a:p>
                      <a:pPr indent="0" marL="0">
                        <a:buNone/>
                      </a:pPr>
                      <a:r>
                        <a:rPr lang="en-US" sz="1100" b="1" dirty="0">
                          <a:solidFill>
                            <a:srgbClr val="059669"/>
                          </a:solidFill>
                          <a:latin typeface="Microsoft YaHei" pitchFamily="34" charset="0"/>
                          <a:ea typeface="Microsoft YaHei" pitchFamily="34" charset="-122"/>
                          <a:cs typeface="Microsoft YaHei" pitchFamily="34" charset="-120"/>
                        </a:rPr>
                        <a:t>结果（实验对比）</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D9488"/>
                          </a:solidFill>
                        </a:rPr>
                        <a:t>→</a:t>
                      </a:r>
                      <a:endParaRPr lang="en-US" sz="14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Times New Roman" pitchFamily="34" charset="0"/>
                          <a:ea typeface="Times New Roman" pitchFamily="34" charset="-122"/>
                          <a:cs typeface="Times New Roman" pitchFamily="34" charset="-120"/>
                        </a:rPr>
                        <a:t>Results</a:t>
                      </a:r>
                      <a:endParaRPr lang="en-US" sz="1000" dirty="0">
                        <a:latin typeface="Times New Roman" charset="0"/>
                        <a:ea typeface="Times New Roman" charset="0"/>
                        <a:cs typeface="Times New Roman" charset="0"/>
                      </a:endParaRPr>
                    </a:p>
                    <a:p>
                      <a:pPr indent="0" marL="0">
                        <a:buNone/>
                      </a:pPr>
                      <a:r>
                        <a:rPr lang="en-US" sz="1000" dirty="0">
                          <a:solidFill>
                            <a:srgbClr val="0F172A"/>
                          </a:solidFill>
                          <a:latin typeface="Times New Roman" pitchFamily="34" charset="0"/>
                          <a:ea typeface="Times New Roman" pitchFamily="34" charset="-122"/>
                          <a:cs typeface="Times New Roman" pitchFamily="34" charset="-120"/>
                        </a:rPr>
                        <a:t>(Experiments + Sensitivity)</a:t>
                      </a:r>
                      <a:endParaRPr lang="en-US" sz="1000" dirty="0">
                        <a:latin typeface="Times New Roman" charset="0"/>
                        <a:ea typeface="Times New Roman" charset="0"/>
                        <a:cs typeface="Times New Roman"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00" i="1" dirty="0">
                          <a:solidFill>
                            <a:srgbClr val="334155"/>
                          </a:solidFill>
                          <a:latin typeface="Times New Roman" pitchFamily="34" charset="0"/>
                          <a:ea typeface="Times New Roman" pitchFamily="34" charset="-122"/>
                          <a:cs typeface="Times New Roman" pitchFamily="34" charset="-120"/>
                        </a:rPr>
                        <a:t>"Our approach achieves a X% reduction in... compared to... (p&lt;0.01)."</a:t>
                      </a:r>
                      <a:endParaRPr lang="en-US" sz="900" dirty="0">
                        <a:latin typeface="Times New Roman" charset="0"/>
                        <a:ea typeface="Times New Roman" charset="0"/>
                        <a:cs typeface="Times New Roman"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822960">
                <a:tc>
                  <a:txBody>
                    <a:bodyPr/>
                    <a:lstStyle/>
                    <a:p>
                      <a:pPr indent="0" marL="0">
                        <a:buNone/>
                      </a:pPr>
                      <a:r>
                        <a:rPr lang="en-US" sz="1100" b="1" dirty="0">
                          <a:solidFill>
                            <a:srgbClr val="7C3AED"/>
                          </a:solidFill>
                          <a:latin typeface="Microsoft YaHei" pitchFamily="34" charset="0"/>
                          <a:ea typeface="Microsoft YaHei" pitchFamily="34" charset="-122"/>
                          <a:cs typeface="Microsoft YaHei" pitchFamily="34" charset="-120"/>
                        </a:rPr>
                        <a:t>结论（方法价值）</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0D9488"/>
                          </a:solidFill>
                        </a:rPr>
                        <a:t>→</a:t>
                      </a:r>
                      <a:endParaRPr lang="en-US" sz="14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000" dirty="0">
                          <a:solidFill>
                            <a:srgbClr val="0F172A"/>
                          </a:solidFill>
                          <a:latin typeface="Times New Roman" pitchFamily="34" charset="0"/>
                          <a:ea typeface="Times New Roman" pitchFamily="34" charset="-122"/>
                          <a:cs typeface="Times New Roman" pitchFamily="34" charset="-120"/>
                        </a:rPr>
                        <a:t>Discussion &amp; Conclusions</a:t>
                      </a:r>
                      <a:endParaRPr lang="en-US" sz="1000" dirty="0">
                        <a:latin typeface="Times New Roman" charset="0"/>
                        <a:ea typeface="Times New Roman" charset="0"/>
                        <a:cs typeface="Times New Roman" charset="0"/>
                      </a:endParaRPr>
                    </a:p>
                    <a:p>
                      <a:pPr indent="0" marL="0">
                        <a:buNone/>
                      </a:pPr>
                      <a:r>
                        <a:rPr lang="en-US" sz="1000" dirty="0">
                          <a:solidFill>
                            <a:srgbClr val="0F172A"/>
                          </a:solidFill>
                          <a:latin typeface="Times New Roman" pitchFamily="34" charset="0"/>
                          <a:ea typeface="Times New Roman" pitchFamily="34" charset="-122"/>
                          <a:cs typeface="Times New Roman" pitchFamily="34" charset="-120"/>
                        </a:rPr>
                        <a:t>(Implications + Limitations)</a:t>
                      </a:r>
                      <a:endParaRPr lang="en-US" sz="1000" dirty="0">
                        <a:latin typeface="Times New Roman" charset="0"/>
                        <a:ea typeface="Times New Roman" charset="0"/>
                        <a:cs typeface="Times New Roman"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900" i="1" dirty="0">
                          <a:solidFill>
                            <a:srgbClr val="334155"/>
                          </a:solidFill>
                          <a:latin typeface="Times New Roman" pitchFamily="34" charset="0"/>
                          <a:ea typeface="Times New Roman" pitchFamily="34" charset="-122"/>
                          <a:cs typeface="Times New Roman" pitchFamily="34" charset="-120"/>
                        </a:rPr>
                        <a:t>"Our findings offer practical guidelines for... Future research could explore..."</a:t>
                      </a:r>
                      <a:endParaRPr lang="en-US" sz="900" dirty="0">
                        <a:latin typeface="Times New Roman" charset="0"/>
                        <a:ea typeface="Times New Roman" charset="0"/>
                        <a:cs typeface="Times New Roman"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优化方案二：TR-E高频句型模板库</a:t>
            </a:r>
            <a:endParaRPr lang="en-US" sz="2800" dirty="0"/>
          </a:p>
        </p:txBody>
      </p:sp>
      <p:sp>
        <p:nvSpPr>
          <p:cNvPr id="4" name="Shape 2"/>
          <p:cNvSpPr/>
          <p:nvPr/>
        </p:nvSpPr>
        <p:spPr>
          <a:xfrm>
            <a:off x="731520" y="914400"/>
            <a:ext cx="2286000" cy="36576"/>
          </a:xfrm>
          <a:prstGeom prst="rect">
            <a:avLst/>
          </a:prstGeom>
          <a:solidFill>
            <a:srgbClr val="0D9488"/>
          </a:solidFill>
          <a:ln/>
        </p:spPr>
      </p:sp>
      <p:sp>
        <p:nvSpPr>
          <p:cNvPr id="5" name="Shape 3"/>
          <p:cNvSpPr/>
          <p:nvPr/>
        </p:nvSpPr>
        <p:spPr>
          <a:xfrm>
            <a:off x="457200" y="1188720"/>
            <a:ext cx="5440680" cy="2377440"/>
          </a:xfrm>
          <a:prstGeom prst="rect">
            <a:avLst>
              <a:gd name="adj" fmla="val 3846"/>
            </a:avLst>
          </a:prstGeom>
          <a:solidFill>
            <a:srgbClr val="FFFFFF"/>
          </a:solidFill>
          <a:ln/>
          <a:effectLst>
            <a:outerShdw sx="100000" sy="100000" kx="0" ky="0" algn="bl" rotWithShape="0" blurRad="50800" dist="12700" dir="16200000">
              <a:srgbClr val="CCCCCC">
                <a:alpha val="30000"/>
              </a:srgbClr>
            </a:outerShdw>
          </a:effectLst>
        </p:spPr>
      </p:sp>
      <p:sp>
        <p:nvSpPr>
          <p:cNvPr id="6" name="Shape 4"/>
          <p:cNvSpPr/>
          <p:nvPr/>
        </p:nvSpPr>
        <p:spPr>
          <a:xfrm>
            <a:off x="457200" y="1280160"/>
            <a:ext cx="54864" cy="2194560"/>
          </a:xfrm>
          <a:prstGeom prst="rect">
            <a:avLst/>
          </a:prstGeom>
          <a:solidFill>
            <a:srgbClr val="DC2626"/>
          </a:solidFill>
          <a:ln/>
        </p:spPr>
      </p:sp>
      <p:sp>
        <p:nvSpPr>
          <p:cNvPr id="7" name="Text 5"/>
          <p:cNvSpPr/>
          <p:nvPr/>
        </p:nvSpPr>
        <p:spPr>
          <a:xfrm>
            <a:off x="685800" y="1280160"/>
            <a:ext cx="507492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Introduction</a:t>
            </a:r>
            <a:endParaRPr lang="en-US" sz="1400" dirty="0"/>
          </a:p>
        </p:txBody>
      </p:sp>
      <p:sp>
        <p:nvSpPr>
          <p:cNvPr id="8" name="Text 6"/>
          <p:cNvSpPr/>
          <p:nvPr/>
        </p:nvSpPr>
        <p:spPr>
          <a:xfrm>
            <a:off x="685800" y="1645920"/>
            <a:ext cx="5074920" cy="178308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1. "While prior studies have investigated..., limited attention has been paid to..."</a:t>
            </a:r>
            <a:endParaRPr lang="en-US" sz="1100" dirty="0"/>
          </a:p>
          <a:p>
            <a:pPr indent="0" marL="0">
              <a:lnSpc>
                <a:spcPct val="130000"/>
              </a:lnSpc>
              <a:buNone/>
            </a:pP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2. "To address this gap, we propose a novel... framework that..."</a:t>
            </a:r>
            <a:endParaRPr lang="en-US" sz="1100" dirty="0"/>
          </a:p>
          <a:p>
            <a:pPr indent="0" marL="0">
              <a:lnSpc>
                <a:spcPct val="130000"/>
              </a:lnSpc>
              <a:buNone/>
            </a:pP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3. "This study makes three main contributions to the literature: (1)... (2)... (3)..."</a:t>
            </a:r>
            <a:endParaRPr lang="en-US" sz="1100" dirty="0"/>
          </a:p>
        </p:txBody>
      </p:sp>
      <p:sp>
        <p:nvSpPr>
          <p:cNvPr id="9" name="Shape 7"/>
          <p:cNvSpPr/>
          <p:nvPr/>
        </p:nvSpPr>
        <p:spPr>
          <a:xfrm>
            <a:off x="6217920" y="1188720"/>
            <a:ext cx="5440680" cy="2377440"/>
          </a:xfrm>
          <a:prstGeom prst="rect">
            <a:avLst>
              <a:gd name="adj" fmla="val 3846"/>
            </a:avLst>
          </a:prstGeom>
          <a:solidFill>
            <a:srgbClr val="FFFFFF"/>
          </a:solidFill>
          <a:ln/>
          <a:effectLst>
            <a:outerShdw sx="100000" sy="100000" kx="0" ky="0" algn="bl" rotWithShape="0" blurRad="50800" dist="12700" dir="16200000">
              <a:srgbClr val="CCCCCC">
                <a:alpha val="30000"/>
              </a:srgbClr>
            </a:outerShdw>
          </a:effectLst>
        </p:spPr>
      </p:sp>
      <p:sp>
        <p:nvSpPr>
          <p:cNvPr id="10" name="Shape 8"/>
          <p:cNvSpPr/>
          <p:nvPr/>
        </p:nvSpPr>
        <p:spPr>
          <a:xfrm>
            <a:off x="6217920" y="1280160"/>
            <a:ext cx="54864" cy="2194560"/>
          </a:xfrm>
          <a:prstGeom prst="rect">
            <a:avLst/>
          </a:prstGeom>
          <a:solidFill>
            <a:srgbClr val="1E3A5F"/>
          </a:solidFill>
          <a:ln/>
        </p:spPr>
      </p:sp>
      <p:sp>
        <p:nvSpPr>
          <p:cNvPr id="11" name="Text 9"/>
          <p:cNvSpPr/>
          <p:nvPr/>
        </p:nvSpPr>
        <p:spPr>
          <a:xfrm>
            <a:off x="6446520" y="1280160"/>
            <a:ext cx="507492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Methodology</a:t>
            </a:r>
            <a:endParaRPr lang="en-US" sz="1400" dirty="0"/>
          </a:p>
        </p:txBody>
      </p:sp>
      <p:sp>
        <p:nvSpPr>
          <p:cNvPr id="12" name="Text 10"/>
          <p:cNvSpPr/>
          <p:nvPr/>
        </p:nvSpPr>
        <p:spPr>
          <a:xfrm>
            <a:off x="6446520" y="1645920"/>
            <a:ext cx="5074920" cy="178308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1. "We formulate the problem as a... model with the objective of minimizing..."</a:t>
            </a:r>
            <a:endParaRPr lang="en-US" sz="1100" dirty="0"/>
          </a:p>
          <a:p>
            <a:pPr indent="0" marL="0">
              <a:lnSpc>
                <a:spcPct val="130000"/>
              </a:lnSpc>
              <a:buNone/>
            </a:pP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2. "To solve the model efficiently, we develop a customized... algorithm incorporating..."</a:t>
            </a:r>
            <a:endParaRPr lang="en-US" sz="1100" dirty="0"/>
          </a:p>
          <a:p>
            <a:pPr indent="0" marL="0">
              <a:lnSpc>
                <a:spcPct val="130000"/>
              </a:lnSpc>
              <a:buNone/>
            </a:pP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3. "The key innovation of our approach lies in the... mechanism, which enables..."</a:t>
            </a:r>
            <a:endParaRPr lang="en-US" sz="1100" dirty="0"/>
          </a:p>
        </p:txBody>
      </p:sp>
      <p:sp>
        <p:nvSpPr>
          <p:cNvPr id="13" name="Shape 11"/>
          <p:cNvSpPr/>
          <p:nvPr/>
        </p:nvSpPr>
        <p:spPr>
          <a:xfrm>
            <a:off x="457200" y="3840480"/>
            <a:ext cx="5440680" cy="2377440"/>
          </a:xfrm>
          <a:prstGeom prst="rect">
            <a:avLst>
              <a:gd name="adj" fmla="val 3846"/>
            </a:avLst>
          </a:prstGeom>
          <a:solidFill>
            <a:srgbClr val="FFFFFF"/>
          </a:solidFill>
          <a:ln/>
          <a:effectLst>
            <a:outerShdw sx="100000" sy="100000" kx="0" ky="0" algn="bl" rotWithShape="0" blurRad="50800" dist="12700" dir="16200000">
              <a:srgbClr val="CCCCCC">
                <a:alpha val="30000"/>
              </a:srgbClr>
            </a:outerShdw>
          </a:effectLst>
        </p:spPr>
      </p:sp>
      <p:sp>
        <p:nvSpPr>
          <p:cNvPr id="14" name="Shape 12"/>
          <p:cNvSpPr/>
          <p:nvPr/>
        </p:nvSpPr>
        <p:spPr>
          <a:xfrm>
            <a:off x="457200" y="3931920"/>
            <a:ext cx="54864" cy="2194560"/>
          </a:xfrm>
          <a:prstGeom prst="rect">
            <a:avLst/>
          </a:prstGeom>
          <a:solidFill>
            <a:srgbClr val="059669"/>
          </a:solidFill>
          <a:ln/>
        </p:spPr>
      </p:sp>
      <p:sp>
        <p:nvSpPr>
          <p:cNvPr id="15" name="Text 13"/>
          <p:cNvSpPr/>
          <p:nvPr/>
        </p:nvSpPr>
        <p:spPr>
          <a:xfrm>
            <a:off x="685800" y="3931920"/>
            <a:ext cx="507492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Results</a:t>
            </a:r>
            <a:endParaRPr lang="en-US" sz="1400" dirty="0"/>
          </a:p>
        </p:txBody>
      </p:sp>
      <p:sp>
        <p:nvSpPr>
          <p:cNvPr id="16" name="Text 14"/>
          <p:cNvSpPr/>
          <p:nvPr/>
        </p:nvSpPr>
        <p:spPr>
          <a:xfrm>
            <a:off x="685800" y="4297680"/>
            <a:ext cx="5074920" cy="178308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1. "Our computational experiments reveal that... outperforms... by X% on average."</a:t>
            </a:r>
            <a:endParaRPr lang="en-US" sz="1100" dirty="0"/>
          </a:p>
          <a:p>
            <a:pPr indent="0" marL="0">
              <a:lnSpc>
                <a:spcPct val="130000"/>
              </a:lnSpc>
              <a:buNone/>
            </a:pP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2. "Sensitivity analysis shows that the parameter... has the most significant impact on..."</a:t>
            </a:r>
            <a:endParaRPr lang="en-US" sz="1100" dirty="0"/>
          </a:p>
          <a:p>
            <a:pPr indent="0" marL="0">
              <a:lnSpc>
                <a:spcPct val="130000"/>
              </a:lnSpc>
              <a:buNone/>
            </a:pP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3. "The ablation study confirms that each component contributes to the overall performance."</a:t>
            </a:r>
            <a:endParaRPr lang="en-US" sz="1100" dirty="0"/>
          </a:p>
        </p:txBody>
      </p:sp>
      <p:sp>
        <p:nvSpPr>
          <p:cNvPr id="17" name="Shape 15"/>
          <p:cNvSpPr/>
          <p:nvPr/>
        </p:nvSpPr>
        <p:spPr>
          <a:xfrm>
            <a:off x="6217920" y="3840480"/>
            <a:ext cx="5440680" cy="2377440"/>
          </a:xfrm>
          <a:prstGeom prst="rect">
            <a:avLst>
              <a:gd name="adj" fmla="val 3846"/>
            </a:avLst>
          </a:prstGeom>
          <a:solidFill>
            <a:srgbClr val="FFFFFF"/>
          </a:solidFill>
          <a:ln/>
          <a:effectLst>
            <a:outerShdw sx="100000" sy="100000" kx="0" ky="0" algn="bl" rotWithShape="0" blurRad="50800" dist="12700" dir="16200000">
              <a:srgbClr val="CCCCCC">
                <a:alpha val="30000"/>
              </a:srgbClr>
            </a:outerShdw>
          </a:effectLst>
        </p:spPr>
      </p:sp>
      <p:sp>
        <p:nvSpPr>
          <p:cNvPr id="18" name="Shape 16"/>
          <p:cNvSpPr/>
          <p:nvPr/>
        </p:nvSpPr>
        <p:spPr>
          <a:xfrm>
            <a:off x="6217920" y="3931920"/>
            <a:ext cx="54864" cy="2194560"/>
          </a:xfrm>
          <a:prstGeom prst="rect">
            <a:avLst/>
          </a:prstGeom>
          <a:solidFill>
            <a:srgbClr val="7C3AED"/>
          </a:solidFill>
          <a:ln/>
        </p:spPr>
      </p:sp>
      <p:sp>
        <p:nvSpPr>
          <p:cNvPr id="19" name="Text 17"/>
          <p:cNvSpPr/>
          <p:nvPr/>
        </p:nvSpPr>
        <p:spPr>
          <a:xfrm>
            <a:off x="6446520" y="3931920"/>
            <a:ext cx="507492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Discussion/Conclusion</a:t>
            </a:r>
            <a:endParaRPr lang="en-US" sz="1400" dirty="0"/>
          </a:p>
        </p:txBody>
      </p:sp>
      <p:sp>
        <p:nvSpPr>
          <p:cNvPr id="20" name="Text 18"/>
          <p:cNvSpPr/>
          <p:nvPr/>
        </p:nvSpPr>
        <p:spPr>
          <a:xfrm>
            <a:off x="6446520" y="4297680"/>
            <a:ext cx="5074920" cy="178308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1. "From a managerial perspective, our findings suggest that practitioners should..."</a:t>
            </a:r>
            <a:endParaRPr lang="en-US" sz="1100" dirty="0"/>
          </a:p>
          <a:p>
            <a:pPr indent="0" marL="0">
              <a:lnSpc>
                <a:spcPct val="130000"/>
              </a:lnSpc>
              <a:buNone/>
            </a:pP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2. "The proposed framework is particularly suitable for... scenarios where..."</a:t>
            </a:r>
            <a:endParaRPr lang="en-US" sz="1100" dirty="0"/>
          </a:p>
          <a:p>
            <a:pPr indent="0" marL="0">
              <a:lnSpc>
                <a:spcPct val="130000"/>
              </a:lnSpc>
              <a:buNone/>
            </a:pP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3. "Several limitations warrant discussion. First, ... Future research could extend our work by..."</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优化方案三：常见陷阱与规避策略</a:t>
            </a:r>
            <a:endParaRPr lang="en-US" sz="2800" dirty="0"/>
          </a:p>
        </p:txBody>
      </p:sp>
      <p:sp>
        <p:nvSpPr>
          <p:cNvPr id="4" name="Shape 2"/>
          <p:cNvSpPr/>
          <p:nvPr/>
        </p:nvSpPr>
        <p:spPr>
          <a:xfrm>
            <a:off x="731520" y="914400"/>
            <a:ext cx="2286000" cy="36576"/>
          </a:xfrm>
          <a:prstGeom prst="rect">
            <a:avLst/>
          </a:prstGeom>
          <a:solidFill>
            <a:srgbClr val="0D9488"/>
          </a:solidFill>
          <a:ln/>
        </p:spPr>
      </p:sp>
      <p:sp>
        <p:nvSpPr>
          <p:cNvPr id="5" name="Shape 3"/>
          <p:cNvSpPr/>
          <p:nvPr/>
        </p:nvSpPr>
        <p:spPr>
          <a:xfrm>
            <a:off x="731520" y="1143000"/>
            <a:ext cx="10725912" cy="804672"/>
          </a:xfrm>
          <a:prstGeom prst="rect">
            <a:avLst>
              <a:gd name="adj" fmla="val 5682"/>
            </a:avLst>
          </a:prstGeom>
          <a:solidFill>
            <a:srgbClr val="FFFFFF"/>
          </a:solidFill>
          <a:ln/>
        </p:spPr>
      </p:sp>
      <p:sp>
        <p:nvSpPr>
          <p:cNvPr id="6" name="Shape 4"/>
          <p:cNvSpPr/>
          <p:nvPr/>
        </p:nvSpPr>
        <p:spPr>
          <a:xfrm>
            <a:off x="731520" y="1143000"/>
            <a:ext cx="54864" cy="804672"/>
          </a:xfrm>
          <a:prstGeom prst="rect">
            <a:avLst/>
          </a:prstGeom>
          <a:solidFill>
            <a:srgbClr val="D97706"/>
          </a:solidFill>
          <a:ln/>
        </p:spPr>
      </p:sp>
      <p:sp>
        <p:nvSpPr>
          <p:cNvPr id="7" name="Text 5"/>
          <p:cNvSpPr/>
          <p:nvPr/>
        </p:nvSpPr>
        <p:spPr>
          <a:xfrm>
            <a:off x="1005840" y="1188720"/>
            <a:ext cx="3657600" cy="274320"/>
          </a:xfrm>
          <a:prstGeom prst="rect">
            <a:avLst/>
          </a:prstGeom>
          <a:noFill/>
          <a:ln/>
        </p:spPr>
        <p:txBody>
          <a:bodyPr wrap="square" rtlCol="0" anchor="ctr"/>
          <a:lstStyle/>
          <a:p>
            <a:pPr indent="0" marL="0">
              <a:buNone/>
            </a:pPr>
            <a:r>
              <a:rPr lang="en-US" sz="1200" b="1" dirty="0">
                <a:solidFill>
                  <a:srgbClr val="D97706"/>
                </a:solidFill>
                <a:latin typeface="Microsoft YaHei" pitchFamily="34" charset="0"/>
                <a:ea typeface="Microsoft YaHei" pitchFamily="34" charset="-122"/>
                <a:cs typeface="Microsoft YaHei" pitchFamily="34" charset="-120"/>
              </a:rPr>
              <a:t>陷阱1: 论文标题过于笼统</a:t>
            </a:r>
            <a:endParaRPr lang="en-US" sz="1200" dirty="0"/>
          </a:p>
        </p:txBody>
      </p:sp>
      <p:sp>
        <p:nvSpPr>
          <p:cNvPr id="8" name="Text 6"/>
          <p:cNvSpPr/>
          <p:nvPr/>
        </p:nvSpPr>
        <p:spPr>
          <a:xfrm>
            <a:off x="1005840" y="1435608"/>
            <a:ext cx="10241280" cy="457200"/>
          </a:xfrm>
          <a:prstGeom prst="rect">
            <a:avLst/>
          </a:prstGeom>
          <a:noFill/>
          <a:ln/>
        </p:spPr>
        <p:txBody>
          <a:bodyPr wrap="square" rtlCol="0" anchor="t"/>
          <a:lstStyle/>
          <a:p>
            <a:pPr indent="0" marL="0">
              <a:lnSpc>
                <a:spcPct val="130000"/>
              </a:lnSpc>
              <a:buNone/>
            </a:pPr>
            <a:r>
              <a:rPr lang="en-US" sz="1000" dirty="0">
                <a:solidFill>
                  <a:srgbClr val="334155"/>
                </a:solidFill>
                <a:latin typeface="Microsoft YaHei" pitchFamily="34" charset="0"/>
                <a:ea typeface="Microsoft YaHei" pitchFamily="34" charset="-122"/>
                <a:cs typeface="Microsoft YaHei" pitchFamily="34" charset="-120"/>
              </a:rPr>
              <a:t>避免“XXX研究”，应明确方法+问题，如“[Method] for [Problem] considering [Constraint]”</a:t>
            </a:r>
            <a:endParaRPr lang="en-US" sz="1000" dirty="0"/>
          </a:p>
        </p:txBody>
      </p:sp>
      <p:sp>
        <p:nvSpPr>
          <p:cNvPr id="9" name="Shape 7"/>
          <p:cNvSpPr/>
          <p:nvPr/>
        </p:nvSpPr>
        <p:spPr>
          <a:xfrm>
            <a:off x="731520" y="2075688"/>
            <a:ext cx="10725912" cy="804672"/>
          </a:xfrm>
          <a:prstGeom prst="rect">
            <a:avLst>
              <a:gd name="adj" fmla="val 5682"/>
            </a:avLst>
          </a:prstGeom>
          <a:solidFill>
            <a:srgbClr val="FFFFFF"/>
          </a:solidFill>
          <a:ln/>
        </p:spPr>
      </p:sp>
      <p:sp>
        <p:nvSpPr>
          <p:cNvPr id="10" name="Shape 8"/>
          <p:cNvSpPr/>
          <p:nvPr/>
        </p:nvSpPr>
        <p:spPr>
          <a:xfrm>
            <a:off x="731520" y="2075688"/>
            <a:ext cx="54864" cy="804672"/>
          </a:xfrm>
          <a:prstGeom prst="rect">
            <a:avLst/>
          </a:prstGeom>
          <a:solidFill>
            <a:srgbClr val="D97706"/>
          </a:solidFill>
          <a:ln/>
        </p:spPr>
      </p:sp>
      <p:sp>
        <p:nvSpPr>
          <p:cNvPr id="11" name="Text 9"/>
          <p:cNvSpPr/>
          <p:nvPr/>
        </p:nvSpPr>
        <p:spPr>
          <a:xfrm>
            <a:off x="1005840" y="2121408"/>
            <a:ext cx="3657600" cy="274320"/>
          </a:xfrm>
          <a:prstGeom prst="rect">
            <a:avLst/>
          </a:prstGeom>
          <a:noFill/>
          <a:ln/>
        </p:spPr>
        <p:txBody>
          <a:bodyPr wrap="square" rtlCol="0" anchor="ctr"/>
          <a:lstStyle/>
          <a:p>
            <a:pPr indent="0" marL="0">
              <a:buNone/>
            </a:pPr>
            <a:r>
              <a:rPr lang="en-US" sz="1200" b="1" dirty="0">
                <a:solidFill>
                  <a:srgbClr val="D97706"/>
                </a:solidFill>
                <a:latin typeface="Microsoft YaHei" pitchFamily="34" charset="0"/>
                <a:ea typeface="Microsoft YaHei" pitchFamily="34" charset="-122"/>
                <a:cs typeface="Microsoft YaHei" pitchFamily="34" charset="-120"/>
              </a:rPr>
              <a:t>陷阱2: 关键词过于宽泛</a:t>
            </a:r>
            <a:endParaRPr lang="en-US" sz="1200" dirty="0"/>
          </a:p>
        </p:txBody>
      </p:sp>
      <p:sp>
        <p:nvSpPr>
          <p:cNvPr id="12" name="Text 10"/>
          <p:cNvSpPr/>
          <p:nvPr/>
        </p:nvSpPr>
        <p:spPr>
          <a:xfrm>
            <a:off x="1005840" y="2368296"/>
            <a:ext cx="10241280" cy="457200"/>
          </a:xfrm>
          <a:prstGeom prst="rect">
            <a:avLst/>
          </a:prstGeom>
          <a:noFill/>
          <a:ln/>
        </p:spPr>
        <p:txBody>
          <a:bodyPr wrap="square" rtlCol="0" anchor="t"/>
          <a:lstStyle/>
          <a:p>
            <a:pPr indent="0" marL="0">
              <a:lnSpc>
                <a:spcPct val="130000"/>
              </a:lnSpc>
              <a:buNone/>
            </a:pPr>
            <a:r>
              <a:rPr lang="en-US" sz="1000" dirty="0">
                <a:solidFill>
                  <a:srgbClr val="334155"/>
                </a:solidFill>
                <a:latin typeface="Microsoft YaHei" pitchFamily="34" charset="0"/>
                <a:ea typeface="Microsoft YaHei" pitchFamily="34" charset="-122"/>
                <a:cs typeface="Microsoft YaHei" pitchFamily="34" charset="-120"/>
              </a:rPr>
              <a:t>避免“优化”“算法”等泛化词，应使用“Adaptive Large Neighborhood Search”“Stochastic Programming”等精确术语</a:t>
            </a:r>
            <a:endParaRPr lang="en-US" sz="1000" dirty="0"/>
          </a:p>
        </p:txBody>
      </p:sp>
      <p:sp>
        <p:nvSpPr>
          <p:cNvPr id="13" name="Shape 11"/>
          <p:cNvSpPr/>
          <p:nvPr/>
        </p:nvSpPr>
        <p:spPr>
          <a:xfrm>
            <a:off x="731520" y="3008376"/>
            <a:ext cx="10725912" cy="804672"/>
          </a:xfrm>
          <a:prstGeom prst="rect">
            <a:avLst>
              <a:gd name="adj" fmla="val 5682"/>
            </a:avLst>
          </a:prstGeom>
          <a:solidFill>
            <a:srgbClr val="FFFFFF"/>
          </a:solidFill>
          <a:ln/>
        </p:spPr>
      </p:sp>
      <p:sp>
        <p:nvSpPr>
          <p:cNvPr id="14" name="Shape 12"/>
          <p:cNvSpPr/>
          <p:nvPr/>
        </p:nvSpPr>
        <p:spPr>
          <a:xfrm>
            <a:off x="731520" y="3008376"/>
            <a:ext cx="54864" cy="804672"/>
          </a:xfrm>
          <a:prstGeom prst="rect">
            <a:avLst/>
          </a:prstGeom>
          <a:solidFill>
            <a:srgbClr val="D97706"/>
          </a:solidFill>
          <a:ln/>
        </p:spPr>
      </p:sp>
      <p:sp>
        <p:nvSpPr>
          <p:cNvPr id="15" name="Text 13"/>
          <p:cNvSpPr/>
          <p:nvPr/>
        </p:nvSpPr>
        <p:spPr>
          <a:xfrm>
            <a:off x="1005840" y="3054096"/>
            <a:ext cx="3657600" cy="274320"/>
          </a:xfrm>
          <a:prstGeom prst="rect">
            <a:avLst/>
          </a:prstGeom>
          <a:noFill/>
          <a:ln/>
        </p:spPr>
        <p:txBody>
          <a:bodyPr wrap="square" rtlCol="0" anchor="ctr"/>
          <a:lstStyle/>
          <a:p>
            <a:pPr indent="0" marL="0">
              <a:buNone/>
            </a:pPr>
            <a:r>
              <a:rPr lang="en-US" sz="1200" b="1" dirty="0">
                <a:solidFill>
                  <a:srgbClr val="D97706"/>
                </a:solidFill>
                <a:latin typeface="Microsoft YaHei" pitchFamily="34" charset="0"/>
                <a:ea typeface="Microsoft YaHei" pitchFamily="34" charset="-122"/>
                <a:cs typeface="Microsoft YaHei" pitchFamily="34" charset="-120"/>
              </a:rPr>
              <a:t>陷阱3: 文献综述“国内化”</a:t>
            </a:r>
            <a:endParaRPr lang="en-US" sz="1200" dirty="0"/>
          </a:p>
        </p:txBody>
      </p:sp>
      <p:sp>
        <p:nvSpPr>
          <p:cNvPr id="16" name="Text 14"/>
          <p:cNvSpPr/>
          <p:nvPr/>
        </p:nvSpPr>
        <p:spPr>
          <a:xfrm>
            <a:off x="1005840" y="3300984"/>
            <a:ext cx="10241280" cy="457200"/>
          </a:xfrm>
          <a:prstGeom prst="rect">
            <a:avLst/>
          </a:prstGeom>
          <a:noFill/>
          <a:ln/>
        </p:spPr>
        <p:txBody>
          <a:bodyPr wrap="square" rtlCol="0" anchor="t"/>
          <a:lstStyle/>
          <a:p>
            <a:pPr indent="0" marL="0">
              <a:lnSpc>
                <a:spcPct val="130000"/>
              </a:lnSpc>
              <a:buNone/>
            </a:pPr>
            <a:r>
              <a:rPr lang="en-US" sz="1000" dirty="0">
                <a:solidFill>
                  <a:srgbClr val="334155"/>
                </a:solidFill>
                <a:latin typeface="Microsoft YaHei" pitchFamily="34" charset="0"/>
                <a:ea typeface="Microsoft YaHei" pitchFamily="34" charset="-122"/>
                <a:cs typeface="Microsoft YaHei" pitchFamily="34" charset="-120"/>
              </a:rPr>
              <a:t>避免仅引用中文文献，TR-E期望看到国际研究纵览，至少60%英文文献</a:t>
            </a:r>
            <a:endParaRPr lang="en-US" sz="1000" dirty="0"/>
          </a:p>
        </p:txBody>
      </p:sp>
      <p:sp>
        <p:nvSpPr>
          <p:cNvPr id="17" name="Shape 15"/>
          <p:cNvSpPr/>
          <p:nvPr/>
        </p:nvSpPr>
        <p:spPr>
          <a:xfrm>
            <a:off x="731520" y="3941064"/>
            <a:ext cx="10725912" cy="804672"/>
          </a:xfrm>
          <a:prstGeom prst="rect">
            <a:avLst>
              <a:gd name="adj" fmla="val 5682"/>
            </a:avLst>
          </a:prstGeom>
          <a:solidFill>
            <a:srgbClr val="FFFFFF"/>
          </a:solidFill>
          <a:ln/>
        </p:spPr>
      </p:sp>
      <p:sp>
        <p:nvSpPr>
          <p:cNvPr id="18" name="Shape 16"/>
          <p:cNvSpPr/>
          <p:nvPr/>
        </p:nvSpPr>
        <p:spPr>
          <a:xfrm>
            <a:off x="731520" y="3941064"/>
            <a:ext cx="54864" cy="804672"/>
          </a:xfrm>
          <a:prstGeom prst="rect">
            <a:avLst/>
          </a:prstGeom>
          <a:solidFill>
            <a:srgbClr val="D97706"/>
          </a:solidFill>
          <a:ln/>
        </p:spPr>
      </p:sp>
      <p:sp>
        <p:nvSpPr>
          <p:cNvPr id="19" name="Text 17"/>
          <p:cNvSpPr/>
          <p:nvPr/>
        </p:nvSpPr>
        <p:spPr>
          <a:xfrm>
            <a:off x="1005840" y="3986784"/>
            <a:ext cx="3657600" cy="274320"/>
          </a:xfrm>
          <a:prstGeom prst="rect">
            <a:avLst/>
          </a:prstGeom>
          <a:noFill/>
          <a:ln/>
        </p:spPr>
        <p:txBody>
          <a:bodyPr wrap="square" rtlCol="0" anchor="ctr"/>
          <a:lstStyle/>
          <a:p>
            <a:pPr indent="0" marL="0">
              <a:buNone/>
            </a:pPr>
            <a:r>
              <a:rPr lang="en-US" sz="1200" b="1" dirty="0">
                <a:solidFill>
                  <a:srgbClr val="D97706"/>
                </a:solidFill>
                <a:latin typeface="Microsoft YaHei" pitchFamily="34" charset="0"/>
                <a:ea typeface="Microsoft YaHei" pitchFamily="34" charset="-122"/>
                <a:cs typeface="Microsoft YaHei" pitchFamily="34" charset="-120"/>
              </a:rPr>
              <a:t>陷阱4: 缺乏管理启示</a:t>
            </a:r>
            <a:endParaRPr lang="en-US" sz="1200" dirty="0"/>
          </a:p>
        </p:txBody>
      </p:sp>
      <p:sp>
        <p:nvSpPr>
          <p:cNvPr id="20" name="Text 18"/>
          <p:cNvSpPr/>
          <p:nvPr/>
        </p:nvSpPr>
        <p:spPr>
          <a:xfrm>
            <a:off x="1005840" y="4233672"/>
            <a:ext cx="10241280" cy="457200"/>
          </a:xfrm>
          <a:prstGeom prst="rect">
            <a:avLst/>
          </a:prstGeom>
          <a:noFill/>
          <a:ln/>
        </p:spPr>
        <p:txBody>
          <a:bodyPr wrap="square" rtlCol="0" anchor="t"/>
          <a:lstStyle/>
          <a:p>
            <a:pPr indent="0" marL="0">
              <a:lnSpc>
                <a:spcPct val="130000"/>
              </a:lnSpc>
              <a:buNone/>
            </a:pPr>
            <a:r>
              <a:rPr lang="en-US" sz="1000" dirty="0">
                <a:solidFill>
                  <a:srgbClr val="334155"/>
                </a:solidFill>
                <a:latin typeface="Microsoft YaHei" pitchFamily="34" charset="0"/>
                <a:ea typeface="Microsoft YaHei" pitchFamily="34" charset="-122"/>
                <a:cs typeface="Microsoft YaHei" pitchFamily="34" charset="-120"/>
              </a:rPr>
              <a:t>结果不能仅停留在“算法更优”，要回答“这个结果对实际运营意味着什么？”</a:t>
            </a:r>
            <a:endParaRPr lang="en-US" sz="1000" dirty="0"/>
          </a:p>
        </p:txBody>
      </p:sp>
      <p:sp>
        <p:nvSpPr>
          <p:cNvPr id="21" name="Shape 19"/>
          <p:cNvSpPr/>
          <p:nvPr/>
        </p:nvSpPr>
        <p:spPr>
          <a:xfrm>
            <a:off x="731520" y="4873752"/>
            <a:ext cx="10725912" cy="804672"/>
          </a:xfrm>
          <a:prstGeom prst="rect">
            <a:avLst>
              <a:gd name="adj" fmla="val 5682"/>
            </a:avLst>
          </a:prstGeom>
          <a:solidFill>
            <a:srgbClr val="FFFFFF"/>
          </a:solidFill>
          <a:ln/>
        </p:spPr>
      </p:sp>
      <p:sp>
        <p:nvSpPr>
          <p:cNvPr id="22" name="Shape 20"/>
          <p:cNvSpPr/>
          <p:nvPr/>
        </p:nvSpPr>
        <p:spPr>
          <a:xfrm>
            <a:off x="731520" y="4873752"/>
            <a:ext cx="54864" cy="804672"/>
          </a:xfrm>
          <a:prstGeom prst="rect">
            <a:avLst/>
          </a:prstGeom>
          <a:solidFill>
            <a:srgbClr val="D97706"/>
          </a:solidFill>
          <a:ln/>
        </p:spPr>
      </p:sp>
      <p:sp>
        <p:nvSpPr>
          <p:cNvPr id="23" name="Text 21"/>
          <p:cNvSpPr/>
          <p:nvPr/>
        </p:nvSpPr>
        <p:spPr>
          <a:xfrm>
            <a:off x="1005840" y="4919472"/>
            <a:ext cx="3657600" cy="274320"/>
          </a:xfrm>
          <a:prstGeom prst="rect">
            <a:avLst/>
          </a:prstGeom>
          <a:noFill/>
          <a:ln/>
        </p:spPr>
        <p:txBody>
          <a:bodyPr wrap="square" rtlCol="0" anchor="ctr"/>
          <a:lstStyle/>
          <a:p>
            <a:pPr indent="0" marL="0">
              <a:buNone/>
            </a:pPr>
            <a:r>
              <a:rPr lang="en-US" sz="1200" b="1" dirty="0">
                <a:solidFill>
                  <a:srgbClr val="D97706"/>
                </a:solidFill>
                <a:latin typeface="Microsoft YaHei" pitchFamily="34" charset="0"/>
                <a:ea typeface="Microsoft YaHei" pitchFamily="34" charset="-122"/>
                <a:cs typeface="Microsoft YaHei" pitchFamily="34" charset="-120"/>
              </a:rPr>
              <a:t>陷阱5: 实验设计单一化</a:t>
            </a:r>
            <a:endParaRPr lang="en-US" sz="1200" dirty="0"/>
          </a:p>
        </p:txBody>
      </p:sp>
      <p:sp>
        <p:nvSpPr>
          <p:cNvPr id="24" name="Text 22"/>
          <p:cNvSpPr/>
          <p:nvPr/>
        </p:nvSpPr>
        <p:spPr>
          <a:xfrm>
            <a:off x="1005840" y="5166360"/>
            <a:ext cx="10241280" cy="457200"/>
          </a:xfrm>
          <a:prstGeom prst="rect">
            <a:avLst/>
          </a:prstGeom>
          <a:noFill/>
          <a:ln/>
        </p:spPr>
        <p:txBody>
          <a:bodyPr wrap="square" rtlCol="0" anchor="t"/>
          <a:lstStyle/>
          <a:p>
            <a:pPr indent="0" marL="0">
              <a:lnSpc>
                <a:spcPct val="130000"/>
              </a:lnSpc>
              <a:buNone/>
            </a:pPr>
            <a:r>
              <a:rPr lang="en-US" sz="1000" dirty="0">
                <a:solidFill>
                  <a:srgbClr val="334155"/>
                </a:solidFill>
                <a:latin typeface="Microsoft YaHei" pitchFamily="34" charset="0"/>
                <a:ea typeface="Microsoft YaHei" pitchFamily="34" charset="-122"/>
                <a:cs typeface="Microsoft YaHei" pitchFamily="34" charset="-120"/>
              </a:rPr>
              <a:t>仅用一个数据集验证不够，应包含多种规模+多个基准法+灵敏度+泛化性测试</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优化方案四：论文修订工作流</a:t>
            </a:r>
            <a:endParaRPr lang="en-US" sz="2800" dirty="0"/>
          </a:p>
        </p:txBody>
      </p:sp>
      <p:sp>
        <p:nvSpPr>
          <p:cNvPr id="4" name="Shape 2"/>
          <p:cNvSpPr/>
          <p:nvPr/>
        </p:nvSpPr>
        <p:spPr>
          <a:xfrm>
            <a:off x="731520" y="914400"/>
            <a:ext cx="2286000" cy="36576"/>
          </a:xfrm>
          <a:prstGeom prst="rect">
            <a:avLst/>
          </a:prstGeom>
          <a:solidFill>
            <a:srgbClr val="0D9488"/>
          </a:solidFill>
          <a:ln/>
        </p:spPr>
      </p:sp>
      <p:sp>
        <p:nvSpPr>
          <p:cNvPr id="5" name="Shape 3"/>
          <p:cNvSpPr/>
          <p:nvPr/>
        </p:nvSpPr>
        <p:spPr>
          <a:xfrm>
            <a:off x="365760" y="1371600"/>
            <a:ext cx="2148840" cy="2926080"/>
          </a:xfrm>
          <a:prstGeom prst="rect">
            <a:avLst>
              <a:gd name="adj" fmla="val 3404"/>
            </a:avLst>
          </a:prstGeom>
          <a:solidFill>
            <a:srgbClr val="FFFFFF"/>
          </a:solidFill>
          <a:ln/>
          <a:effectLst>
            <a:outerShdw sx="100000" sy="100000" kx="0" ky="0" algn="bl" rotWithShape="0" blurRad="38100" dist="12700" dir="16200000">
              <a:srgbClr val="CCCCCC">
                <a:alpha val="30000"/>
              </a:srgbClr>
            </a:outerShdw>
          </a:effectLst>
        </p:spPr>
      </p:sp>
      <p:sp>
        <p:nvSpPr>
          <p:cNvPr id="6" name="Shape 4"/>
          <p:cNvSpPr/>
          <p:nvPr/>
        </p:nvSpPr>
        <p:spPr>
          <a:xfrm>
            <a:off x="1005840" y="1463040"/>
            <a:ext cx="868680" cy="868680"/>
          </a:xfrm>
          <a:prstGeom prst="ellipse">
            <a:avLst/>
          </a:prstGeom>
          <a:solidFill>
            <a:srgbClr val="DC2626"/>
          </a:solidFill>
          <a:ln/>
        </p:spPr>
      </p:sp>
      <p:sp>
        <p:nvSpPr>
          <p:cNvPr id="7" name="Text 5"/>
          <p:cNvSpPr/>
          <p:nvPr/>
        </p:nvSpPr>
        <p:spPr>
          <a:xfrm>
            <a:off x="1005840" y="1463040"/>
            <a:ext cx="868680" cy="868680"/>
          </a:xfrm>
          <a:prstGeom prst="rect">
            <a:avLst/>
          </a:prstGeom>
          <a:noFill/>
          <a:ln/>
        </p:spPr>
        <p:txBody>
          <a:bodyPr wrap="square" rtlCol="0" anchor="ctr"/>
          <a:lstStyle/>
          <a:p>
            <a:pPr algn="ctr" indent="0" marL="0">
              <a:buNone/>
            </a:pPr>
            <a:r>
              <a:rPr lang="en-US" sz="2400" b="1" dirty="0">
                <a:solidFill>
                  <a:srgbClr val="FFFFFF"/>
                </a:solidFill>
                <a:latin typeface="Times New Roman" pitchFamily="34" charset="0"/>
                <a:ea typeface="Times New Roman" pitchFamily="34" charset="-122"/>
                <a:cs typeface="Times New Roman" pitchFamily="34" charset="-120"/>
              </a:rPr>
              <a:t>1</a:t>
            </a:r>
            <a:endParaRPr lang="en-US" sz="2400" dirty="0"/>
          </a:p>
        </p:txBody>
      </p:sp>
      <p:sp>
        <p:nvSpPr>
          <p:cNvPr id="8" name="Text 6"/>
          <p:cNvSpPr/>
          <p:nvPr/>
        </p:nvSpPr>
        <p:spPr>
          <a:xfrm>
            <a:off x="457200" y="2468880"/>
            <a:ext cx="1965960" cy="365760"/>
          </a:xfrm>
          <a:prstGeom prst="rect">
            <a:avLst/>
          </a:prstGeom>
          <a:noFill/>
          <a:ln/>
        </p:spPr>
        <p:txBody>
          <a:bodyPr wrap="square" rtlCol="0" anchor="ctr"/>
          <a:lstStyle/>
          <a:p>
            <a:pPr algn="ctr" indent="0" marL="0">
              <a:buNone/>
            </a:pPr>
            <a:r>
              <a:rPr lang="en-US" sz="1400" b="1" dirty="0">
                <a:solidFill>
                  <a:srgbClr val="DC2626"/>
                </a:solidFill>
                <a:latin typeface="Microsoft YaHei" pitchFamily="34" charset="0"/>
                <a:ea typeface="Microsoft YaHei" pitchFamily="34" charset="-122"/>
                <a:cs typeface="Microsoft YaHei" pitchFamily="34" charset="-120"/>
              </a:rPr>
              <a:t>结构审查</a:t>
            </a:r>
            <a:endParaRPr lang="en-US" sz="1400" dirty="0"/>
          </a:p>
        </p:txBody>
      </p:sp>
      <p:sp>
        <p:nvSpPr>
          <p:cNvPr id="9" name="Text 7"/>
          <p:cNvSpPr/>
          <p:nvPr/>
        </p:nvSpPr>
        <p:spPr>
          <a:xfrm>
            <a:off x="457200" y="2880360"/>
            <a:ext cx="1965960" cy="914400"/>
          </a:xfrm>
          <a:prstGeom prst="rect">
            <a:avLst/>
          </a:prstGeom>
          <a:noFill/>
          <a:ln/>
        </p:spPr>
        <p:txBody>
          <a:bodyPr wrap="square" rtlCol="0" anchor="t"/>
          <a:lstStyle/>
          <a:p>
            <a:pPr algn="ctr" indent="0" marL="0">
              <a:lnSpc>
                <a:spcPct val="150000"/>
              </a:lnSpc>
              <a:buNone/>
            </a:pPr>
            <a:r>
              <a:rPr lang="en-US" sz="1000" dirty="0">
                <a:solidFill>
                  <a:srgbClr val="334155"/>
                </a:solidFill>
                <a:latin typeface="Microsoft YaHei" pitchFamily="34" charset="0"/>
                <a:ea typeface="Microsoft YaHei" pitchFamily="34" charset="-122"/>
                <a:cs typeface="Microsoft YaHei" pitchFamily="34" charset="-120"/>
              </a:rPr>
              <a:t>检查摘要是否包含四要素</a:t>
            </a:r>
            <a:endParaRPr lang="en-US" sz="1000" dirty="0"/>
          </a:p>
          <a:p>
            <a:pPr algn="ctr" indent="0" marL="0">
              <a:lnSpc>
                <a:spcPct val="150000"/>
              </a:lnSpc>
              <a:buNone/>
            </a:pPr>
            <a:r>
              <a:rPr lang="en-US" sz="1000" dirty="0">
                <a:solidFill>
                  <a:srgbClr val="334155"/>
                </a:solidFill>
                <a:latin typeface="Microsoft YaHei" pitchFamily="34" charset="0"/>
                <a:ea typeface="Microsoft YaHei" pitchFamily="34" charset="-122"/>
                <a:cs typeface="Microsoft YaHei" pitchFamily="34" charset="-120"/>
              </a:rPr>
              <a:t>确保IMRaD完整</a:t>
            </a:r>
            <a:endParaRPr lang="en-US" sz="1000" dirty="0"/>
          </a:p>
        </p:txBody>
      </p:sp>
      <p:sp>
        <p:nvSpPr>
          <p:cNvPr id="10" name="Text 8"/>
          <p:cNvSpPr/>
          <p:nvPr/>
        </p:nvSpPr>
        <p:spPr>
          <a:xfrm>
            <a:off x="2514600" y="2560320"/>
            <a:ext cx="182880" cy="365760"/>
          </a:xfrm>
          <a:prstGeom prst="rect">
            <a:avLst/>
          </a:prstGeom>
          <a:noFill/>
          <a:ln/>
        </p:spPr>
        <p:txBody>
          <a:bodyPr wrap="square" rtlCol="0" anchor="ctr"/>
          <a:lstStyle/>
          <a:p>
            <a:pPr algn="ctr" indent="0" marL="0">
              <a:buNone/>
            </a:pPr>
            <a:r>
              <a:rPr lang="en-US" sz="1600" dirty="0">
                <a:solidFill>
                  <a:srgbClr val="0D9488"/>
                </a:solidFill>
              </a:rPr>
              <a:t>▶</a:t>
            </a:r>
            <a:endParaRPr lang="en-US" sz="1600" dirty="0"/>
          </a:p>
        </p:txBody>
      </p:sp>
      <p:sp>
        <p:nvSpPr>
          <p:cNvPr id="11" name="Shape 9"/>
          <p:cNvSpPr/>
          <p:nvPr/>
        </p:nvSpPr>
        <p:spPr>
          <a:xfrm>
            <a:off x="2697480" y="1371600"/>
            <a:ext cx="2148840" cy="2926080"/>
          </a:xfrm>
          <a:prstGeom prst="rect">
            <a:avLst>
              <a:gd name="adj" fmla="val 3404"/>
            </a:avLst>
          </a:prstGeom>
          <a:solidFill>
            <a:srgbClr val="FFFFFF"/>
          </a:solidFill>
          <a:ln/>
          <a:effectLst>
            <a:outerShdw sx="100000" sy="100000" kx="0" ky="0" algn="bl" rotWithShape="0" blurRad="38100" dist="12700" dir="16200000">
              <a:srgbClr val="CCCCCC">
                <a:alpha val="30000"/>
              </a:srgbClr>
            </a:outerShdw>
          </a:effectLst>
        </p:spPr>
      </p:sp>
      <p:sp>
        <p:nvSpPr>
          <p:cNvPr id="12" name="Shape 10"/>
          <p:cNvSpPr/>
          <p:nvPr/>
        </p:nvSpPr>
        <p:spPr>
          <a:xfrm>
            <a:off x="3337560" y="1463040"/>
            <a:ext cx="868680" cy="868680"/>
          </a:xfrm>
          <a:prstGeom prst="ellipse">
            <a:avLst/>
          </a:prstGeom>
          <a:solidFill>
            <a:srgbClr val="1E3A5F"/>
          </a:solidFill>
          <a:ln/>
        </p:spPr>
      </p:sp>
      <p:sp>
        <p:nvSpPr>
          <p:cNvPr id="13" name="Text 11"/>
          <p:cNvSpPr/>
          <p:nvPr/>
        </p:nvSpPr>
        <p:spPr>
          <a:xfrm>
            <a:off x="3337560" y="1463040"/>
            <a:ext cx="868680" cy="868680"/>
          </a:xfrm>
          <a:prstGeom prst="rect">
            <a:avLst/>
          </a:prstGeom>
          <a:noFill/>
          <a:ln/>
        </p:spPr>
        <p:txBody>
          <a:bodyPr wrap="square" rtlCol="0" anchor="ctr"/>
          <a:lstStyle/>
          <a:p>
            <a:pPr algn="ctr" indent="0" marL="0">
              <a:buNone/>
            </a:pPr>
            <a:r>
              <a:rPr lang="en-US" sz="2400" b="1" dirty="0">
                <a:solidFill>
                  <a:srgbClr val="FFFFFF"/>
                </a:solidFill>
                <a:latin typeface="Times New Roman" pitchFamily="34" charset="0"/>
                <a:ea typeface="Times New Roman" pitchFamily="34" charset="-122"/>
                <a:cs typeface="Times New Roman" pitchFamily="34" charset="-120"/>
              </a:rPr>
              <a:t>2</a:t>
            </a:r>
            <a:endParaRPr lang="en-US" sz="2400" dirty="0"/>
          </a:p>
        </p:txBody>
      </p:sp>
      <p:sp>
        <p:nvSpPr>
          <p:cNvPr id="14" name="Text 12"/>
          <p:cNvSpPr/>
          <p:nvPr/>
        </p:nvSpPr>
        <p:spPr>
          <a:xfrm>
            <a:off x="2788920" y="2468880"/>
            <a:ext cx="1965960" cy="365760"/>
          </a:xfrm>
          <a:prstGeom prst="rect">
            <a:avLst/>
          </a:prstGeom>
          <a:noFill/>
          <a:ln/>
        </p:spPr>
        <p:txBody>
          <a:bodyPr wrap="square" rtlCol="0" anchor="ctr"/>
          <a:lstStyle/>
          <a:p>
            <a:pPr algn="ctr" indent="0" marL="0">
              <a:buNone/>
            </a:pPr>
            <a:r>
              <a:rPr lang="en-US" sz="1400" b="1" dirty="0">
                <a:solidFill>
                  <a:srgbClr val="1E3A5F"/>
                </a:solidFill>
                <a:latin typeface="Microsoft YaHei" pitchFamily="34" charset="0"/>
                <a:ea typeface="Microsoft YaHei" pitchFamily="34" charset="-122"/>
                <a:cs typeface="Microsoft YaHei" pitchFamily="34" charset="-120"/>
              </a:rPr>
              <a:t>逻辑重构</a:t>
            </a:r>
            <a:endParaRPr lang="en-US" sz="1400" dirty="0"/>
          </a:p>
        </p:txBody>
      </p:sp>
      <p:sp>
        <p:nvSpPr>
          <p:cNvPr id="15" name="Text 13"/>
          <p:cNvSpPr/>
          <p:nvPr/>
        </p:nvSpPr>
        <p:spPr>
          <a:xfrm>
            <a:off x="2788920" y="2880360"/>
            <a:ext cx="1965960" cy="914400"/>
          </a:xfrm>
          <a:prstGeom prst="rect">
            <a:avLst/>
          </a:prstGeom>
          <a:noFill/>
          <a:ln/>
        </p:spPr>
        <p:txBody>
          <a:bodyPr wrap="square" rtlCol="0" anchor="t"/>
          <a:lstStyle/>
          <a:p>
            <a:pPr algn="ctr" indent="0" marL="0">
              <a:lnSpc>
                <a:spcPct val="150000"/>
              </a:lnSpc>
              <a:buNone/>
            </a:pPr>
            <a:r>
              <a:rPr lang="en-US" sz="1000" dirty="0">
                <a:solidFill>
                  <a:srgbClr val="334155"/>
                </a:solidFill>
                <a:latin typeface="Microsoft YaHei" pitchFamily="34" charset="0"/>
                <a:ea typeface="Microsoft YaHei" pitchFamily="34" charset="-122"/>
                <a:cs typeface="Microsoft YaHei" pitchFamily="34" charset="-120"/>
              </a:rPr>
              <a:t>用“First-Second-Then-Finally”重组</a:t>
            </a:r>
            <a:endParaRPr lang="en-US" sz="1000" dirty="0"/>
          </a:p>
          <a:p>
            <a:pPr algn="ctr" indent="0" marL="0">
              <a:lnSpc>
                <a:spcPct val="150000"/>
              </a:lnSpc>
              <a:buNone/>
            </a:pPr>
            <a:r>
              <a:rPr lang="en-US" sz="1000" dirty="0">
                <a:solidFill>
                  <a:srgbClr val="334155"/>
                </a:solidFill>
                <a:latin typeface="Microsoft YaHei" pitchFamily="34" charset="0"/>
                <a:ea typeface="Microsoft YaHei" pitchFamily="34" charset="-122"/>
                <a:cs typeface="Microsoft YaHei" pitchFamily="34" charset="-120"/>
              </a:rPr>
              <a:t>确保每步有明确动机</a:t>
            </a:r>
            <a:endParaRPr lang="en-US" sz="1000" dirty="0"/>
          </a:p>
        </p:txBody>
      </p:sp>
      <p:sp>
        <p:nvSpPr>
          <p:cNvPr id="16" name="Text 14"/>
          <p:cNvSpPr/>
          <p:nvPr/>
        </p:nvSpPr>
        <p:spPr>
          <a:xfrm>
            <a:off x="4846320" y="2560320"/>
            <a:ext cx="182880" cy="365760"/>
          </a:xfrm>
          <a:prstGeom prst="rect">
            <a:avLst/>
          </a:prstGeom>
          <a:noFill/>
          <a:ln/>
        </p:spPr>
        <p:txBody>
          <a:bodyPr wrap="square" rtlCol="0" anchor="ctr"/>
          <a:lstStyle/>
          <a:p>
            <a:pPr algn="ctr" indent="0" marL="0">
              <a:buNone/>
            </a:pPr>
            <a:r>
              <a:rPr lang="en-US" sz="1600" dirty="0">
                <a:solidFill>
                  <a:srgbClr val="0D9488"/>
                </a:solidFill>
              </a:rPr>
              <a:t>▶</a:t>
            </a:r>
            <a:endParaRPr lang="en-US" sz="1600" dirty="0"/>
          </a:p>
        </p:txBody>
      </p:sp>
      <p:sp>
        <p:nvSpPr>
          <p:cNvPr id="17" name="Shape 15"/>
          <p:cNvSpPr/>
          <p:nvPr/>
        </p:nvSpPr>
        <p:spPr>
          <a:xfrm>
            <a:off x="5029200" y="1371600"/>
            <a:ext cx="2148840" cy="2926080"/>
          </a:xfrm>
          <a:prstGeom prst="rect">
            <a:avLst>
              <a:gd name="adj" fmla="val 3404"/>
            </a:avLst>
          </a:prstGeom>
          <a:solidFill>
            <a:srgbClr val="FFFFFF"/>
          </a:solidFill>
          <a:ln/>
          <a:effectLst>
            <a:outerShdw sx="100000" sy="100000" kx="0" ky="0" algn="bl" rotWithShape="0" blurRad="38100" dist="12700" dir="16200000">
              <a:srgbClr val="CCCCCC">
                <a:alpha val="30000"/>
              </a:srgbClr>
            </a:outerShdw>
          </a:effectLst>
        </p:spPr>
      </p:sp>
      <p:sp>
        <p:nvSpPr>
          <p:cNvPr id="18" name="Shape 16"/>
          <p:cNvSpPr/>
          <p:nvPr/>
        </p:nvSpPr>
        <p:spPr>
          <a:xfrm>
            <a:off x="5669280" y="1463040"/>
            <a:ext cx="868680" cy="868680"/>
          </a:xfrm>
          <a:prstGeom prst="ellipse">
            <a:avLst/>
          </a:prstGeom>
          <a:solidFill>
            <a:srgbClr val="059669"/>
          </a:solidFill>
          <a:ln/>
        </p:spPr>
      </p:sp>
      <p:sp>
        <p:nvSpPr>
          <p:cNvPr id="19" name="Text 17"/>
          <p:cNvSpPr/>
          <p:nvPr/>
        </p:nvSpPr>
        <p:spPr>
          <a:xfrm>
            <a:off x="5669280" y="1463040"/>
            <a:ext cx="868680" cy="868680"/>
          </a:xfrm>
          <a:prstGeom prst="rect">
            <a:avLst/>
          </a:prstGeom>
          <a:noFill/>
          <a:ln/>
        </p:spPr>
        <p:txBody>
          <a:bodyPr wrap="square" rtlCol="0" anchor="ctr"/>
          <a:lstStyle/>
          <a:p>
            <a:pPr algn="ctr" indent="0" marL="0">
              <a:buNone/>
            </a:pPr>
            <a:r>
              <a:rPr lang="en-US" sz="2400" b="1" dirty="0">
                <a:solidFill>
                  <a:srgbClr val="FFFFFF"/>
                </a:solidFill>
                <a:latin typeface="Times New Roman" pitchFamily="34" charset="0"/>
                <a:ea typeface="Times New Roman" pitchFamily="34" charset="-122"/>
                <a:cs typeface="Times New Roman" pitchFamily="34" charset="-120"/>
              </a:rPr>
              <a:t>3</a:t>
            </a:r>
            <a:endParaRPr lang="en-US" sz="2400" dirty="0"/>
          </a:p>
        </p:txBody>
      </p:sp>
      <p:sp>
        <p:nvSpPr>
          <p:cNvPr id="20" name="Text 18"/>
          <p:cNvSpPr/>
          <p:nvPr/>
        </p:nvSpPr>
        <p:spPr>
          <a:xfrm>
            <a:off x="5120640" y="2468880"/>
            <a:ext cx="1965960" cy="365760"/>
          </a:xfrm>
          <a:prstGeom prst="rect">
            <a:avLst/>
          </a:prstGeom>
          <a:noFill/>
          <a:ln/>
        </p:spPr>
        <p:txBody>
          <a:bodyPr wrap="square" rtlCol="0" anchor="ctr"/>
          <a:lstStyle/>
          <a:p>
            <a:pPr algn="ctr" indent="0" marL="0">
              <a:buNone/>
            </a:pPr>
            <a:r>
              <a:rPr lang="en-US" sz="1400" b="1" dirty="0">
                <a:solidFill>
                  <a:srgbClr val="059669"/>
                </a:solidFill>
                <a:latin typeface="Microsoft YaHei" pitchFamily="34" charset="0"/>
                <a:ea typeface="Microsoft YaHei" pitchFamily="34" charset="-122"/>
                <a:cs typeface="Microsoft YaHei" pitchFamily="34" charset="-120"/>
              </a:rPr>
              <a:t>数据升级</a:t>
            </a:r>
            <a:endParaRPr lang="en-US" sz="1400" dirty="0"/>
          </a:p>
        </p:txBody>
      </p:sp>
      <p:sp>
        <p:nvSpPr>
          <p:cNvPr id="21" name="Text 19"/>
          <p:cNvSpPr/>
          <p:nvPr/>
        </p:nvSpPr>
        <p:spPr>
          <a:xfrm>
            <a:off x="5120640" y="2880360"/>
            <a:ext cx="1965960" cy="914400"/>
          </a:xfrm>
          <a:prstGeom prst="rect">
            <a:avLst/>
          </a:prstGeom>
          <a:noFill/>
          <a:ln/>
        </p:spPr>
        <p:txBody>
          <a:bodyPr wrap="square" rtlCol="0" anchor="t"/>
          <a:lstStyle/>
          <a:p>
            <a:pPr algn="ctr" indent="0" marL="0">
              <a:lnSpc>
                <a:spcPct val="150000"/>
              </a:lnSpc>
              <a:buNone/>
            </a:pPr>
            <a:r>
              <a:rPr lang="en-US" sz="1000" dirty="0">
                <a:solidFill>
                  <a:srgbClr val="334155"/>
                </a:solidFill>
                <a:latin typeface="Microsoft YaHei" pitchFamily="34" charset="0"/>
                <a:ea typeface="Microsoft YaHei" pitchFamily="34" charset="-122"/>
                <a:cs typeface="Microsoft YaHei" pitchFamily="34" charset="-120"/>
              </a:rPr>
              <a:t>增加统计检验、灵敏度、消融实验</a:t>
            </a:r>
            <a:endParaRPr lang="en-US" sz="1000" dirty="0"/>
          </a:p>
          <a:p>
            <a:pPr algn="ctr" indent="0" marL="0">
              <a:lnSpc>
                <a:spcPct val="150000"/>
              </a:lnSpc>
              <a:buNone/>
            </a:pPr>
            <a:r>
              <a:rPr lang="en-US" sz="1000" dirty="0">
                <a:solidFill>
                  <a:srgbClr val="334155"/>
                </a:solidFill>
                <a:latin typeface="Microsoft YaHei" pitchFamily="34" charset="0"/>
                <a:ea typeface="Microsoft YaHei" pitchFamily="34" charset="-122"/>
                <a:cs typeface="Microsoft YaHei" pitchFamily="34" charset="-120"/>
              </a:rPr>
              <a:t>展示多维度结果对比</a:t>
            </a:r>
            <a:endParaRPr lang="en-US" sz="1000" dirty="0"/>
          </a:p>
        </p:txBody>
      </p:sp>
      <p:sp>
        <p:nvSpPr>
          <p:cNvPr id="22" name="Text 20"/>
          <p:cNvSpPr/>
          <p:nvPr/>
        </p:nvSpPr>
        <p:spPr>
          <a:xfrm>
            <a:off x="7178040" y="2560320"/>
            <a:ext cx="182880" cy="365760"/>
          </a:xfrm>
          <a:prstGeom prst="rect">
            <a:avLst/>
          </a:prstGeom>
          <a:noFill/>
          <a:ln/>
        </p:spPr>
        <p:txBody>
          <a:bodyPr wrap="square" rtlCol="0" anchor="ctr"/>
          <a:lstStyle/>
          <a:p>
            <a:pPr algn="ctr" indent="0" marL="0">
              <a:buNone/>
            </a:pPr>
            <a:r>
              <a:rPr lang="en-US" sz="1600" dirty="0">
                <a:solidFill>
                  <a:srgbClr val="0D9488"/>
                </a:solidFill>
              </a:rPr>
              <a:t>▶</a:t>
            </a:r>
            <a:endParaRPr lang="en-US" sz="1600" dirty="0"/>
          </a:p>
        </p:txBody>
      </p:sp>
      <p:sp>
        <p:nvSpPr>
          <p:cNvPr id="23" name="Shape 21"/>
          <p:cNvSpPr/>
          <p:nvPr/>
        </p:nvSpPr>
        <p:spPr>
          <a:xfrm>
            <a:off x="7360920" y="1371600"/>
            <a:ext cx="2148840" cy="2926080"/>
          </a:xfrm>
          <a:prstGeom prst="rect">
            <a:avLst>
              <a:gd name="adj" fmla="val 3404"/>
            </a:avLst>
          </a:prstGeom>
          <a:solidFill>
            <a:srgbClr val="FFFFFF"/>
          </a:solidFill>
          <a:ln/>
          <a:effectLst>
            <a:outerShdw sx="100000" sy="100000" kx="0" ky="0" algn="bl" rotWithShape="0" blurRad="38100" dist="12700" dir="16200000">
              <a:srgbClr val="CCCCCC">
                <a:alpha val="30000"/>
              </a:srgbClr>
            </a:outerShdw>
          </a:effectLst>
        </p:spPr>
      </p:sp>
      <p:sp>
        <p:nvSpPr>
          <p:cNvPr id="24" name="Shape 22"/>
          <p:cNvSpPr/>
          <p:nvPr/>
        </p:nvSpPr>
        <p:spPr>
          <a:xfrm>
            <a:off x="8001000" y="1463040"/>
            <a:ext cx="868680" cy="868680"/>
          </a:xfrm>
          <a:prstGeom prst="ellipse">
            <a:avLst/>
          </a:prstGeom>
          <a:solidFill>
            <a:srgbClr val="7C3AED"/>
          </a:solidFill>
          <a:ln/>
        </p:spPr>
      </p:sp>
      <p:sp>
        <p:nvSpPr>
          <p:cNvPr id="25" name="Text 23"/>
          <p:cNvSpPr/>
          <p:nvPr/>
        </p:nvSpPr>
        <p:spPr>
          <a:xfrm>
            <a:off x="8001000" y="1463040"/>
            <a:ext cx="868680" cy="868680"/>
          </a:xfrm>
          <a:prstGeom prst="rect">
            <a:avLst/>
          </a:prstGeom>
          <a:noFill/>
          <a:ln/>
        </p:spPr>
        <p:txBody>
          <a:bodyPr wrap="square" rtlCol="0" anchor="ctr"/>
          <a:lstStyle/>
          <a:p>
            <a:pPr algn="ctr" indent="0" marL="0">
              <a:buNone/>
            </a:pPr>
            <a:r>
              <a:rPr lang="en-US" sz="2400" b="1" dirty="0">
                <a:solidFill>
                  <a:srgbClr val="FFFFFF"/>
                </a:solidFill>
                <a:latin typeface="Times New Roman" pitchFamily="34" charset="0"/>
                <a:ea typeface="Times New Roman" pitchFamily="34" charset="-122"/>
                <a:cs typeface="Times New Roman" pitchFamily="34" charset="-120"/>
              </a:rPr>
              <a:t>4</a:t>
            </a:r>
            <a:endParaRPr lang="en-US" sz="2400" dirty="0"/>
          </a:p>
        </p:txBody>
      </p:sp>
      <p:sp>
        <p:nvSpPr>
          <p:cNvPr id="26" name="Text 24"/>
          <p:cNvSpPr/>
          <p:nvPr/>
        </p:nvSpPr>
        <p:spPr>
          <a:xfrm>
            <a:off x="7452360" y="2468880"/>
            <a:ext cx="1965960" cy="365760"/>
          </a:xfrm>
          <a:prstGeom prst="rect">
            <a:avLst/>
          </a:prstGeom>
          <a:noFill/>
          <a:ln/>
        </p:spPr>
        <p:txBody>
          <a:bodyPr wrap="square" rtlCol="0" anchor="ctr"/>
          <a:lstStyle/>
          <a:p>
            <a:pPr algn="ctr" indent="0" marL="0">
              <a:buNone/>
            </a:pPr>
            <a:r>
              <a:rPr lang="en-US" sz="1400" b="1" dirty="0">
                <a:solidFill>
                  <a:srgbClr val="7C3AED"/>
                </a:solidFill>
                <a:latin typeface="Microsoft YaHei" pitchFamily="34" charset="0"/>
                <a:ea typeface="Microsoft YaHei" pitchFamily="34" charset="-122"/>
                <a:cs typeface="Microsoft YaHei" pitchFamily="34" charset="-120"/>
              </a:rPr>
              <a:t>洞见提炼</a:t>
            </a:r>
            <a:endParaRPr lang="en-US" sz="1400" dirty="0"/>
          </a:p>
        </p:txBody>
      </p:sp>
      <p:sp>
        <p:nvSpPr>
          <p:cNvPr id="27" name="Text 25"/>
          <p:cNvSpPr/>
          <p:nvPr/>
        </p:nvSpPr>
        <p:spPr>
          <a:xfrm>
            <a:off x="7452360" y="2880360"/>
            <a:ext cx="1965960" cy="914400"/>
          </a:xfrm>
          <a:prstGeom prst="rect">
            <a:avLst/>
          </a:prstGeom>
          <a:noFill/>
          <a:ln/>
        </p:spPr>
        <p:txBody>
          <a:bodyPr wrap="square" rtlCol="0" anchor="t"/>
          <a:lstStyle/>
          <a:p>
            <a:pPr algn="ctr" indent="0" marL="0">
              <a:lnSpc>
                <a:spcPct val="150000"/>
              </a:lnSpc>
              <a:buNone/>
            </a:pPr>
            <a:r>
              <a:rPr lang="en-US" sz="1000" dirty="0">
                <a:solidFill>
                  <a:srgbClr val="334155"/>
                </a:solidFill>
                <a:latin typeface="Microsoft YaHei" pitchFamily="34" charset="0"/>
                <a:ea typeface="Microsoft YaHei" pitchFamily="34" charset="-122"/>
                <a:cs typeface="Microsoft YaHei" pitchFamily="34" charset="-120"/>
              </a:rPr>
              <a:t>从结果中提炼Managerial Insights</a:t>
            </a:r>
            <a:endParaRPr lang="en-US" sz="1000" dirty="0"/>
          </a:p>
          <a:p>
            <a:pPr algn="ctr" indent="0" marL="0">
              <a:lnSpc>
                <a:spcPct val="150000"/>
              </a:lnSpc>
              <a:buNone/>
            </a:pPr>
            <a:r>
              <a:rPr lang="en-US" sz="1000" dirty="0">
                <a:solidFill>
                  <a:srgbClr val="334155"/>
                </a:solidFill>
                <a:latin typeface="Microsoft YaHei" pitchFamily="34" charset="0"/>
                <a:ea typeface="Microsoft YaHei" pitchFamily="34" charset="-122"/>
                <a:cs typeface="Microsoft YaHei" pitchFamily="34" charset="-120"/>
              </a:rPr>
              <a:t>回答“对实践者意味着什么”</a:t>
            </a:r>
            <a:endParaRPr lang="en-US" sz="1000" dirty="0"/>
          </a:p>
        </p:txBody>
      </p:sp>
      <p:sp>
        <p:nvSpPr>
          <p:cNvPr id="28" name="Text 26"/>
          <p:cNvSpPr/>
          <p:nvPr/>
        </p:nvSpPr>
        <p:spPr>
          <a:xfrm>
            <a:off x="9509760" y="2560320"/>
            <a:ext cx="182880" cy="365760"/>
          </a:xfrm>
          <a:prstGeom prst="rect">
            <a:avLst/>
          </a:prstGeom>
          <a:noFill/>
          <a:ln/>
        </p:spPr>
        <p:txBody>
          <a:bodyPr wrap="square" rtlCol="0" anchor="ctr"/>
          <a:lstStyle/>
          <a:p>
            <a:pPr algn="ctr" indent="0" marL="0">
              <a:buNone/>
            </a:pPr>
            <a:r>
              <a:rPr lang="en-US" sz="1600" dirty="0">
                <a:solidFill>
                  <a:srgbClr val="0D9488"/>
                </a:solidFill>
              </a:rPr>
              <a:t>▶</a:t>
            </a:r>
            <a:endParaRPr lang="en-US" sz="1600" dirty="0"/>
          </a:p>
        </p:txBody>
      </p:sp>
      <p:sp>
        <p:nvSpPr>
          <p:cNvPr id="29" name="Shape 27"/>
          <p:cNvSpPr/>
          <p:nvPr/>
        </p:nvSpPr>
        <p:spPr>
          <a:xfrm>
            <a:off x="9692640" y="1371600"/>
            <a:ext cx="2148840" cy="2926080"/>
          </a:xfrm>
          <a:prstGeom prst="rect">
            <a:avLst>
              <a:gd name="adj" fmla="val 3404"/>
            </a:avLst>
          </a:prstGeom>
          <a:solidFill>
            <a:srgbClr val="FFFFFF"/>
          </a:solidFill>
          <a:ln/>
          <a:effectLst>
            <a:outerShdw sx="100000" sy="100000" kx="0" ky="0" algn="bl" rotWithShape="0" blurRad="38100" dist="12700" dir="16200000">
              <a:srgbClr val="CCCCCC">
                <a:alpha val="30000"/>
              </a:srgbClr>
            </a:outerShdw>
          </a:effectLst>
        </p:spPr>
      </p:sp>
      <p:sp>
        <p:nvSpPr>
          <p:cNvPr id="30" name="Shape 28"/>
          <p:cNvSpPr/>
          <p:nvPr/>
        </p:nvSpPr>
        <p:spPr>
          <a:xfrm>
            <a:off x="10332720" y="1463040"/>
            <a:ext cx="868680" cy="868680"/>
          </a:xfrm>
          <a:prstGeom prst="ellipse">
            <a:avLst/>
          </a:prstGeom>
          <a:solidFill>
            <a:srgbClr val="0D9488"/>
          </a:solidFill>
          <a:ln/>
        </p:spPr>
      </p:sp>
      <p:sp>
        <p:nvSpPr>
          <p:cNvPr id="31" name="Text 29"/>
          <p:cNvSpPr/>
          <p:nvPr/>
        </p:nvSpPr>
        <p:spPr>
          <a:xfrm>
            <a:off x="10332720" y="1463040"/>
            <a:ext cx="868680" cy="868680"/>
          </a:xfrm>
          <a:prstGeom prst="rect">
            <a:avLst/>
          </a:prstGeom>
          <a:noFill/>
          <a:ln/>
        </p:spPr>
        <p:txBody>
          <a:bodyPr wrap="square" rtlCol="0" anchor="ctr"/>
          <a:lstStyle/>
          <a:p>
            <a:pPr algn="ctr" indent="0" marL="0">
              <a:buNone/>
            </a:pPr>
            <a:r>
              <a:rPr lang="en-US" sz="2400" b="1" dirty="0">
                <a:solidFill>
                  <a:srgbClr val="FFFFFF"/>
                </a:solidFill>
                <a:latin typeface="Times New Roman" pitchFamily="34" charset="0"/>
                <a:ea typeface="Times New Roman" pitchFamily="34" charset="-122"/>
                <a:cs typeface="Times New Roman" pitchFamily="34" charset="-120"/>
              </a:rPr>
              <a:t>5</a:t>
            </a:r>
            <a:endParaRPr lang="en-US" sz="2400" dirty="0"/>
          </a:p>
        </p:txBody>
      </p:sp>
      <p:sp>
        <p:nvSpPr>
          <p:cNvPr id="32" name="Text 30"/>
          <p:cNvSpPr/>
          <p:nvPr/>
        </p:nvSpPr>
        <p:spPr>
          <a:xfrm>
            <a:off x="9784080" y="2468880"/>
            <a:ext cx="1965960" cy="365760"/>
          </a:xfrm>
          <a:prstGeom prst="rect">
            <a:avLst/>
          </a:prstGeom>
          <a:noFill/>
          <a:ln/>
        </p:spPr>
        <p:txBody>
          <a:bodyPr wrap="square" rtlCol="0" anchor="ctr"/>
          <a:lstStyle/>
          <a:p>
            <a:pPr algn="ctr" indent="0" marL="0">
              <a:buNone/>
            </a:pPr>
            <a:r>
              <a:rPr lang="en-US" sz="1400" b="1" dirty="0">
                <a:solidFill>
                  <a:srgbClr val="0D9488"/>
                </a:solidFill>
                <a:latin typeface="Microsoft YaHei" pitchFamily="34" charset="0"/>
                <a:ea typeface="Microsoft YaHei" pitchFamily="34" charset="-122"/>
                <a:cs typeface="Microsoft YaHei" pitchFamily="34" charset="-120"/>
              </a:rPr>
              <a:t>语言打磨</a:t>
            </a:r>
            <a:endParaRPr lang="en-US" sz="1400" dirty="0"/>
          </a:p>
        </p:txBody>
      </p:sp>
      <p:sp>
        <p:nvSpPr>
          <p:cNvPr id="33" name="Text 31"/>
          <p:cNvSpPr/>
          <p:nvPr/>
        </p:nvSpPr>
        <p:spPr>
          <a:xfrm>
            <a:off x="9784080" y="2880360"/>
            <a:ext cx="1965960" cy="914400"/>
          </a:xfrm>
          <a:prstGeom prst="rect">
            <a:avLst/>
          </a:prstGeom>
          <a:noFill/>
          <a:ln/>
        </p:spPr>
        <p:txBody>
          <a:bodyPr wrap="square" rtlCol="0" anchor="t"/>
          <a:lstStyle/>
          <a:p>
            <a:pPr algn="ctr" indent="0" marL="0">
              <a:lnSpc>
                <a:spcPct val="150000"/>
              </a:lnSpc>
              <a:buNone/>
            </a:pPr>
            <a:r>
              <a:rPr lang="en-US" sz="1000" dirty="0">
                <a:solidFill>
                  <a:srgbClr val="334155"/>
                </a:solidFill>
                <a:latin typeface="Microsoft YaHei" pitchFamily="34" charset="0"/>
                <a:ea typeface="Microsoft YaHei" pitchFamily="34" charset="-122"/>
                <a:cs typeface="Microsoft YaHei" pitchFamily="34" charset="-120"/>
              </a:rPr>
              <a:t>使用目标期刊高频句型</a:t>
            </a:r>
            <a:endParaRPr lang="en-US" sz="1000" dirty="0"/>
          </a:p>
          <a:p>
            <a:pPr algn="ctr" indent="0" marL="0">
              <a:lnSpc>
                <a:spcPct val="150000"/>
              </a:lnSpc>
              <a:buNone/>
            </a:pPr>
            <a:r>
              <a:rPr lang="en-US" sz="1000" dirty="0">
                <a:solidFill>
                  <a:srgbClr val="334155"/>
                </a:solidFill>
                <a:latin typeface="Microsoft YaHei" pitchFamily="34" charset="0"/>
                <a:ea typeface="Microsoft YaHei" pitchFamily="34" charset="-122"/>
                <a:cs typeface="Microsoft YaHei" pitchFamily="34" charset="-120"/>
              </a:rPr>
              <a:t>请母语者或专业润色服务</a:t>
            </a:r>
            <a:endParaRPr lang="en-US" sz="1000" dirty="0"/>
          </a:p>
        </p:txBody>
      </p:sp>
      <p:sp>
        <p:nvSpPr>
          <p:cNvPr id="34" name="Shape 32"/>
          <p:cNvSpPr/>
          <p:nvPr/>
        </p:nvSpPr>
        <p:spPr>
          <a:xfrm>
            <a:off x="731520" y="4663440"/>
            <a:ext cx="10725912" cy="548640"/>
          </a:xfrm>
          <a:prstGeom prst="rect">
            <a:avLst>
              <a:gd name="adj" fmla="val 8333"/>
            </a:avLst>
          </a:prstGeom>
          <a:solidFill>
            <a:srgbClr val="FEF3C7"/>
          </a:solidFill>
          <a:ln/>
        </p:spPr>
      </p:sp>
      <p:sp>
        <p:nvSpPr>
          <p:cNvPr id="35" name="Text 33"/>
          <p:cNvSpPr/>
          <p:nvPr/>
        </p:nvSpPr>
        <p:spPr>
          <a:xfrm>
            <a:off x="914400" y="4663440"/>
            <a:ext cx="10360152" cy="548640"/>
          </a:xfrm>
          <a:prstGeom prst="rect">
            <a:avLst/>
          </a:prstGeom>
          <a:noFill/>
          <a:ln/>
        </p:spPr>
        <p:txBody>
          <a:bodyPr wrap="square" rtlCol="0" anchor="ctr"/>
          <a:lstStyle/>
          <a:p>
            <a:pPr indent="0" marL="0">
              <a:buNone/>
            </a:pPr>
            <a:r>
              <a:rPr lang="en-US" sz="1100" dirty="0">
                <a:solidFill>
                  <a:srgbClr val="92400E"/>
                </a:solidFill>
                <a:latin typeface="Microsoft YaHei" pitchFamily="34" charset="0"/>
                <a:ea typeface="Microsoft YaHei" pitchFamily="34" charset="-122"/>
                <a:cs typeface="Microsoft YaHei" pitchFamily="34" charset="-120"/>
              </a:rPr>
              <a:t>建议周期：完成初稿后按此流程进行2-3轮修订，每轮聚焦一个维度，避免一次性修改导致顾此失彼。</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优化方案五：投稿工具与资源推荐</a:t>
            </a:r>
            <a:endParaRPr lang="en-US" sz="2800" dirty="0"/>
          </a:p>
        </p:txBody>
      </p:sp>
      <p:sp>
        <p:nvSpPr>
          <p:cNvPr id="4" name="Shape 2"/>
          <p:cNvSpPr/>
          <p:nvPr/>
        </p:nvSpPr>
        <p:spPr>
          <a:xfrm>
            <a:off x="731520" y="914400"/>
            <a:ext cx="2286000" cy="36576"/>
          </a:xfrm>
          <a:prstGeom prst="rect">
            <a:avLst/>
          </a:prstGeom>
          <a:solidFill>
            <a:srgbClr val="0D9488"/>
          </a:solidFill>
          <a:ln/>
        </p:spPr>
      </p:sp>
      <p:sp>
        <p:nvSpPr>
          <p:cNvPr id="5" name="Shape 3"/>
          <p:cNvSpPr/>
          <p:nvPr/>
        </p:nvSpPr>
        <p:spPr>
          <a:xfrm>
            <a:off x="731520" y="1188720"/>
            <a:ext cx="10725912" cy="1463040"/>
          </a:xfrm>
          <a:prstGeom prst="rect">
            <a:avLst>
              <a:gd name="adj" fmla="val 6250"/>
            </a:avLst>
          </a:prstGeom>
          <a:solidFill>
            <a:srgbClr val="FFFFFF"/>
          </a:solidFill>
          <a:ln/>
          <a:effectLst>
            <a:outerShdw sx="100000" sy="100000" kx="0" ky="0" algn="bl" rotWithShape="0" blurRad="50800" dist="12700" dir="16200000">
              <a:srgbClr val="CCCCCC">
                <a:alpha val="30000"/>
              </a:srgbClr>
            </a:outerShdw>
          </a:effectLst>
        </p:spPr>
      </p:sp>
      <p:sp>
        <p:nvSpPr>
          <p:cNvPr id="6" name="Shape 4"/>
          <p:cNvSpPr/>
          <p:nvPr/>
        </p:nvSpPr>
        <p:spPr>
          <a:xfrm>
            <a:off x="731520" y="1280160"/>
            <a:ext cx="54864" cy="1280160"/>
          </a:xfrm>
          <a:prstGeom prst="rect">
            <a:avLst/>
          </a:prstGeom>
          <a:solidFill>
            <a:srgbClr val="0D9488"/>
          </a:solidFill>
          <a:ln/>
        </p:spPr>
      </p:sp>
      <p:sp>
        <p:nvSpPr>
          <p:cNvPr id="7" name="Text 5"/>
          <p:cNvSpPr/>
          <p:nvPr/>
        </p:nvSpPr>
        <p:spPr>
          <a:xfrm>
            <a:off x="960120" y="1280160"/>
            <a:ext cx="10360152"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写作工具</a:t>
            </a:r>
            <a:endParaRPr lang="en-US" sz="1400" dirty="0"/>
          </a:p>
        </p:txBody>
      </p:sp>
      <p:sp>
        <p:nvSpPr>
          <p:cNvPr id="8" name="Text 6"/>
          <p:cNvSpPr/>
          <p:nvPr/>
        </p:nvSpPr>
        <p:spPr>
          <a:xfrm>
            <a:off x="960120" y="1645920"/>
            <a:ext cx="10360152" cy="86868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Overleaf: 在线LaTeX编辑，TR-E提供官方模板</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Grammarly / Writefull: 英文语法与学术用语检查</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Zotero / EndNote: 文献管理与引用格式化</a:t>
            </a:r>
            <a:endParaRPr lang="en-US" sz="1100" dirty="0"/>
          </a:p>
        </p:txBody>
      </p:sp>
      <p:sp>
        <p:nvSpPr>
          <p:cNvPr id="9" name="Shape 7"/>
          <p:cNvSpPr/>
          <p:nvPr/>
        </p:nvSpPr>
        <p:spPr>
          <a:xfrm>
            <a:off x="731520" y="2926080"/>
            <a:ext cx="10725912" cy="1463040"/>
          </a:xfrm>
          <a:prstGeom prst="rect">
            <a:avLst>
              <a:gd name="adj" fmla="val 6250"/>
            </a:avLst>
          </a:prstGeom>
          <a:solidFill>
            <a:srgbClr val="FFFFFF"/>
          </a:solidFill>
          <a:ln/>
          <a:effectLst>
            <a:outerShdw sx="100000" sy="100000" kx="0" ky="0" algn="bl" rotWithShape="0" blurRad="50800" dist="12700" dir="16200000">
              <a:srgbClr val="CCCCCC">
                <a:alpha val="30000"/>
              </a:srgbClr>
            </a:outerShdw>
          </a:effectLst>
        </p:spPr>
      </p:sp>
      <p:sp>
        <p:nvSpPr>
          <p:cNvPr id="10" name="Shape 8"/>
          <p:cNvSpPr/>
          <p:nvPr/>
        </p:nvSpPr>
        <p:spPr>
          <a:xfrm>
            <a:off x="731520" y="3017520"/>
            <a:ext cx="54864" cy="1280160"/>
          </a:xfrm>
          <a:prstGeom prst="rect">
            <a:avLst/>
          </a:prstGeom>
          <a:solidFill>
            <a:srgbClr val="1E3A5F"/>
          </a:solidFill>
          <a:ln/>
        </p:spPr>
      </p:sp>
      <p:sp>
        <p:nvSpPr>
          <p:cNvPr id="11" name="Text 9"/>
          <p:cNvSpPr/>
          <p:nvPr/>
        </p:nvSpPr>
        <p:spPr>
          <a:xfrm>
            <a:off x="960120" y="3017520"/>
            <a:ext cx="10360152"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提升工具</a:t>
            </a:r>
            <a:endParaRPr lang="en-US" sz="1400" dirty="0"/>
          </a:p>
        </p:txBody>
      </p:sp>
      <p:sp>
        <p:nvSpPr>
          <p:cNvPr id="12" name="Text 10"/>
          <p:cNvSpPr/>
          <p:nvPr/>
        </p:nvSpPr>
        <p:spPr>
          <a:xfrm>
            <a:off x="960120" y="3383280"/>
            <a:ext cx="10360152" cy="86868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Connected Papers / ResearchRabbit: 发现相关国际文献</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Journal Guide / JANE: 期刊匹配推荐</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Scimago Journal Rank: 查询期刊分区与影响因子</a:t>
            </a:r>
            <a:endParaRPr lang="en-US" sz="1100" dirty="0"/>
          </a:p>
        </p:txBody>
      </p:sp>
      <p:sp>
        <p:nvSpPr>
          <p:cNvPr id="13" name="Shape 11"/>
          <p:cNvSpPr/>
          <p:nvPr/>
        </p:nvSpPr>
        <p:spPr>
          <a:xfrm>
            <a:off x="731520" y="4663440"/>
            <a:ext cx="10725912" cy="1463040"/>
          </a:xfrm>
          <a:prstGeom prst="rect">
            <a:avLst>
              <a:gd name="adj" fmla="val 6250"/>
            </a:avLst>
          </a:prstGeom>
          <a:solidFill>
            <a:srgbClr val="FFFFFF"/>
          </a:solidFill>
          <a:ln/>
          <a:effectLst>
            <a:outerShdw sx="100000" sy="100000" kx="0" ky="0" algn="bl" rotWithShape="0" blurRad="50800" dist="12700" dir="16200000">
              <a:srgbClr val="CCCCCC">
                <a:alpha val="30000"/>
              </a:srgbClr>
            </a:outerShdw>
          </a:effectLst>
        </p:spPr>
      </p:sp>
      <p:sp>
        <p:nvSpPr>
          <p:cNvPr id="14" name="Shape 12"/>
          <p:cNvSpPr/>
          <p:nvPr/>
        </p:nvSpPr>
        <p:spPr>
          <a:xfrm>
            <a:off x="731520" y="4754880"/>
            <a:ext cx="54864" cy="1280160"/>
          </a:xfrm>
          <a:prstGeom prst="rect">
            <a:avLst/>
          </a:prstGeom>
          <a:solidFill>
            <a:srgbClr val="059669"/>
          </a:solidFill>
          <a:ln/>
        </p:spPr>
      </p:sp>
      <p:sp>
        <p:nvSpPr>
          <p:cNvPr id="15" name="Text 13"/>
          <p:cNvSpPr/>
          <p:nvPr/>
        </p:nvSpPr>
        <p:spPr>
          <a:xfrm>
            <a:off x="960120" y="4754880"/>
            <a:ext cx="10360152"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学习资源</a:t>
            </a:r>
            <a:endParaRPr lang="en-US" sz="1400" dirty="0"/>
          </a:p>
        </p:txBody>
      </p:sp>
      <p:sp>
        <p:nvSpPr>
          <p:cNvPr id="16" name="Text 14"/>
          <p:cNvSpPr/>
          <p:nvPr/>
        </p:nvSpPr>
        <p:spPr>
          <a:xfrm>
            <a:off x="960120" y="5120640"/>
            <a:ext cx="10360152" cy="86868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Writing Science (Schimel): 学术写作经典教材</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Academic Phrasebank (Manchester): 学术论文句型库</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TR-E Most Cited Papers: 研读高引论文的写作风格</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深度对比：学术写作思维框架差异</a:t>
            </a:r>
            <a:endParaRPr lang="en-US" sz="2800" dirty="0"/>
          </a:p>
        </p:txBody>
      </p:sp>
      <p:sp>
        <p:nvSpPr>
          <p:cNvPr id="4" name="Shape 2"/>
          <p:cNvSpPr/>
          <p:nvPr/>
        </p:nvSpPr>
        <p:spPr>
          <a:xfrm>
            <a:off x="731520" y="914400"/>
            <a:ext cx="2286000" cy="36576"/>
          </a:xfrm>
          <a:prstGeom prst="rect">
            <a:avLst/>
          </a:prstGeom>
          <a:solidFill>
            <a:srgbClr val="0D9488"/>
          </a:solidFill>
          <a:ln/>
        </p:spPr>
      </p:sp>
      <p:sp>
        <p:nvSpPr>
          <p:cNvPr id="5" name="Shape 3"/>
          <p:cNvSpPr/>
          <p:nvPr/>
        </p:nvSpPr>
        <p:spPr>
          <a:xfrm>
            <a:off x="457200" y="1188720"/>
            <a:ext cx="5440680" cy="2377440"/>
          </a:xfrm>
          <a:prstGeom prst="rect">
            <a:avLst>
              <a:gd name="adj" fmla="val 3846"/>
            </a:avLst>
          </a:prstGeom>
          <a:solidFill>
            <a:srgbClr val="FFFFFF"/>
          </a:solidFill>
          <a:ln/>
          <a:effectLst>
            <a:outerShdw sx="100000" sy="100000" kx="0" ky="0" algn="bl" rotWithShape="0" blurRad="50800" dist="12700" dir="16200000">
              <a:srgbClr val="CCCCCC">
                <a:alpha val="30000"/>
              </a:srgbClr>
            </a:outerShdw>
          </a:effectLst>
        </p:spPr>
      </p:sp>
      <p:sp>
        <p:nvSpPr>
          <p:cNvPr id="6" name="Shape 4"/>
          <p:cNvSpPr/>
          <p:nvPr/>
        </p:nvSpPr>
        <p:spPr>
          <a:xfrm>
            <a:off x="457200" y="1280160"/>
            <a:ext cx="54864" cy="2194560"/>
          </a:xfrm>
          <a:prstGeom prst="rect">
            <a:avLst/>
          </a:prstGeom>
          <a:solidFill>
            <a:srgbClr val="8B1A1A"/>
          </a:solidFill>
          <a:ln/>
        </p:spPr>
      </p:sp>
      <p:sp>
        <p:nvSpPr>
          <p:cNvPr id="7" name="Text 5"/>
          <p:cNvSpPr/>
          <p:nvPr/>
        </p:nvSpPr>
        <p:spPr>
          <a:xfrm>
            <a:off x="685800" y="1280160"/>
            <a:ext cx="507492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控制与决策思维模式</a:t>
            </a:r>
            <a:endParaRPr lang="en-US" sz="1400" dirty="0"/>
          </a:p>
        </p:txBody>
      </p:sp>
      <p:sp>
        <p:nvSpPr>
          <p:cNvPr id="8" name="Text 6"/>
          <p:cNvSpPr/>
          <p:nvPr/>
        </p:nvSpPr>
        <p:spPr>
          <a:xfrm>
            <a:off x="685800" y="1645920"/>
            <a:ext cx="5074920" cy="178308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① “解决问题”导向：强调方法的有效性</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② “证明”逻辑：通过实验证明方法优于现有方法</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③ “封闭”结构：问题→模型→算法→实验→结论</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④ “工具性”贡献：提供了一种新的解决方案</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⑤ “绝对”对比：“降低4.59%”</a:t>
            </a:r>
            <a:endParaRPr lang="en-US" sz="1100" dirty="0"/>
          </a:p>
        </p:txBody>
      </p:sp>
      <p:sp>
        <p:nvSpPr>
          <p:cNvPr id="9" name="Shape 7"/>
          <p:cNvSpPr/>
          <p:nvPr/>
        </p:nvSpPr>
        <p:spPr>
          <a:xfrm>
            <a:off x="6263640" y="1188720"/>
            <a:ext cx="5440680" cy="2377440"/>
          </a:xfrm>
          <a:prstGeom prst="rect">
            <a:avLst>
              <a:gd name="adj" fmla="val 3846"/>
            </a:avLst>
          </a:prstGeom>
          <a:solidFill>
            <a:srgbClr val="FFFFFF"/>
          </a:solidFill>
          <a:ln/>
          <a:effectLst>
            <a:outerShdw sx="100000" sy="100000" kx="0" ky="0" algn="bl" rotWithShape="0" blurRad="50800" dist="12700" dir="16200000">
              <a:srgbClr val="CCCCCC">
                <a:alpha val="30000"/>
              </a:srgbClr>
            </a:outerShdw>
          </a:effectLst>
        </p:spPr>
      </p:sp>
      <p:sp>
        <p:nvSpPr>
          <p:cNvPr id="10" name="Shape 8"/>
          <p:cNvSpPr/>
          <p:nvPr/>
        </p:nvSpPr>
        <p:spPr>
          <a:xfrm>
            <a:off x="6263640" y="1280160"/>
            <a:ext cx="54864" cy="2194560"/>
          </a:xfrm>
          <a:prstGeom prst="rect">
            <a:avLst/>
          </a:prstGeom>
          <a:solidFill>
            <a:srgbClr val="1E3A5F"/>
          </a:solidFill>
          <a:ln/>
        </p:spPr>
      </p:sp>
      <p:sp>
        <p:nvSpPr>
          <p:cNvPr id="11" name="Text 9"/>
          <p:cNvSpPr/>
          <p:nvPr/>
        </p:nvSpPr>
        <p:spPr>
          <a:xfrm>
            <a:off x="6492240" y="1280160"/>
            <a:ext cx="507492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TR-E Thinking Pattern</a:t>
            </a:r>
            <a:endParaRPr lang="en-US" sz="1400" dirty="0"/>
          </a:p>
        </p:txBody>
      </p:sp>
      <p:sp>
        <p:nvSpPr>
          <p:cNvPr id="12" name="Text 10"/>
          <p:cNvSpPr/>
          <p:nvPr/>
        </p:nvSpPr>
        <p:spPr>
          <a:xfrm>
            <a:off x="6492240" y="1645920"/>
            <a:ext cx="5074920" cy="178308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① “Filling a gap” driven: identifies research void</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② “Argument” logic: builds a case through evidence chain</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③ “Open” structure: gap→model→experiment→insight→limitation</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④ “Multi-dimensional” contribution: theory + practice + policy</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⑤ “Relative” comparison: “statistically significant (p&lt;0.01)”</a:t>
            </a:r>
            <a:endParaRPr lang="en-US" sz="1100" dirty="0"/>
          </a:p>
        </p:txBody>
      </p:sp>
      <p:sp>
        <p:nvSpPr>
          <p:cNvPr id="13" name="Shape 11"/>
          <p:cNvSpPr/>
          <p:nvPr/>
        </p:nvSpPr>
        <p:spPr>
          <a:xfrm>
            <a:off x="457200" y="3794760"/>
            <a:ext cx="11274552" cy="2103120"/>
          </a:xfrm>
          <a:prstGeom prst="rect">
            <a:avLst>
              <a:gd name="adj" fmla="val 4348"/>
            </a:avLst>
          </a:prstGeom>
          <a:solidFill>
            <a:srgbClr val="FFFFFF"/>
          </a:solidFill>
          <a:ln/>
          <a:effectLst>
            <a:outerShdw sx="100000" sy="100000" kx="0" ky="0" algn="bl" rotWithShape="0" blurRad="50800" dist="12700" dir="16200000">
              <a:srgbClr val="CCCCCC">
                <a:alpha val="30000"/>
              </a:srgbClr>
            </a:outerShdw>
          </a:effectLst>
        </p:spPr>
      </p:sp>
      <p:sp>
        <p:nvSpPr>
          <p:cNvPr id="14" name="Shape 12"/>
          <p:cNvSpPr/>
          <p:nvPr/>
        </p:nvSpPr>
        <p:spPr>
          <a:xfrm>
            <a:off x="457200" y="3886200"/>
            <a:ext cx="54864" cy="1920240"/>
          </a:xfrm>
          <a:prstGeom prst="rect">
            <a:avLst/>
          </a:prstGeom>
          <a:solidFill>
            <a:srgbClr val="0D9488"/>
          </a:solidFill>
          <a:ln/>
        </p:spPr>
      </p:sp>
      <p:sp>
        <p:nvSpPr>
          <p:cNvPr id="15" name="Text 13"/>
          <p:cNvSpPr/>
          <p:nvPr/>
        </p:nvSpPr>
        <p:spPr>
          <a:xfrm>
            <a:off x="685800" y="3886200"/>
            <a:ext cx="10908792"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思维转变的四个关键轴心</a:t>
            </a:r>
            <a:endParaRPr lang="en-US" sz="1400" dirty="0"/>
          </a:p>
        </p:txBody>
      </p:sp>
      <p:sp>
        <p:nvSpPr>
          <p:cNvPr id="16" name="Text 14"/>
          <p:cNvSpPr/>
          <p:nvPr/>
        </p:nvSpPr>
        <p:spPr>
          <a:xfrm>
            <a:off x="685800" y="4251960"/>
            <a:ext cx="10908792" cy="150876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轴心①：从“解决问题”到“识别问题”—— TR-E期望你说明为什么这个问题重要，而非仅仅解决它。</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轴心②：从“算法更优”到“方法更合理”—— 强调方法设计的合理性和创新性，而非简单的性能优势。</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轴心③：从“结果展示”到“洞见提炼”—— 每个结果都应引出对实践者有用的结论。</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轴心④：从“单一指标”到“多维评估”—— 同时考虑经济、环境、社会多维度影响。</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专题分析：MCPP/弧路由/神经组合优化的写作策略</a:t>
            </a:r>
            <a:endParaRPr lang="en-US" sz="2800" dirty="0"/>
          </a:p>
        </p:txBody>
      </p:sp>
      <p:sp>
        <p:nvSpPr>
          <p:cNvPr id="4" name="Shape 2"/>
          <p:cNvSpPr/>
          <p:nvPr/>
        </p:nvSpPr>
        <p:spPr>
          <a:xfrm>
            <a:off x="731520" y="914400"/>
            <a:ext cx="2286000" cy="36576"/>
          </a:xfrm>
          <a:prstGeom prst="rect">
            <a:avLst/>
          </a:prstGeom>
          <a:solidFill>
            <a:srgbClr val="0D9488"/>
          </a:solidFill>
          <a:ln/>
        </p:spPr>
      </p:sp>
      <p:sp>
        <p:nvSpPr>
          <p:cNvPr id="5" name="Shape 3"/>
          <p:cNvSpPr/>
          <p:nvPr/>
        </p:nvSpPr>
        <p:spPr>
          <a:xfrm>
            <a:off x="457200" y="1188720"/>
            <a:ext cx="3474720" cy="2194560"/>
          </a:xfrm>
          <a:prstGeom prst="rect">
            <a:avLst>
              <a:gd name="adj" fmla="val 4167"/>
            </a:avLst>
          </a:prstGeom>
          <a:solidFill>
            <a:srgbClr val="FFFFFF"/>
          </a:solidFill>
          <a:ln/>
          <a:effectLst>
            <a:outerShdw sx="100000" sy="100000" kx="0" ky="0" algn="bl" rotWithShape="0" blurRad="50800" dist="12700" dir="16200000">
              <a:srgbClr val="CCCCCC">
                <a:alpha val="30000"/>
              </a:srgbClr>
            </a:outerShdw>
          </a:effectLst>
        </p:spPr>
      </p:sp>
      <p:sp>
        <p:nvSpPr>
          <p:cNvPr id="6" name="Shape 4"/>
          <p:cNvSpPr/>
          <p:nvPr/>
        </p:nvSpPr>
        <p:spPr>
          <a:xfrm>
            <a:off x="457200" y="1280160"/>
            <a:ext cx="54864" cy="2011680"/>
          </a:xfrm>
          <a:prstGeom prst="rect">
            <a:avLst/>
          </a:prstGeom>
          <a:solidFill>
            <a:srgbClr val="DC2626"/>
          </a:solidFill>
          <a:ln/>
        </p:spPr>
      </p:sp>
      <p:sp>
        <p:nvSpPr>
          <p:cNvPr id="7" name="Text 5"/>
          <p:cNvSpPr/>
          <p:nvPr/>
        </p:nvSpPr>
        <p:spPr>
          <a:xfrm>
            <a:off x="685800" y="1280160"/>
            <a:ext cx="310896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MCPP 方向写作要点</a:t>
            </a:r>
            <a:endParaRPr lang="en-US" sz="1400" dirty="0"/>
          </a:p>
        </p:txBody>
      </p:sp>
      <p:sp>
        <p:nvSpPr>
          <p:cNvPr id="8" name="Text 6"/>
          <p:cNvSpPr/>
          <p:nvPr/>
        </p:nvSpPr>
        <p:spPr>
          <a:xfrm>
            <a:off x="685800" y="1645920"/>
            <a:ext cx="3108960" cy="160020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强调“覆盖”与“服务”的对立统一</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突出“重复服务”带来的新的复杂性</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模型创新在于将弧上需求转化为约束</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实验需要展示“服务次数”的敏感性</a:t>
            </a:r>
            <a:endParaRPr lang="en-US" sz="1100" dirty="0"/>
          </a:p>
        </p:txBody>
      </p:sp>
      <p:sp>
        <p:nvSpPr>
          <p:cNvPr id="9" name="Shape 7"/>
          <p:cNvSpPr/>
          <p:nvPr/>
        </p:nvSpPr>
        <p:spPr>
          <a:xfrm>
            <a:off x="4297680" y="1188720"/>
            <a:ext cx="3474720" cy="2194560"/>
          </a:xfrm>
          <a:prstGeom prst="rect">
            <a:avLst>
              <a:gd name="adj" fmla="val 4167"/>
            </a:avLst>
          </a:prstGeom>
          <a:solidFill>
            <a:srgbClr val="FFFFFF"/>
          </a:solidFill>
          <a:ln/>
          <a:effectLst>
            <a:outerShdw sx="100000" sy="100000" kx="0" ky="0" algn="bl" rotWithShape="0" blurRad="50800" dist="12700" dir="16200000">
              <a:srgbClr val="CCCCCC">
                <a:alpha val="30000"/>
              </a:srgbClr>
            </a:outerShdw>
          </a:effectLst>
        </p:spPr>
      </p:sp>
      <p:sp>
        <p:nvSpPr>
          <p:cNvPr id="10" name="Shape 8"/>
          <p:cNvSpPr/>
          <p:nvPr/>
        </p:nvSpPr>
        <p:spPr>
          <a:xfrm>
            <a:off x="4297680" y="1280160"/>
            <a:ext cx="54864" cy="2011680"/>
          </a:xfrm>
          <a:prstGeom prst="rect">
            <a:avLst/>
          </a:prstGeom>
          <a:solidFill>
            <a:srgbClr val="1E3A5F"/>
          </a:solidFill>
          <a:ln/>
        </p:spPr>
      </p:sp>
      <p:sp>
        <p:nvSpPr>
          <p:cNvPr id="11" name="Text 9"/>
          <p:cNvSpPr/>
          <p:nvPr/>
        </p:nvSpPr>
        <p:spPr>
          <a:xfrm>
            <a:off x="4526280" y="1280160"/>
            <a:ext cx="310896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弧路由方向写作要点</a:t>
            </a:r>
            <a:endParaRPr lang="en-US" sz="1400" dirty="0"/>
          </a:p>
        </p:txBody>
      </p:sp>
      <p:sp>
        <p:nvSpPr>
          <p:cNvPr id="12" name="Text 10"/>
          <p:cNvSpPr/>
          <p:nvPr/>
        </p:nvSpPr>
        <p:spPr>
          <a:xfrm>
            <a:off x="4526280" y="1645920"/>
            <a:ext cx="3108960" cy="160020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强调“弧”与“节点”的本质差异</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突出“转向约束”的建模复杂性</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比较“节点路由→弧路由”的绩效差异</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展示“转向成本”参数的影响</a:t>
            </a:r>
            <a:endParaRPr lang="en-US" sz="1100" dirty="0"/>
          </a:p>
        </p:txBody>
      </p:sp>
      <p:sp>
        <p:nvSpPr>
          <p:cNvPr id="13" name="Shape 11"/>
          <p:cNvSpPr/>
          <p:nvPr/>
        </p:nvSpPr>
        <p:spPr>
          <a:xfrm>
            <a:off x="8138160" y="1188720"/>
            <a:ext cx="3593592" cy="2194560"/>
          </a:xfrm>
          <a:prstGeom prst="rect">
            <a:avLst>
              <a:gd name="adj" fmla="val 4167"/>
            </a:avLst>
          </a:prstGeom>
          <a:solidFill>
            <a:srgbClr val="FFFFFF"/>
          </a:solidFill>
          <a:ln/>
          <a:effectLst>
            <a:outerShdw sx="100000" sy="100000" kx="0" ky="0" algn="bl" rotWithShape="0" blurRad="50800" dist="12700" dir="16200000">
              <a:srgbClr val="CCCCCC">
                <a:alpha val="30000"/>
              </a:srgbClr>
            </a:outerShdw>
          </a:effectLst>
        </p:spPr>
      </p:sp>
      <p:sp>
        <p:nvSpPr>
          <p:cNvPr id="14" name="Shape 12"/>
          <p:cNvSpPr/>
          <p:nvPr/>
        </p:nvSpPr>
        <p:spPr>
          <a:xfrm>
            <a:off x="8138160" y="1280160"/>
            <a:ext cx="54864" cy="2011680"/>
          </a:xfrm>
          <a:prstGeom prst="rect">
            <a:avLst/>
          </a:prstGeom>
          <a:solidFill>
            <a:srgbClr val="059669"/>
          </a:solidFill>
          <a:ln/>
        </p:spPr>
      </p:sp>
      <p:sp>
        <p:nvSpPr>
          <p:cNvPr id="15" name="Text 13"/>
          <p:cNvSpPr/>
          <p:nvPr/>
        </p:nvSpPr>
        <p:spPr>
          <a:xfrm>
            <a:off x="8366760" y="1280160"/>
            <a:ext cx="3227832"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神经组合优化写作要点</a:t>
            </a:r>
            <a:endParaRPr lang="en-US" sz="1400" dirty="0"/>
          </a:p>
        </p:txBody>
      </p:sp>
      <p:sp>
        <p:nvSpPr>
          <p:cNvPr id="16" name="Text 14"/>
          <p:cNvSpPr/>
          <p:nvPr/>
        </p:nvSpPr>
        <p:spPr>
          <a:xfrm>
            <a:off x="8366760" y="1645920"/>
            <a:ext cx="3227832" cy="160020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强调“端到端”与“传统方法”的对比</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展示“泛化能力”是核心亮点</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“求解速度”是重要优势指标</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消融研究验证每个组件的贡献</a:t>
            </a:r>
            <a:endParaRPr lang="en-US" sz="1100" dirty="0"/>
          </a:p>
        </p:txBody>
      </p:sp>
      <p:sp>
        <p:nvSpPr>
          <p:cNvPr id="17" name="Text 15"/>
          <p:cNvSpPr/>
          <p:nvPr/>
        </p:nvSpPr>
        <p:spPr>
          <a:xfrm>
            <a:off x="731520" y="3657600"/>
            <a:ext cx="10725912" cy="1773936"/>
          </a:xfrm>
          <a:prstGeom prst="rect">
            <a:avLst/>
          </a:prstGeom>
          <a:noFill/>
          <a:ln/>
        </p:spPr>
        <p:txBody>
          <a:bodyPr wrap="square" rtlCol="0" anchor="t"/>
          <a:lstStyle/>
          <a:p>
            <a:pPr indent="0" marL="0">
              <a:lnSpc>
                <a:spcPct val="140000"/>
              </a:lnSpc>
              <a:spcAft>
                <a:spcPts val="400"/>
              </a:spcAft>
              <a:buNone/>
            </a:pPr>
            <a:r>
              <a:rPr lang="en-US" sz="1200" dirty="0">
                <a:solidFill>
                  <a:srgbClr val="0F172A"/>
                </a:solidFill>
                <a:latin typeface="Microsoft YaHei" pitchFamily="34" charset="0"/>
                <a:ea typeface="Microsoft YaHei" pitchFamily="34" charset="-122"/>
                <a:cs typeface="Microsoft YaHei" pitchFamily="34" charset="-120"/>
              </a:rPr>
              <a:t>•  共性策略：从“算法优势”到“问题洞察”。神经组合优化论文往往停留在“求解更快更好”，但TR-E要求回答“为什么”</a:t>
            </a:r>
            <a:pPr indent="0" marL="0">
              <a:lnSpc>
                <a:spcPct val="140000"/>
              </a:lnSpc>
              <a:spcAft>
                <a:spcPts val="400"/>
              </a:spcAft>
              <a:buNone/>
            </a:pPr>
            <a:r>
              <a:rPr lang="en-US" sz="1200" dirty="0">
                <a:solidFill>
                  <a:srgbClr val="0F172A"/>
                </a:solidFill>
                <a:latin typeface="Microsoft YaHei" pitchFamily="34" charset="0"/>
                <a:ea typeface="Microsoft YaHei" pitchFamily="34" charset="-122"/>
                <a:cs typeface="Microsoft YaHei" pitchFamily="34" charset="-120"/>
              </a:rPr>
              <a:t>•  关键差异：控制与决策可接受“方法A在基准上提升X%”；TR-E要求“方法A在什么条件下提升X%，为什么在这些条件下更有效”</a:t>
            </a:r>
            <a:pPr indent="0" marL="0">
              <a:lnSpc>
                <a:spcPct val="140000"/>
              </a:lnSpc>
              <a:spcAft>
                <a:spcPts val="400"/>
              </a:spcAft>
              <a:buNone/>
            </a:pPr>
            <a:r>
              <a:rPr lang="en-US" sz="1200" dirty="0">
                <a:solidFill>
                  <a:srgbClr val="0F172A"/>
                </a:solidFill>
                <a:latin typeface="Microsoft YaHei" pitchFamily="34" charset="0"/>
                <a:ea typeface="Microsoft YaHei" pitchFamily="34" charset="-122"/>
                <a:cs typeface="Microsoft YaHei" pitchFamily="34" charset="-120"/>
              </a:rPr>
              <a:t>•  特定领域建议：勇于在TR-E中展示“失败案例”和“方法局限性”，这反而能体现学术诚实性和深度思考</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个人化研究路线图：MCPP方向的发展路径</a:t>
            </a:r>
            <a:endParaRPr lang="en-US" sz="2800" dirty="0"/>
          </a:p>
        </p:txBody>
      </p:sp>
      <p:sp>
        <p:nvSpPr>
          <p:cNvPr id="4" name="Shape 2"/>
          <p:cNvSpPr/>
          <p:nvPr/>
        </p:nvSpPr>
        <p:spPr>
          <a:xfrm>
            <a:off x="731520" y="914400"/>
            <a:ext cx="2286000" cy="36576"/>
          </a:xfrm>
          <a:prstGeom prst="rect">
            <a:avLst/>
          </a:prstGeom>
          <a:solidFill>
            <a:srgbClr val="0D9488"/>
          </a:solidFill>
          <a:ln/>
        </p:spPr>
      </p:sp>
      <p:sp>
        <p:nvSpPr>
          <p:cNvPr id="5" name="Text 3"/>
          <p:cNvSpPr/>
          <p:nvPr/>
        </p:nvSpPr>
        <p:spPr>
          <a:xfrm>
            <a:off x="731520" y="1280160"/>
            <a:ext cx="10725912" cy="3017520"/>
          </a:xfrm>
          <a:prstGeom prst="rect">
            <a:avLst/>
          </a:prstGeom>
          <a:noFill/>
          <a:ln/>
        </p:spPr>
        <p:txBody>
          <a:bodyPr wrap="square" rtlCol="0" anchor="t"/>
          <a:lstStyle/>
          <a:p>
            <a:pPr indent="0" marL="0">
              <a:lnSpc>
                <a:spcPct val="140000"/>
              </a:lnSpc>
              <a:spcAft>
                <a:spcPts val="400"/>
              </a:spcAft>
              <a:buNone/>
            </a:pPr>
            <a:r>
              <a:rPr lang="en-US" sz="1400" dirty="0">
                <a:solidFill>
                  <a:srgbClr val="0F172A"/>
                </a:solidFill>
                <a:latin typeface="Microsoft YaHei" pitchFamily="34" charset="0"/>
                <a:ea typeface="Microsoft YaHei" pitchFamily="34" charset="-122"/>
                <a:cs typeface="Microsoft YaHei" pitchFamily="34" charset="-120"/>
              </a:rPr>
              <a:t>•  短期目标（6个月）：完成一篇控制与决策论文—— 聚焦“MCPP基础模型+改进算法”，按四要素结构写作</a:t>
            </a:r>
            <a:pPr indent="0" marL="0">
              <a:lnSpc>
                <a:spcPct val="140000"/>
              </a:lnSpc>
              <a:spcAft>
                <a:spcPts val="400"/>
              </a:spcAft>
              <a:buNone/>
            </a:pPr>
            <a:r>
              <a:rPr lang="en-US" sz="1400" dirty="0">
                <a:solidFill>
                  <a:srgbClr val="0F172A"/>
                </a:solidFill>
                <a:latin typeface="Microsoft YaHei" pitchFamily="34" charset="0"/>
                <a:ea typeface="Microsoft YaHei" pitchFamily="34" charset="-122"/>
                <a:cs typeface="Microsoft YaHei" pitchFamily="34" charset="-120"/>
              </a:rPr>
              <a:t>•  中期目标（12个月）：投稿一篇TR-E论文—— 将控制与决策的方法论重新包装，增加Managerial Insights和灵敏度分析</a:t>
            </a:r>
            <a:pPr indent="0" marL="0">
              <a:lnSpc>
                <a:spcPct val="140000"/>
              </a:lnSpc>
              <a:spcAft>
                <a:spcPts val="400"/>
              </a:spcAft>
              <a:buNone/>
            </a:pPr>
            <a:r>
              <a:rPr lang="en-US" sz="1400" dirty="0">
                <a:solidFill>
                  <a:srgbClr val="0F172A"/>
                </a:solidFill>
                <a:latin typeface="Microsoft YaHei" pitchFamily="34" charset="0"/>
                <a:ea typeface="Microsoft YaHei" pitchFamily="34" charset="-122"/>
                <a:cs typeface="Microsoft YaHei" pitchFamily="34" charset="-120"/>
              </a:rPr>
              <a:t>•  长期目标（18个月）：建立MCPP领域的系统性研究体系—— 包含确定性模型、随机优化、动态路由、神经组合优化四个子方向</a:t>
            </a:r>
            <a:pPr indent="0" marL="0">
              <a:lnSpc>
                <a:spcPct val="140000"/>
              </a:lnSpc>
              <a:spcAft>
                <a:spcPts val="400"/>
              </a:spcAft>
              <a:buNone/>
            </a:pPr>
            <a:r>
              <a:rPr lang="en-US" sz="1400" dirty="0">
                <a:solidFill>
                  <a:srgbClr val="0F172A"/>
                </a:solidFill>
                <a:latin typeface="Microsoft YaHei" pitchFamily="34" charset="0"/>
                <a:ea typeface="Microsoft YaHei" pitchFamily="34" charset="-122"/>
                <a:cs typeface="Microsoft YaHei" pitchFamily="34" charset="-120"/>
              </a:rPr>
              <a:t>•  核心策略：“一题多写”—— 同一个研究问题，分别用控制与决策和TR-E的思维框架重新组织，产出不同层次的学术贡献</a:t>
            </a:r>
            <a:endParaRPr lang="en-US" sz="1400" dirty="0"/>
          </a:p>
        </p:txBody>
      </p:sp>
      <p:sp>
        <p:nvSpPr>
          <p:cNvPr id="6" name="Shape 4"/>
          <p:cNvSpPr/>
          <p:nvPr/>
        </p:nvSpPr>
        <p:spPr>
          <a:xfrm>
            <a:off x="2194560" y="4937760"/>
            <a:ext cx="7680960" cy="36576"/>
          </a:xfrm>
          <a:prstGeom prst="rect">
            <a:avLst/>
          </a:prstGeom>
          <a:solidFill>
            <a:srgbClr val="E2E8F0"/>
          </a:solidFill>
          <a:ln/>
        </p:spPr>
      </p:sp>
      <p:sp>
        <p:nvSpPr>
          <p:cNvPr id="7" name="Shape 5"/>
          <p:cNvSpPr/>
          <p:nvPr/>
        </p:nvSpPr>
        <p:spPr>
          <a:xfrm>
            <a:off x="1874520" y="4800600"/>
            <a:ext cx="320040" cy="320040"/>
          </a:xfrm>
          <a:prstGeom prst="ellipse">
            <a:avLst/>
          </a:prstGeom>
          <a:solidFill>
            <a:srgbClr val="8B1A1A"/>
          </a:solidFill>
          <a:ln/>
        </p:spPr>
      </p:sp>
      <p:sp>
        <p:nvSpPr>
          <p:cNvPr id="8" name="Text 6"/>
          <p:cNvSpPr/>
          <p:nvPr/>
        </p:nvSpPr>
        <p:spPr>
          <a:xfrm>
            <a:off x="731520" y="5166360"/>
            <a:ext cx="2560320" cy="320040"/>
          </a:xfrm>
          <a:prstGeom prst="rect">
            <a:avLst/>
          </a:prstGeom>
          <a:noFill/>
          <a:ln/>
        </p:spPr>
        <p:txBody>
          <a:bodyPr wrap="square" rtlCol="0" anchor="ctr"/>
          <a:lstStyle/>
          <a:p>
            <a:pPr algn="ctr" indent="0" marL="0">
              <a:buNone/>
            </a:pPr>
            <a:r>
              <a:rPr lang="en-US" sz="1000" dirty="0">
                <a:solidFill>
                  <a:srgbClr val="334155"/>
                </a:solidFill>
                <a:latin typeface="Microsoft YaHei" pitchFamily="34" charset="0"/>
                <a:ea typeface="Microsoft YaHei" pitchFamily="34" charset="-122"/>
                <a:cs typeface="Microsoft YaHei" pitchFamily="34" charset="-120"/>
              </a:rPr>
              <a:t>Month 1-6</a:t>
            </a:r>
            <a:endParaRPr lang="en-US" sz="1000" dirty="0"/>
          </a:p>
        </p:txBody>
      </p:sp>
      <p:sp>
        <p:nvSpPr>
          <p:cNvPr id="9" name="Text 7"/>
          <p:cNvSpPr/>
          <p:nvPr/>
        </p:nvSpPr>
        <p:spPr>
          <a:xfrm>
            <a:off x="548640" y="3840480"/>
            <a:ext cx="2926080" cy="914400"/>
          </a:xfrm>
          <a:prstGeom prst="rect">
            <a:avLst/>
          </a:prstGeom>
          <a:noFill/>
          <a:ln/>
        </p:spPr>
        <p:txBody>
          <a:bodyPr wrap="square" rtlCol="0" anchor="ctr"/>
          <a:lstStyle/>
          <a:p>
            <a:pPr algn="ctr" indent="0" marL="0">
              <a:lnSpc>
                <a:spcPct val="130000"/>
              </a:lnSpc>
              <a:buNone/>
            </a:pPr>
            <a:r>
              <a:rPr lang="en-US" sz="1300" b="1" dirty="0">
                <a:solidFill>
                  <a:srgbClr val="8B1A1A"/>
                </a:solidFill>
                <a:latin typeface="Microsoft YaHei" pitchFamily="34" charset="0"/>
                <a:ea typeface="Microsoft YaHei" pitchFamily="34" charset="-122"/>
                <a:cs typeface="Microsoft YaHei" pitchFamily="34" charset="-120"/>
              </a:rPr>
              <a:t>控制与决策</a:t>
            </a:r>
            <a:endParaRPr lang="en-US" sz="1300" dirty="0"/>
          </a:p>
          <a:p>
            <a:pPr algn="ctr" indent="0" marL="0">
              <a:lnSpc>
                <a:spcPct val="130000"/>
              </a:lnSpc>
              <a:buNone/>
            </a:pPr>
            <a:r>
              <a:rPr lang="en-US" sz="1300" b="1" dirty="0">
                <a:solidFill>
                  <a:srgbClr val="8B1A1A"/>
                </a:solidFill>
                <a:latin typeface="Microsoft YaHei" pitchFamily="34" charset="0"/>
                <a:ea typeface="Microsoft YaHei" pitchFamily="34" charset="-122"/>
                <a:cs typeface="Microsoft YaHei" pitchFamily="34" charset="-120"/>
              </a:rPr>
              <a:t>论文</a:t>
            </a:r>
            <a:endParaRPr lang="en-US" sz="1300" dirty="0"/>
          </a:p>
        </p:txBody>
      </p:sp>
      <p:sp>
        <p:nvSpPr>
          <p:cNvPr id="10" name="Shape 8"/>
          <p:cNvSpPr/>
          <p:nvPr/>
        </p:nvSpPr>
        <p:spPr>
          <a:xfrm>
            <a:off x="5532120" y="4800600"/>
            <a:ext cx="320040" cy="320040"/>
          </a:xfrm>
          <a:prstGeom prst="ellipse">
            <a:avLst/>
          </a:prstGeom>
          <a:solidFill>
            <a:srgbClr val="1E3A5F"/>
          </a:solidFill>
          <a:ln/>
        </p:spPr>
      </p:sp>
      <p:sp>
        <p:nvSpPr>
          <p:cNvPr id="11" name="Text 9"/>
          <p:cNvSpPr/>
          <p:nvPr/>
        </p:nvSpPr>
        <p:spPr>
          <a:xfrm>
            <a:off x="4389120" y="5166360"/>
            <a:ext cx="2560320" cy="320040"/>
          </a:xfrm>
          <a:prstGeom prst="rect">
            <a:avLst/>
          </a:prstGeom>
          <a:noFill/>
          <a:ln/>
        </p:spPr>
        <p:txBody>
          <a:bodyPr wrap="square" rtlCol="0" anchor="ctr"/>
          <a:lstStyle/>
          <a:p>
            <a:pPr algn="ctr" indent="0" marL="0">
              <a:buNone/>
            </a:pPr>
            <a:r>
              <a:rPr lang="en-US" sz="1000" dirty="0">
                <a:solidFill>
                  <a:srgbClr val="334155"/>
                </a:solidFill>
                <a:latin typeface="Microsoft YaHei" pitchFamily="34" charset="0"/>
                <a:ea typeface="Microsoft YaHei" pitchFamily="34" charset="-122"/>
                <a:cs typeface="Microsoft YaHei" pitchFamily="34" charset="-120"/>
              </a:rPr>
              <a:t>Month 7-12</a:t>
            </a:r>
            <a:endParaRPr lang="en-US" sz="1000" dirty="0"/>
          </a:p>
        </p:txBody>
      </p:sp>
      <p:sp>
        <p:nvSpPr>
          <p:cNvPr id="12" name="Text 10"/>
          <p:cNvSpPr/>
          <p:nvPr/>
        </p:nvSpPr>
        <p:spPr>
          <a:xfrm>
            <a:off x="4206240" y="3840480"/>
            <a:ext cx="2926080" cy="914400"/>
          </a:xfrm>
          <a:prstGeom prst="rect">
            <a:avLst/>
          </a:prstGeom>
          <a:noFill/>
          <a:ln/>
        </p:spPr>
        <p:txBody>
          <a:bodyPr wrap="square" rtlCol="0" anchor="ctr"/>
          <a:lstStyle/>
          <a:p>
            <a:pPr algn="ctr" indent="0" marL="0">
              <a:lnSpc>
                <a:spcPct val="130000"/>
              </a:lnSpc>
              <a:buNone/>
            </a:pPr>
            <a:r>
              <a:rPr lang="en-US" sz="1300" b="1" dirty="0">
                <a:solidFill>
                  <a:srgbClr val="1E3A5F"/>
                </a:solidFill>
                <a:latin typeface="Microsoft YaHei" pitchFamily="34" charset="0"/>
                <a:ea typeface="Microsoft YaHei" pitchFamily="34" charset="-122"/>
                <a:cs typeface="Microsoft YaHei" pitchFamily="34" charset="-120"/>
              </a:rPr>
              <a:t>TR-E</a:t>
            </a:r>
            <a:endParaRPr lang="en-US" sz="1300" dirty="0"/>
          </a:p>
          <a:p>
            <a:pPr algn="ctr" indent="0" marL="0">
              <a:lnSpc>
                <a:spcPct val="130000"/>
              </a:lnSpc>
              <a:buNone/>
            </a:pPr>
            <a:r>
              <a:rPr lang="en-US" sz="1300" b="1" dirty="0">
                <a:solidFill>
                  <a:srgbClr val="1E3A5F"/>
                </a:solidFill>
                <a:latin typeface="Microsoft YaHei" pitchFamily="34" charset="0"/>
                <a:ea typeface="Microsoft YaHei" pitchFamily="34" charset="-122"/>
                <a:cs typeface="Microsoft YaHei" pitchFamily="34" charset="-120"/>
              </a:rPr>
              <a:t>Paper</a:t>
            </a:r>
            <a:endParaRPr lang="en-US" sz="1300" dirty="0"/>
          </a:p>
        </p:txBody>
      </p:sp>
      <p:sp>
        <p:nvSpPr>
          <p:cNvPr id="13" name="Shape 11"/>
          <p:cNvSpPr/>
          <p:nvPr/>
        </p:nvSpPr>
        <p:spPr>
          <a:xfrm>
            <a:off x="9189720" y="4800600"/>
            <a:ext cx="320040" cy="320040"/>
          </a:xfrm>
          <a:prstGeom prst="ellipse">
            <a:avLst/>
          </a:prstGeom>
          <a:solidFill>
            <a:srgbClr val="0D9488"/>
          </a:solidFill>
          <a:ln/>
        </p:spPr>
      </p:sp>
      <p:sp>
        <p:nvSpPr>
          <p:cNvPr id="14" name="Text 12"/>
          <p:cNvSpPr/>
          <p:nvPr/>
        </p:nvSpPr>
        <p:spPr>
          <a:xfrm>
            <a:off x="8046720" y="5166360"/>
            <a:ext cx="2560320" cy="320040"/>
          </a:xfrm>
          <a:prstGeom prst="rect">
            <a:avLst/>
          </a:prstGeom>
          <a:noFill/>
          <a:ln/>
        </p:spPr>
        <p:txBody>
          <a:bodyPr wrap="square" rtlCol="0" anchor="ctr"/>
          <a:lstStyle/>
          <a:p>
            <a:pPr algn="ctr" indent="0" marL="0">
              <a:buNone/>
            </a:pPr>
            <a:r>
              <a:rPr lang="en-US" sz="1000" dirty="0">
                <a:solidFill>
                  <a:srgbClr val="334155"/>
                </a:solidFill>
                <a:latin typeface="Microsoft YaHei" pitchFamily="34" charset="0"/>
                <a:ea typeface="Microsoft YaHei" pitchFamily="34" charset="-122"/>
                <a:cs typeface="Microsoft YaHei" pitchFamily="34" charset="-120"/>
              </a:rPr>
              <a:t>Month 13-18</a:t>
            </a:r>
            <a:endParaRPr lang="en-US" sz="1000" dirty="0"/>
          </a:p>
        </p:txBody>
      </p:sp>
      <p:sp>
        <p:nvSpPr>
          <p:cNvPr id="15" name="Text 13"/>
          <p:cNvSpPr/>
          <p:nvPr/>
        </p:nvSpPr>
        <p:spPr>
          <a:xfrm>
            <a:off x="7863840" y="3840480"/>
            <a:ext cx="2926080" cy="914400"/>
          </a:xfrm>
          <a:prstGeom prst="rect">
            <a:avLst/>
          </a:prstGeom>
          <a:noFill/>
          <a:ln/>
        </p:spPr>
        <p:txBody>
          <a:bodyPr wrap="square" rtlCol="0" anchor="ctr"/>
          <a:lstStyle/>
          <a:p>
            <a:pPr algn="ctr" indent="0" marL="0">
              <a:lnSpc>
                <a:spcPct val="130000"/>
              </a:lnSpc>
              <a:buNone/>
            </a:pPr>
            <a:r>
              <a:rPr lang="en-US" sz="1300" b="1" dirty="0">
                <a:solidFill>
                  <a:srgbClr val="0D9488"/>
                </a:solidFill>
                <a:latin typeface="Microsoft YaHei" pitchFamily="34" charset="0"/>
                <a:ea typeface="Microsoft YaHei" pitchFamily="34" charset="-122"/>
                <a:cs typeface="Microsoft YaHei" pitchFamily="34" charset="-120"/>
              </a:rPr>
              <a:t>Systematic</a:t>
            </a:r>
            <a:endParaRPr lang="en-US" sz="1300" dirty="0"/>
          </a:p>
          <a:p>
            <a:pPr algn="ctr" indent="0" marL="0">
              <a:lnSpc>
                <a:spcPct val="130000"/>
              </a:lnSpc>
              <a:buNone/>
            </a:pPr>
            <a:r>
              <a:rPr lang="en-US" sz="1300" b="1" dirty="0">
                <a:solidFill>
                  <a:srgbClr val="0D9488"/>
                </a:solidFill>
                <a:latin typeface="Microsoft YaHei" pitchFamily="34" charset="0"/>
                <a:ea typeface="Microsoft YaHei" pitchFamily="34" charset="-122"/>
                <a:cs typeface="Microsoft YaHei" pitchFamily="34" charset="-120"/>
              </a:rPr>
              <a:t>Research</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核心要点回顾</a:t>
            </a:r>
            <a:endParaRPr lang="en-US" sz="2800" dirty="0"/>
          </a:p>
        </p:txBody>
      </p:sp>
      <p:sp>
        <p:nvSpPr>
          <p:cNvPr id="4" name="Shape 2"/>
          <p:cNvSpPr/>
          <p:nvPr/>
        </p:nvSpPr>
        <p:spPr>
          <a:xfrm>
            <a:off x="731520" y="914400"/>
            <a:ext cx="2286000" cy="36576"/>
          </a:xfrm>
          <a:prstGeom prst="rect">
            <a:avLst/>
          </a:prstGeom>
          <a:solidFill>
            <a:srgbClr val="0D9488"/>
          </a:solidFill>
          <a:ln/>
        </p:spPr>
      </p:sp>
      <p:sp>
        <p:nvSpPr>
          <p:cNvPr id="5" name="Shape 3"/>
          <p:cNvSpPr/>
          <p:nvPr/>
        </p:nvSpPr>
        <p:spPr>
          <a:xfrm>
            <a:off x="457200" y="1280160"/>
            <a:ext cx="3566160" cy="2194560"/>
          </a:xfrm>
          <a:prstGeom prst="rect">
            <a:avLst>
              <a:gd name="adj" fmla="val 3333"/>
            </a:avLst>
          </a:prstGeom>
          <a:solidFill>
            <a:srgbClr val="FFFFFF"/>
          </a:solidFill>
          <a:ln/>
          <a:effectLst>
            <a:outerShdw sx="100000" sy="100000" kx="0" ky="0" algn="bl" rotWithShape="0" blurRad="38100" dist="12700" dir="16200000">
              <a:srgbClr val="CCCCCC">
                <a:alpha val="30000"/>
              </a:srgbClr>
            </a:outerShdw>
          </a:effectLst>
        </p:spPr>
      </p:sp>
      <p:sp>
        <p:nvSpPr>
          <p:cNvPr id="6" name="Shape 4"/>
          <p:cNvSpPr/>
          <p:nvPr/>
        </p:nvSpPr>
        <p:spPr>
          <a:xfrm>
            <a:off x="457200" y="1280160"/>
            <a:ext cx="3566160" cy="54864"/>
          </a:xfrm>
          <a:prstGeom prst="rect">
            <a:avLst/>
          </a:prstGeom>
          <a:solidFill>
            <a:srgbClr val="DC2626"/>
          </a:solidFill>
          <a:ln/>
        </p:spPr>
      </p:sp>
      <p:sp>
        <p:nvSpPr>
          <p:cNvPr id="7" name="Text 5"/>
          <p:cNvSpPr/>
          <p:nvPr/>
        </p:nvSpPr>
        <p:spPr>
          <a:xfrm>
            <a:off x="457200" y="1417320"/>
            <a:ext cx="731520" cy="548640"/>
          </a:xfrm>
          <a:prstGeom prst="rect">
            <a:avLst/>
          </a:prstGeom>
          <a:noFill/>
          <a:ln/>
        </p:spPr>
        <p:txBody>
          <a:bodyPr wrap="square" rtlCol="0" anchor="ctr"/>
          <a:lstStyle/>
          <a:p>
            <a:pPr algn="ctr" indent="0" marL="0">
              <a:buNone/>
            </a:pPr>
            <a:r>
              <a:rPr lang="en-US" sz="2800" b="1" dirty="0">
                <a:solidFill>
                  <a:srgbClr val="DC2626"/>
                </a:solidFill>
                <a:latin typeface="Times New Roman" pitchFamily="34" charset="0"/>
                <a:ea typeface="Times New Roman" pitchFamily="34" charset="-122"/>
                <a:cs typeface="Times New Roman" pitchFamily="34" charset="-120"/>
              </a:rPr>
              <a:t>01</a:t>
            </a:r>
            <a:endParaRPr lang="en-US" sz="2800" dirty="0"/>
          </a:p>
        </p:txBody>
      </p:sp>
      <p:sp>
        <p:nvSpPr>
          <p:cNvPr id="8" name="Text 6"/>
          <p:cNvSpPr/>
          <p:nvPr/>
        </p:nvSpPr>
        <p:spPr>
          <a:xfrm>
            <a:off x="1188720" y="1463040"/>
            <a:ext cx="2651760" cy="411480"/>
          </a:xfrm>
          <a:prstGeom prst="rect">
            <a:avLst/>
          </a:prstGeom>
          <a:noFill/>
          <a:ln/>
        </p:spPr>
        <p:txBody>
          <a:bodyPr wrap="square" rtlCol="0" anchor="ctr"/>
          <a:lstStyle/>
          <a:p>
            <a:pPr indent="0" marL="0">
              <a:buNone/>
            </a:pPr>
            <a:r>
              <a:rPr lang="en-US" sz="1600" b="1" dirty="0">
                <a:solidFill>
                  <a:srgbClr val="0F172A"/>
                </a:solidFill>
                <a:latin typeface="Microsoft YaHei" pitchFamily="34" charset="0"/>
                <a:ea typeface="Microsoft YaHei" pitchFamily="34" charset="-122"/>
                <a:cs typeface="Microsoft YaHei" pitchFamily="34" charset="-120"/>
              </a:rPr>
              <a:t>结构是骨架</a:t>
            </a:r>
            <a:endParaRPr lang="en-US" sz="1600" dirty="0"/>
          </a:p>
        </p:txBody>
      </p:sp>
      <p:sp>
        <p:nvSpPr>
          <p:cNvPr id="9" name="Text 7"/>
          <p:cNvSpPr/>
          <p:nvPr/>
        </p:nvSpPr>
        <p:spPr>
          <a:xfrm>
            <a:off x="640080" y="2011680"/>
            <a:ext cx="3200400" cy="1280160"/>
          </a:xfrm>
          <a:prstGeom prst="rect">
            <a:avLst/>
          </a:prstGeom>
          <a:noFill/>
          <a:ln/>
        </p:spPr>
        <p:txBody>
          <a:bodyPr wrap="square" rtlCol="0" anchor="t"/>
          <a:lstStyle/>
          <a:p>
            <a:pPr indent="0" marL="0">
              <a:lnSpc>
                <a:spcPct val="140000"/>
              </a:lnSpc>
              <a:buNone/>
            </a:pPr>
            <a:r>
              <a:rPr lang="en-US" sz="1100" dirty="0">
                <a:solidFill>
                  <a:srgbClr val="334155"/>
                </a:solidFill>
                <a:latin typeface="Microsoft YaHei" pitchFamily="34" charset="0"/>
                <a:ea typeface="Microsoft YaHei" pitchFamily="34" charset="-122"/>
                <a:cs typeface="Microsoft YaHei" pitchFamily="34" charset="-120"/>
              </a:rPr>
              <a:t>控制与决策=四要素，TR-E=IMRaD。先确保结构完整，再追求细节优化。</a:t>
            </a:r>
            <a:endParaRPr lang="en-US" sz="1100" dirty="0"/>
          </a:p>
        </p:txBody>
      </p:sp>
      <p:sp>
        <p:nvSpPr>
          <p:cNvPr id="10" name="Shape 8"/>
          <p:cNvSpPr/>
          <p:nvPr/>
        </p:nvSpPr>
        <p:spPr>
          <a:xfrm>
            <a:off x="4297680" y="1280160"/>
            <a:ext cx="3566160" cy="2194560"/>
          </a:xfrm>
          <a:prstGeom prst="rect">
            <a:avLst>
              <a:gd name="adj" fmla="val 3333"/>
            </a:avLst>
          </a:prstGeom>
          <a:solidFill>
            <a:srgbClr val="FFFFFF"/>
          </a:solidFill>
          <a:ln/>
          <a:effectLst>
            <a:outerShdw sx="100000" sy="100000" kx="0" ky="0" algn="bl" rotWithShape="0" blurRad="38100" dist="12700" dir="16200000">
              <a:srgbClr val="CCCCCC">
                <a:alpha val="30000"/>
              </a:srgbClr>
            </a:outerShdw>
          </a:effectLst>
        </p:spPr>
      </p:sp>
      <p:sp>
        <p:nvSpPr>
          <p:cNvPr id="11" name="Shape 9"/>
          <p:cNvSpPr/>
          <p:nvPr/>
        </p:nvSpPr>
        <p:spPr>
          <a:xfrm>
            <a:off x="4297680" y="1280160"/>
            <a:ext cx="3566160" cy="54864"/>
          </a:xfrm>
          <a:prstGeom prst="rect">
            <a:avLst/>
          </a:prstGeom>
          <a:solidFill>
            <a:srgbClr val="1E3A5F"/>
          </a:solidFill>
          <a:ln/>
        </p:spPr>
      </p:sp>
      <p:sp>
        <p:nvSpPr>
          <p:cNvPr id="12" name="Text 10"/>
          <p:cNvSpPr/>
          <p:nvPr/>
        </p:nvSpPr>
        <p:spPr>
          <a:xfrm>
            <a:off x="4297680" y="1417320"/>
            <a:ext cx="731520" cy="548640"/>
          </a:xfrm>
          <a:prstGeom prst="rect">
            <a:avLst/>
          </a:prstGeom>
          <a:noFill/>
          <a:ln/>
        </p:spPr>
        <p:txBody>
          <a:bodyPr wrap="square" rtlCol="0" anchor="ctr"/>
          <a:lstStyle/>
          <a:p>
            <a:pPr algn="ctr" indent="0" marL="0">
              <a:buNone/>
            </a:pPr>
            <a:r>
              <a:rPr lang="en-US" sz="2800" b="1" dirty="0">
                <a:solidFill>
                  <a:srgbClr val="1E3A5F"/>
                </a:solidFill>
                <a:latin typeface="Times New Roman" pitchFamily="34" charset="0"/>
                <a:ea typeface="Times New Roman" pitchFamily="34" charset="-122"/>
                <a:cs typeface="Times New Roman" pitchFamily="34" charset="-120"/>
              </a:rPr>
              <a:t>02</a:t>
            </a:r>
            <a:endParaRPr lang="en-US" sz="2800" dirty="0"/>
          </a:p>
        </p:txBody>
      </p:sp>
      <p:sp>
        <p:nvSpPr>
          <p:cNvPr id="13" name="Text 11"/>
          <p:cNvSpPr/>
          <p:nvPr/>
        </p:nvSpPr>
        <p:spPr>
          <a:xfrm>
            <a:off x="5029200" y="1463040"/>
            <a:ext cx="2651760" cy="411480"/>
          </a:xfrm>
          <a:prstGeom prst="rect">
            <a:avLst/>
          </a:prstGeom>
          <a:noFill/>
          <a:ln/>
        </p:spPr>
        <p:txBody>
          <a:bodyPr wrap="square" rtlCol="0" anchor="ctr"/>
          <a:lstStyle/>
          <a:p>
            <a:pPr indent="0" marL="0">
              <a:buNone/>
            </a:pPr>
            <a:r>
              <a:rPr lang="en-US" sz="1600" b="1" dirty="0">
                <a:solidFill>
                  <a:srgbClr val="0F172A"/>
                </a:solidFill>
                <a:latin typeface="Microsoft YaHei" pitchFamily="34" charset="0"/>
                <a:ea typeface="Microsoft YaHei" pitchFamily="34" charset="-122"/>
                <a:cs typeface="Microsoft YaHei" pitchFamily="34" charset="-120"/>
              </a:rPr>
              <a:t>逻辑是筋脉</a:t>
            </a:r>
            <a:endParaRPr lang="en-US" sz="1600" dirty="0"/>
          </a:p>
        </p:txBody>
      </p:sp>
      <p:sp>
        <p:nvSpPr>
          <p:cNvPr id="14" name="Text 12"/>
          <p:cNvSpPr/>
          <p:nvPr/>
        </p:nvSpPr>
        <p:spPr>
          <a:xfrm>
            <a:off x="4480560" y="2011680"/>
            <a:ext cx="3200400" cy="1280160"/>
          </a:xfrm>
          <a:prstGeom prst="rect">
            <a:avLst/>
          </a:prstGeom>
          <a:noFill/>
          <a:ln/>
        </p:spPr>
        <p:txBody>
          <a:bodyPr wrap="square" rtlCol="0" anchor="t"/>
          <a:lstStyle/>
          <a:p>
            <a:pPr indent="0" marL="0">
              <a:lnSpc>
                <a:spcPct val="140000"/>
              </a:lnSpc>
              <a:buNone/>
            </a:pPr>
            <a:r>
              <a:rPr lang="en-US" sz="1100" dirty="0">
                <a:solidFill>
                  <a:srgbClr val="334155"/>
                </a:solidFill>
                <a:latin typeface="Microsoft YaHei" pitchFamily="34" charset="0"/>
                <a:ea typeface="Microsoft YaHei" pitchFamily="34" charset="-122"/>
                <a:cs typeface="Microsoft YaHei" pitchFamily="34" charset="-120"/>
              </a:rPr>
              <a:t>“首先-然后-接着-最后”的递进逻辑在两刊中均至关重要，只是语言表达不同。</a:t>
            </a:r>
            <a:endParaRPr lang="en-US" sz="1100" dirty="0"/>
          </a:p>
        </p:txBody>
      </p:sp>
      <p:sp>
        <p:nvSpPr>
          <p:cNvPr id="15" name="Shape 13"/>
          <p:cNvSpPr/>
          <p:nvPr/>
        </p:nvSpPr>
        <p:spPr>
          <a:xfrm>
            <a:off x="8138160" y="1280160"/>
            <a:ext cx="3566160" cy="2194560"/>
          </a:xfrm>
          <a:prstGeom prst="rect">
            <a:avLst>
              <a:gd name="adj" fmla="val 3333"/>
            </a:avLst>
          </a:prstGeom>
          <a:solidFill>
            <a:srgbClr val="FFFFFF"/>
          </a:solidFill>
          <a:ln/>
          <a:effectLst>
            <a:outerShdw sx="100000" sy="100000" kx="0" ky="0" algn="bl" rotWithShape="0" blurRad="38100" dist="12700" dir="16200000">
              <a:srgbClr val="CCCCCC">
                <a:alpha val="30000"/>
              </a:srgbClr>
            </a:outerShdw>
          </a:effectLst>
        </p:spPr>
      </p:sp>
      <p:sp>
        <p:nvSpPr>
          <p:cNvPr id="16" name="Shape 14"/>
          <p:cNvSpPr/>
          <p:nvPr/>
        </p:nvSpPr>
        <p:spPr>
          <a:xfrm>
            <a:off x="8138160" y="1280160"/>
            <a:ext cx="3566160" cy="54864"/>
          </a:xfrm>
          <a:prstGeom prst="rect">
            <a:avLst/>
          </a:prstGeom>
          <a:solidFill>
            <a:srgbClr val="059669"/>
          </a:solidFill>
          <a:ln/>
        </p:spPr>
      </p:sp>
      <p:sp>
        <p:nvSpPr>
          <p:cNvPr id="17" name="Text 15"/>
          <p:cNvSpPr/>
          <p:nvPr/>
        </p:nvSpPr>
        <p:spPr>
          <a:xfrm>
            <a:off x="8138160" y="1417320"/>
            <a:ext cx="731520" cy="548640"/>
          </a:xfrm>
          <a:prstGeom prst="rect">
            <a:avLst/>
          </a:prstGeom>
          <a:noFill/>
          <a:ln/>
        </p:spPr>
        <p:txBody>
          <a:bodyPr wrap="square" rtlCol="0" anchor="ctr"/>
          <a:lstStyle/>
          <a:p>
            <a:pPr algn="ctr" indent="0" marL="0">
              <a:buNone/>
            </a:pPr>
            <a:r>
              <a:rPr lang="en-US" sz="2800" b="1" dirty="0">
                <a:solidFill>
                  <a:srgbClr val="059669"/>
                </a:solidFill>
                <a:latin typeface="Times New Roman" pitchFamily="34" charset="0"/>
                <a:ea typeface="Times New Roman" pitchFamily="34" charset="-122"/>
                <a:cs typeface="Times New Roman" pitchFamily="34" charset="-120"/>
              </a:rPr>
              <a:t>03</a:t>
            </a:r>
            <a:endParaRPr lang="en-US" sz="2800" dirty="0"/>
          </a:p>
        </p:txBody>
      </p:sp>
      <p:sp>
        <p:nvSpPr>
          <p:cNvPr id="18" name="Text 16"/>
          <p:cNvSpPr/>
          <p:nvPr/>
        </p:nvSpPr>
        <p:spPr>
          <a:xfrm>
            <a:off x="8869680" y="1463040"/>
            <a:ext cx="2651760" cy="411480"/>
          </a:xfrm>
          <a:prstGeom prst="rect">
            <a:avLst/>
          </a:prstGeom>
          <a:noFill/>
          <a:ln/>
        </p:spPr>
        <p:txBody>
          <a:bodyPr wrap="square" rtlCol="0" anchor="ctr"/>
          <a:lstStyle/>
          <a:p>
            <a:pPr indent="0" marL="0">
              <a:buNone/>
            </a:pPr>
            <a:r>
              <a:rPr lang="en-US" sz="1600" b="1" dirty="0">
                <a:solidFill>
                  <a:srgbClr val="0F172A"/>
                </a:solidFill>
                <a:latin typeface="Microsoft YaHei" pitchFamily="34" charset="0"/>
                <a:ea typeface="Microsoft YaHei" pitchFamily="34" charset="-122"/>
                <a:cs typeface="Microsoft YaHei" pitchFamily="34" charset="-120"/>
              </a:rPr>
              <a:t>数据是证据</a:t>
            </a:r>
            <a:endParaRPr lang="en-US" sz="1600" dirty="0"/>
          </a:p>
        </p:txBody>
      </p:sp>
      <p:sp>
        <p:nvSpPr>
          <p:cNvPr id="19" name="Text 17"/>
          <p:cNvSpPr/>
          <p:nvPr/>
        </p:nvSpPr>
        <p:spPr>
          <a:xfrm>
            <a:off x="8321040" y="2011680"/>
            <a:ext cx="3200400" cy="1280160"/>
          </a:xfrm>
          <a:prstGeom prst="rect">
            <a:avLst/>
          </a:prstGeom>
          <a:noFill/>
          <a:ln/>
        </p:spPr>
        <p:txBody>
          <a:bodyPr wrap="square" rtlCol="0" anchor="t"/>
          <a:lstStyle/>
          <a:p>
            <a:pPr indent="0" marL="0">
              <a:lnSpc>
                <a:spcPct val="140000"/>
              </a:lnSpc>
              <a:buNone/>
            </a:pPr>
            <a:r>
              <a:rPr lang="en-US" sz="1100" dirty="0">
                <a:solidFill>
                  <a:srgbClr val="334155"/>
                </a:solidFill>
                <a:latin typeface="Microsoft YaHei" pitchFamily="34" charset="0"/>
                <a:ea typeface="Microsoft YaHei" pitchFamily="34" charset="-122"/>
                <a:cs typeface="Microsoft YaHei" pitchFamily="34" charset="-120"/>
              </a:rPr>
              <a:t>控制与决策需要精确数字，TR-E还需要统计显著性、消融研究、泛化性验证。</a:t>
            </a:r>
            <a:endParaRPr lang="en-US" sz="1100" dirty="0"/>
          </a:p>
        </p:txBody>
      </p:sp>
      <p:sp>
        <p:nvSpPr>
          <p:cNvPr id="20" name="Shape 18"/>
          <p:cNvSpPr/>
          <p:nvPr/>
        </p:nvSpPr>
        <p:spPr>
          <a:xfrm>
            <a:off x="457200" y="3749040"/>
            <a:ext cx="3566160" cy="2194560"/>
          </a:xfrm>
          <a:prstGeom prst="rect">
            <a:avLst>
              <a:gd name="adj" fmla="val 3333"/>
            </a:avLst>
          </a:prstGeom>
          <a:solidFill>
            <a:srgbClr val="FFFFFF"/>
          </a:solidFill>
          <a:ln/>
          <a:effectLst>
            <a:outerShdw sx="100000" sy="100000" kx="0" ky="0" algn="bl" rotWithShape="0" blurRad="38100" dist="12700" dir="16200000">
              <a:srgbClr val="CCCCCC">
                <a:alpha val="30000"/>
              </a:srgbClr>
            </a:outerShdw>
          </a:effectLst>
        </p:spPr>
      </p:sp>
      <p:sp>
        <p:nvSpPr>
          <p:cNvPr id="21" name="Shape 19"/>
          <p:cNvSpPr/>
          <p:nvPr/>
        </p:nvSpPr>
        <p:spPr>
          <a:xfrm>
            <a:off x="457200" y="3749040"/>
            <a:ext cx="3566160" cy="54864"/>
          </a:xfrm>
          <a:prstGeom prst="rect">
            <a:avLst/>
          </a:prstGeom>
          <a:solidFill>
            <a:srgbClr val="7C3AED"/>
          </a:solidFill>
          <a:ln/>
        </p:spPr>
      </p:sp>
      <p:sp>
        <p:nvSpPr>
          <p:cNvPr id="22" name="Text 20"/>
          <p:cNvSpPr/>
          <p:nvPr/>
        </p:nvSpPr>
        <p:spPr>
          <a:xfrm>
            <a:off x="457200" y="3886200"/>
            <a:ext cx="731520" cy="548640"/>
          </a:xfrm>
          <a:prstGeom prst="rect">
            <a:avLst/>
          </a:prstGeom>
          <a:noFill/>
          <a:ln/>
        </p:spPr>
        <p:txBody>
          <a:bodyPr wrap="square" rtlCol="0" anchor="ctr"/>
          <a:lstStyle/>
          <a:p>
            <a:pPr algn="ctr" indent="0" marL="0">
              <a:buNone/>
            </a:pPr>
            <a:r>
              <a:rPr lang="en-US" sz="2800" b="1" dirty="0">
                <a:solidFill>
                  <a:srgbClr val="7C3AED"/>
                </a:solidFill>
                <a:latin typeface="Times New Roman" pitchFamily="34" charset="0"/>
                <a:ea typeface="Times New Roman" pitchFamily="34" charset="-122"/>
                <a:cs typeface="Times New Roman" pitchFamily="34" charset="-120"/>
              </a:rPr>
              <a:t>04</a:t>
            </a:r>
            <a:endParaRPr lang="en-US" sz="2800" dirty="0"/>
          </a:p>
        </p:txBody>
      </p:sp>
      <p:sp>
        <p:nvSpPr>
          <p:cNvPr id="23" name="Text 21"/>
          <p:cNvSpPr/>
          <p:nvPr/>
        </p:nvSpPr>
        <p:spPr>
          <a:xfrm>
            <a:off x="1188720" y="3931920"/>
            <a:ext cx="2651760" cy="411480"/>
          </a:xfrm>
          <a:prstGeom prst="rect">
            <a:avLst/>
          </a:prstGeom>
          <a:noFill/>
          <a:ln/>
        </p:spPr>
        <p:txBody>
          <a:bodyPr wrap="square" rtlCol="0" anchor="ctr"/>
          <a:lstStyle/>
          <a:p>
            <a:pPr indent="0" marL="0">
              <a:buNone/>
            </a:pPr>
            <a:r>
              <a:rPr lang="en-US" sz="1600" b="1" dirty="0">
                <a:solidFill>
                  <a:srgbClr val="0F172A"/>
                </a:solidFill>
                <a:latin typeface="Microsoft YaHei" pitchFamily="34" charset="0"/>
                <a:ea typeface="Microsoft YaHei" pitchFamily="34" charset="-122"/>
                <a:cs typeface="Microsoft YaHei" pitchFamily="34" charset="-120"/>
              </a:rPr>
              <a:t>洞见是价值</a:t>
            </a:r>
            <a:endParaRPr lang="en-US" sz="1600" dirty="0"/>
          </a:p>
        </p:txBody>
      </p:sp>
      <p:sp>
        <p:nvSpPr>
          <p:cNvPr id="24" name="Text 22"/>
          <p:cNvSpPr/>
          <p:nvPr/>
        </p:nvSpPr>
        <p:spPr>
          <a:xfrm>
            <a:off x="640080" y="4480560"/>
            <a:ext cx="3200400" cy="1280160"/>
          </a:xfrm>
          <a:prstGeom prst="rect">
            <a:avLst/>
          </a:prstGeom>
          <a:noFill/>
          <a:ln/>
        </p:spPr>
        <p:txBody>
          <a:bodyPr wrap="square" rtlCol="0" anchor="t"/>
          <a:lstStyle/>
          <a:p>
            <a:pPr indent="0" marL="0">
              <a:lnSpc>
                <a:spcPct val="140000"/>
              </a:lnSpc>
              <a:buNone/>
            </a:pPr>
            <a:r>
              <a:rPr lang="en-US" sz="1100" dirty="0">
                <a:solidFill>
                  <a:srgbClr val="334155"/>
                </a:solidFill>
                <a:latin typeface="Microsoft YaHei" pitchFamily="34" charset="0"/>
                <a:ea typeface="Microsoft YaHei" pitchFamily="34" charset="-122"/>
                <a:cs typeface="Microsoft YaHei" pitchFamily="34" charset="-120"/>
              </a:rPr>
              <a:t>从“算法优势”跳跃到“管理启示”是从控制与决策到TR-E最关键的质变。</a:t>
            </a:r>
            <a:endParaRPr lang="en-US" sz="1100" dirty="0"/>
          </a:p>
        </p:txBody>
      </p:sp>
      <p:sp>
        <p:nvSpPr>
          <p:cNvPr id="25" name="Shape 23"/>
          <p:cNvSpPr/>
          <p:nvPr/>
        </p:nvSpPr>
        <p:spPr>
          <a:xfrm>
            <a:off x="4297680" y="3749040"/>
            <a:ext cx="3566160" cy="2194560"/>
          </a:xfrm>
          <a:prstGeom prst="rect">
            <a:avLst>
              <a:gd name="adj" fmla="val 3333"/>
            </a:avLst>
          </a:prstGeom>
          <a:solidFill>
            <a:srgbClr val="FFFFFF"/>
          </a:solidFill>
          <a:ln/>
          <a:effectLst>
            <a:outerShdw sx="100000" sy="100000" kx="0" ky="0" algn="bl" rotWithShape="0" blurRad="38100" dist="12700" dir="16200000">
              <a:srgbClr val="CCCCCC">
                <a:alpha val="30000"/>
              </a:srgbClr>
            </a:outerShdw>
          </a:effectLst>
        </p:spPr>
      </p:sp>
      <p:sp>
        <p:nvSpPr>
          <p:cNvPr id="26" name="Shape 24"/>
          <p:cNvSpPr/>
          <p:nvPr/>
        </p:nvSpPr>
        <p:spPr>
          <a:xfrm>
            <a:off x="4297680" y="3749040"/>
            <a:ext cx="3566160" cy="54864"/>
          </a:xfrm>
          <a:prstGeom prst="rect">
            <a:avLst/>
          </a:prstGeom>
          <a:solidFill>
            <a:srgbClr val="0D9488"/>
          </a:solidFill>
          <a:ln/>
        </p:spPr>
      </p:sp>
      <p:sp>
        <p:nvSpPr>
          <p:cNvPr id="27" name="Text 25"/>
          <p:cNvSpPr/>
          <p:nvPr/>
        </p:nvSpPr>
        <p:spPr>
          <a:xfrm>
            <a:off x="4297680" y="3886200"/>
            <a:ext cx="731520" cy="548640"/>
          </a:xfrm>
          <a:prstGeom prst="rect">
            <a:avLst/>
          </a:prstGeom>
          <a:noFill/>
          <a:ln/>
        </p:spPr>
        <p:txBody>
          <a:bodyPr wrap="square" rtlCol="0" anchor="ctr"/>
          <a:lstStyle/>
          <a:p>
            <a:pPr algn="ctr" indent="0" marL="0">
              <a:buNone/>
            </a:pPr>
            <a:r>
              <a:rPr lang="en-US" sz="2800" b="1" dirty="0">
                <a:solidFill>
                  <a:srgbClr val="0D9488"/>
                </a:solidFill>
                <a:latin typeface="Times New Roman" pitchFamily="34" charset="0"/>
                <a:ea typeface="Times New Roman" pitchFamily="34" charset="-122"/>
                <a:cs typeface="Times New Roman" pitchFamily="34" charset="-120"/>
              </a:rPr>
              <a:t>05</a:t>
            </a:r>
            <a:endParaRPr lang="en-US" sz="2800" dirty="0"/>
          </a:p>
        </p:txBody>
      </p:sp>
      <p:sp>
        <p:nvSpPr>
          <p:cNvPr id="28" name="Text 26"/>
          <p:cNvSpPr/>
          <p:nvPr/>
        </p:nvSpPr>
        <p:spPr>
          <a:xfrm>
            <a:off x="5029200" y="3931920"/>
            <a:ext cx="2651760" cy="411480"/>
          </a:xfrm>
          <a:prstGeom prst="rect">
            <a:avLst/>
          </a:prstGeom>
          <a:noFill/>
          <a:ln/>
        </p:spPr>
        <p:txBody>
          <a:bodyPr wrap="square" rtlCol="0" anchor="ctr"/>
          <a:lstStyle/>
          <a:p>
            <a:pPr indent="0" marL="0">
              <a:buNone/>
            </a:pPr>
            <a:r>
              <a:rPr lang="en-US" sz="1600" b="1" dirty="0">
                <a:solidFill>
                  <a:srgbClr val="0F172A"/>
                </a:solidFill>
                <a:latin typeface="Microsoft YaHei" pitchFamily="34" charset="0"/>
                <a:ea typeface="Microsoft YaHei" pitchFamily="34" charset="-122"/>
                <a:cs typeface="Microsoft YaHei" pitchFamily="34" charset="-120"/>
              </a:rPr>
              <a:t>语言是窗口</a:t>
            </a:r>
            <a:endParaRPr lang="en-US" sz="1600" dirty="0"/>
          </a:p>
        </p:txBody>
      </p:sp>
      <p:sp>
        <p:nvSpPr>
          <p:cNvPr id="29" name="Text 27"/>
          <p:cNvSpPr/>
          <p:nvPr/>
        </p:nvSpPr>
        <p:spPr>
          <a:xfrm>
            <a:off x="4480560" y="4480560"/>
            <a:ext cx="3200400" cy="1280160"/>
          </a:xfrm>
          <a:prstGeom prst="rect">
            <a:avLst/>
          </a:prstGeom>
          <a:noFill/>
          <a:ln/>
        </p:spPr>
        <p:txBody>
          <a:bodyPr wrap="square" rtlCol="0" anchor="t"/>
          <a:lstStyle/>
          <a:p>
            <a:pPr indent="0" marL="0">
              <a:lnSpc>
                <a:spcPct val="140000"/>
              </a:lnSpc>
              <a:buNone/>
            </a:pPr>
            <a:r>
              <a:rPr lang="en-US" sz="1100" dirty="0">
                <a:solidFill>
                  <a:srgbClr val="334155"/>
                </a:solidFill>
                <a:latin typeface="Microsoft YaHei" pitchFamily="34" charset="0"/>
                <a:ea typeface="Microsoft YaHei" pitchFamily="34" charset="-122"/>
                <a:cs typeface="Microsoft YaHei" pitchFamily="34" charset="-120"/>
              </a:rPr>
              <a:t>不是翻译而是重写。用目标期刊的思维重新组织研究内容。</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知识库建设：论文写作参考资源汇总</a:t>
            </a:r>
            <a:endParaRPr lang="en-US" sz="2800" dirty="0"/>
          </a:p>
        </p:txBody>
      </p:sp>
      <p:sp>
        <p:nvSpPr>
          <p:cNvPr id="4" name="Shape 2"/>
          <p:cNvSpPr/>
          <p:nvPr/>
        </p:nvSpPr>
        <p:spPr>
          <a:xfrm>
            <a:off x="731520" y="914400"/>
            <a:ext cx="2286000" cy="36576"/>
          </a:xfrm>
          <a:prstGeom prst="rect">
            <a:avLst/>
          </a:prstGeom>
          <a:solidFill>
            <a:srgbClr val="0D9488"/>
          </a:solidFill>
          <a:ln/>
        </p:spPr>
      </p:sp>
      <p:sp>
        <p:nvSpPr>
          <p:cNvPr id="5" name="Shape 3"/>
          <p:cNvSpPr/>
          <p:nvPr/>
        </p:nvSpPr>
        <p:spPr>
          <a:xfrm>
            <a:off x="457200" y="1188720"/>
            <a:ext cx="3474720" cy="2286000"/>
          </a:xfrm>
          <a:prstGeom prst="rect">
            <a:avLst>
              <a:gd name="adj" fmla="val 4000"/>
            </a:avLst>
          </a:prstGeom>
          <a:solidFill>
            <a:srgbClr val="FFFFFF"/>
          </a:solidFill>
          <a:ln/>
          <a:effectLst>
            <a:outerShdw sx="100000" sy="100000" kx="0" ky="0" algn="bl" rotWithShape="0" blurRad="50800" dist="12700" dir="16200000">
              <a:srgbClr val="CCCCCC">
                <a:alpha val="30000"/>
              </a:srgbClr>
            </a:outerShdw>
          </a:effectLst>
        </p:spPr>
      </p:sp>
      <p:sp>
        <p:nvSpPr>
          <p:cNvPr id="6" name="Shape 4"/>
          <p:cNvSpPr/>
          <p:nvPr/>
        </p:nvSpPr>
        <p:spPr>
          <a:xfrm>
            <a:off x="457200" y="1280160"/>
            <a:ext cx="54864" cy="2103120"/>
          </a:xfrm>
          <a:prstGeom prst="rect">
            <a:avLst/>
          </a:prstGeom>
          <a:solidFill>
            <a:srgbClr val="8B1A1A"/>
          </a:solidFill>
          <a:ln/>
        </p:spPr>
      </p:sp>
      <p:sp>
        <p:nvSpPr>
          <p:cNvPr id="7" name="Text 5"/>
          <p:cNvSpPr/>
          <p:nvPr/>
        </p:nvSpPr>
        <p:spPr>
          <a:xfrm>
            <a:off x="685800" y="1280160"/>
            <a:ext cx="310896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控制与决策参考论文</a:t>
            </a:r>
            <a:endParaRPr lang="en-US" sz="1400" dirty="0"/>
          </a:p>
        </p:txBody>
      </p:sp>
      <p:sp>
        <p:nvSpPr>
          <p:cNvPr id="8" name="Text 6"/>
          <p:cNvSpPr/>
          <p:nvPr/>
        </p:nvSpPr>
        <p:spPr>
          <a:xfrm>
            <a:off x="685800" y="1645920"/>
            <a:ext cx="3108960" cy="169164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工业过程与制造系统方向</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智能交通与运输优化方向</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模式识别与智能系统方向</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建议研读2024-2026年高引/高下载论文</a:t>
            </a:r>
            <a:endParaRPr lang="en-US" sz="1100" dirty="0"/>
          </a:p>
        </p:txBody>
      </p:sp>
      <p:sp>
        <p:nvSpPr>
          <p:cNvPr id="9" name="Shape 7"/>
          <p:cNvSpPr/>
          <p:nvPr/>
        </p:nvSpPr>
        <p:spPr>
          <a:xfrm>
            <a:off x="4297680" y="1188720"/>
            <a:ext cx="3474720" cy="2286000"/>
          </a:xfrm>
          <a:prstGeom prst="rect">
            <a:avLst>
              <a:gd name="adj" fmla="val 4000"/>
            </a:avLst>
          </a:prstGeom>
          <a:solidFill>
            <a:srgbClr val="FFFFFF"/>
          </a:solidFill>
          <a:ln/>
          <a:effectLst>
            <a:outerShdw sx="100000" sy="100000" kx="0" ky="0" algn="bl" rotWithShape="0" blurRad="50800" dist="12700" dir="16200000">
              <a:srgbClr val="CCCCCC">
                <a:alpha val="30000"/>
              </a:srgbClr>
            </a:outerShdw>
          </a:effectLst>
        </p:spPr>
      </p:sp>
      <p:sp>
        <p:nvSpPr>
          <p:cNvPr id="10" name="Shape 8"/>
          <p:cNvSpPr/>
          <p:nvPr/>
        </p:nvSpPr>
        <p:spPr>
          <a:xfrm>
            <a:off x="4297680" y="1280160"/>
            <a:ext cx="54864" cy="2103120"/>
          </a:xfrm>
          <a:prstGeom prst="rect">
            <a:avLst/>
          </a:prstGeom>
          <a:solidFill>
            <a:srgbClr val="1E3A5F"/>
          </a:solidFill>
          <a:ln/>
        </p:spPr>
      </p:sp>
      <p:sp>
        <p:nvSpPr>
          <p:cNvPr id="11" name="Text 9"/>
          <p:cNvSpPr/>
          <p:nvPr/>
        </p:nvSpPr>
        <p:spPr>
          <a:xfrm>
            <a:off x="4526280" y="1280160"/>
            <a:ext cx="310896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TR-E参考论文</a:t>
            </a:r>
            <a:endParaRPr lang="en-US" sz="1400" dirty="0"/>
          </a:p>
        </p:txBody>
      </p:sp>
      <p:sp>
        <p:nvSpPr>
          <p:cNvPr id="12" name="Text 10"/>
          <p:cNvSpPr/>
          <p:nvPr/>
        </p:nvSpPr>
        <p:spPr>
          <a:xfrm>
            <a:off x="4526280" y="1645920"/>
            <a:ext cx="3108960" cy="169164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MCPP &amp; Arc Routing in TR-E</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Last-mile delivery &amp; autonomous vehicles</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Electric vehicle routing optimization</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Machine learning in transportation</a:t>
            </a:r>
            <a:endParaRPr lang="en-US" sz="1100" dirty="0"/>
          </a:p>
        </p:txBody>
      </p:sp>
      <p:sp>
        <p:nvSpPr>
          <p:cNvPr id="13" name="Shape 11"/>
          <p:cNvSpPr/>
          <p:nvPr/>
        </p:nvSpPr>
        <p:spPr>
          <a:xfrm>
            <a:off x="8138160" y="1188720"/>
            <a:ext cx="3593592" cy="2286000"/>
          </a:xfrm>
          <a:prstGeom prst="rect">
            <a:avLst>
              <a:gd name="adj" fmla="val 4000"/>
            </a:avLst>
          </a:prstGeom>
          <a:solidFill>
            <a:srgbClr val="FFFFFF"/>
          </a:solidFill>
          <a:ln/>
          <a:effectLst>
            <a:outerShdw sx="100000" sy="100000" kx="0" ky="0" algn="bl" rotWithShape="0" blurRad="50800" dist="12700" dir="16200000">
              <a:srgbClr val="CCCCCC">
                <a:alpha val="30000"/>
              </a:srgbClr>
            </a:outerShdw>
          </a:effectLst>
        </p:spPr>
      </p:sp>
      <p:sp>
        <p:nvSpPr>
          <p:cNvPr id="14" name="Shape 12"/>
          <p:cNvSpPr/>
          <p:nvPr/>
        </p:nvSpPr>
        <p:spPr>
          <a:xfrm>
            <a:off x="8138160" y="1280160"/>
            <a:ext cx="54864" cy="2103120"/>
          </a:xfrm>
          <a:prstGeom prst="rect">
            <a:avLst/>
          </a:prstGeom>
          <a:solidFill>
            <a:srgbClr val="0D9488"/>
          </a:solidFill>
          <a:ln/>
        </p:spPr>
      </p:sp>
      <p:sp>
        <p:nvSpPr>
          <p:cNvPr id="15" name="Text 13"/>
          <p:cNvSpPr/>
          <p:nvPr/>
        </p:nvSpPr>
        <p:spPr>
          <a:xfrm>
            <a:off x="8366760" y="1280160"/>
            <a:ext cx="3227832"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书籍与课程</a:t>
            </a:r>
            <a:endParaRPr lang="en-US" sz="1400" dirty="0"/>
          </a:p>
        </p:txBody>
      </p:sp>
      <p:sp>
        <p:nvSpPr>
          <p:cNvPr id="16" name="Text 14"/>
          <p:cNvSpPr/>
          <p:nvPr/>
        </p:nvSpPr>
        <p:spPr>
          <a:xfrm>
            <a:off x="8366760" y="1645920"/>
            <a:ext cx="3227832" cy="169164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Writing Science (Joshua Schimel)</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The Craft of Research (Booth et al.)</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Academic Phrasebank (U. of Manchester)</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Elsevier Research Academy</a:t>
            </a:r>
            <a:endParaRPr lang="en-US" sz="1100" dirty="0"/>
          </a:p>
        </p:txBody>
      </p:sp>
      <p:sp>
        <p:nvSpPr>
          <p:cNvPr id="17" name="Text 15"/>
          <p:cNvSpPr/>
          <p:nvPr/>
        </p:nvSpPr>
        <p:spPr>
          <a:xfrm>
            <a:off x="731520" y="3749040"/>
            <a:ext cx="10725912" cy="1691640"/>
          </a:xfrm>
          <a:prstGeom prst="rect">
            <a:avLst/>
          </a:prstGeom>
          <a:noFill/>
          <a:ln/>
        </p:spPr>
        <p:txBody>
          <a:bodyPr wrap="square" rtlCol="0" anchor="t"/>
          <a:lstStyle/>
          <a:p>
            <a:pPr indent="0" marL="0">
              <a:lnSpc>
                <a:spcPct val="140000"/>
              </a:lnSpc>
              <a:spcAft>
                <a:spcPts val="400"/>
              </a:spcAft>
              <a:buNone/>
            </a:pPr>
            <a:r>
              <a:rPr lang="en-US" sz="1200" dirty="0">
                <a:solidFill>
                  <a:srgbClr val="0F172A"/>
                </a:solidFill>
                <a:latin typeface="Microsoft YaHei" pitchFamily="34" charset="0"/>
                <a:ea typeface="Microsoft YaHei" pitchFamily="34" charset="-122"/>
                <a:cs typeface="Microsoft YaHei" pitchFamily="34" charset="-120"/>
              </a:rPr>
              <a:t>•  建议建立个人文献库：按“方法论”“问题域”“期刊”三个维度分类管理</a:t>
            </a:r>
            <a:pPr indent="0" marL="0">
              <a:lnSpc>
                <a:spcPct val="140000"/>
              </a:lnSpc>
              <a:spcAft>
                <a:spcPts val="400"/>
              </a:spcAft>
              <a:buNone/>
            </a:pPr>
            <a:r>
              <a:rPr lang="en-US" sz="1200" dirty="0">
                <a:solidFill>
                  <a:srgbClr val="0F172A"/>
                </a:solidFill>
                <a:latin typeface="Microsoft YaHei" pitchFamily="34" charset="0"/>
                <a:ea typeface="Microsoft YaHei" pitchFamily="34" charset="-122"/>
                <a:cs typeface="Microsoft YaHei" pitchFamily="34" charset="-120"/>
              </a:rPr>
              <a:t>•  定期跟踪目标期刊的最新发表，分析其写作模式的演变趋势</a:t>
            </a:r>
            <a:pPr indent="0" marL="0">
              <a:lnSpc>
                <a:spcPct val="140000"/>
              </a:lnSpc>
              <a:spcAft>
                <a:spcPts val="400"/>
              </a:spcAft>
              <a:buNone/>
            </a:pPr>
            <a:r>
              <a:rPr lang="en-US" sz="1200" dirty="0">
                <a:solidFill>
                  <a:srgbClr val="0F172A"/>
                </a:solidFill>
                <a:latin typeface="Microsoft YaHei" pitchFamily="34" charset="0"/>
                <a:ea typeface="Microsoft YaHei" pitchFamily="34" charset="-122"/>
                <a:cs typeface="Microsoft YaHei" pitchFamily="34" charset="-120"/>
              </a:rPr>
              <a:t>•  参与国际学术会议（如INFORMS, TRB, WCTR），了解国际同行的研究范式和写作风格</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B2838"/>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D9488"/>
          </a:solidFill>
          <a:ln/>
        </p:spPr>
      </p:sp>
      <p:sp>
        <p:nvSpPr>
          <p:cNvPr id="3" name="Text 1"/>
          <p:cNvSpPr/>
          <p:nvPr/>
        </p:nvSpPr>
        <p:spPr>
          <a:xfrm>
            <a:off x="914400" y="1645920"/>
            <a:ext cx="10360152" cy="1097280"/>
          </a:xfrm>
          <a:prstGeom prst="rect">
            <a:avLst/>
          </a:prstGeom>
          <a:noFill/>
          <a:ln/>
        </p:spPr>
        <p:txBody>
          <a:bodyPr wrap="square" rtlCol="0" anchor="ctr"/>
          <a:lstStyle/>
          <a:p>
            <a:pPr algn="ctr" indent="0" marL="0">
              <a:buNone/>
            </a:pPr>
            <a:r>
              <a:rPr lang="en-US" sz="5200" b="1" dirty="0">
                <a:solidFill>
                  <a:srgbClr val="FFFFFF"/>
                </a:solidFill>
                <a:latin typeface="Microsoft YaHei" pitchFamily="34" charset="0"/>
                <a:ea typeface="Microsoft YaHei" pitchFamily="34" charset="-122"/>
                <a:cs typeface="Microsoft YaHei" pitchFamily="34" charset="-120"/>
              </a:rPr>
              <a:t>谢谢！</a:t>
            </a:r>
            <a:endParaRPr lang="en-US" sz="5200" dirty="0"/>
          </a:p>
        </p:txBody>
      </p:sp>
      <p:sp>
        <p:nvSpPr>
          <p:cNvPr id="4" name="Text 2"/>
          <p:cNvSpPr/>
          <p:nvPr/>
        </p:nvSpPr>
        <p:spPr>
          <a:xfrm>
            <a:off x="914400" y="2651760"/>
            <a:ext cx="10360152" cy="640080"/>
          </a:xfrm>
          <a:prstGeom prst="rect">
            <a:avLst/>
          </a:prstGeom>
          <a:noFill/>
          <a:ln/>
        </p:spPr>
        <p:txBody>
          <a:bodyPr wrap="square" rtlCol="0" anchor="ctr"/>
          <a:lstStyle/>
          <a:p>
            <a:pPr algn="ctr" indent="0" marL="0">
              <a:buNone/>
            </a:pPr>
            <a:r>
              <a:rPr lang="en-US" sz="2800" i="1" dirty="0">
                <a:solidFill>
                  <a:srgbClr val="14B8A6"/>
                </a:solidFill>
                <a:latin typeface="Times New Roman" pitchFamily="34" charset="0"/>
                <a:ea typeface="Times New Roman" pitchFamily="34" charset="-122"/>
                <a:cs typeface="Times New Roman" pitchFamily="34" charset="-120"/>
              </a:rPr>
              <a:t>Thank You</a:t>
            </a:r>
            <a:endParaRPr lang="en-US" sz="2800" dirty="0"/>
          </a:p>
        </p:txBody>
      </p:sp>
      <p:sp>
        <p:nvSpPr>
          <p:cNvPr id="5" name="Shape 3"/>
          <p:cNvSpPr/>
          <p:nvPr/>
        </p:nvSpPr>
        <p:spPr>
          <a:xfrm>
            <a:off x="4114800" y="3566160"/>
            <a:ext cx="3959352" cy="36576"/>
          </a:xfrm>
          <a:prstGeom prst="rect">
            <a:avLst/>
          </a:prstGeom>
          <a:solidFill>
            <a:srgbClr val="0D9488"/>
          </a:solidFill>
          <a:ln/>
        </p:spPr>
      </p:sp>
      <p:sp>
        <p:nvSpPr>
          <p:cNvPr id="6" name="Text 4"/>
          <p:cNvSpPr/>
          <p:nvPr/>
        </p:nvSpPr>
        <p:spPr>
          <a:xfrm>
            <a:off x="914400" y="3931920"/>
            <a:ext cx="10360152" cy="1188720"/>
          </a:xfrm>
          <a:prstGeom prst="rect">
            <a:avLst/>
          </a:prstGeom>
          <a:noFill/>
          <a:ln/>
        </p:spPr>
        <p:txBody>
          <a:bodyPr wrap="square" rtlCol="0" anchor="ctr"/>
          <a:lstStyle/>
          <a:p>
            <a:pPr algn="ctr" indent="0" marL="0">
              <a:lnSpc>
                <a:spcPct val="150000"/>
              </a:lnSpc>
              <a:buNone/>
            </a:pPr>
            <a:r>
              <a:rPr lang="en-US" sz="1500" dirty="0">
                <a:solidFill>
                  <a:srgbClr val="64748B"/>
                </a:solidFill>
                <a:latin typeface="Microsoft YaHei" pitchFamily="34" charset="0"/>
                <a:ea typeface="Microsoft YaHei" pitchFamily="34" charset="-122"/>
                <a:cs typeface="Microsoft YaHei" pitchFamily="34" charset="-120"/>
              </a:rPr>
              <a:t>学术论文写作模式深度解析</a:t>
            </a:r>
            <a:endParaRPr lang="en-US" sz="1500" dirty="0"/>
          </a:p>
          <a:p>
            <a:pPr algn="ctr" indent="0" marL="0">
              <a:lnSpc>
                <a:spcPct val="150000"/>
              </a:lnSpc>
              <a:buNone/>
            </a:pPr>
            <a:r>
              <a:rPr lang="en-US" sz="1500" dirty="0">
                <a:solidFill>
                  <a:srgbClr val="64748B"/>
                </a:solidFill>
                <a:latin typeface="Microsoft YaHei" pitchFamily="34" charset="0"/>
                <a:ea typeface="Microsoft YaHei" pitchFamily="34" charset="-122"/>
                <a:cs typeface="Microsoft YaHei" pitchFamily="34" charset="-120"/>
              </a:rPr>
              <a:t>《控制与决策》 vs Transportation Research Part E</a:t>
            </a:r>
            <a:endParaRPr lang="en-US" sz="1500" dirty="0"/>
          </a:p>
          <a:p>
            <a:pPr algn="ctr" indent="0" marL="0">
              <a:lnSpc>
                <a:spcPct val="150000"/>
              </a:lnSpc>
              <a:buNone/>
            </a:pPr>
            <a:r>
              <a:rPr lang="en-US" sz="1500" dirty="0">
                <a:solidFill>
                  <a:srgbClr val="64748B"/>
                </a:solidFill>
                <a:latin typeface="Microsoft YaHei" pitchFamily="34" charset="0"/>
                <a:ea typeface="Microsoft YaHei" pitchFamily="34" charset="-122"/>
                <a:cs typeface="Microsoft YaHei" pitchFamily="34" charset="-120"/>
              </a:rPr>
              <a:t>十篇经典案例 · 四要素结构拆解 · 写作策略优化</a:t>
            </a:r>
            <a:endParaRPr lang="en-US" sz="1500" dirty="0"/>
          </a:p>
        </p:txBody>
      </p:sp>
      <p:sp>
        <p:nvSpPr>
          <p:cNvPr id="7" name="Text 5"/>
          <p:cNvSpPr/>
          <p:nvPr/>
        </p:nvSpPr>
        <p:spPr>
          <a:xfrm>
            <a:off x="914400" y="5303520"/>
            <a:ext cx="10360152" cy="457200"/>
          </a:xfrm>
          <a:prstGeom prst="rect">
            <a:avLst/>
          </a:prstGeom>
          <a:noFill/>
          <a:ln/>
        </p:spPr>
        <p:txBody>
          <a:bodyPr wrap="square" rtlCol="0" anchor="ctr"/>
          <a:lstStyle/>
          <a:p>
            <a:pPr algn="ctr" indent="0" marL="0">
              <a:buNone/>
            </a:pPr>
            <a:r>
              <a:rPr lang="en-US" sz="1400" dirty="0">
                <a:solidFill>
                  <a:srgbClr val="64748B"/>
                </a:solidFill>
                <a:latin typeface="Times New Roman" pitchFamily="34" charset="0"/>
                <a:ea typeface="Times New Roman" pitchFamily="34" charset="-122"/>
                <a:cs typeface="Times New Roman" pitchFamily="34" charset="-120"/>
              </a:rPr>
              <a:t>2026年6月</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2026-06-30T10:12:29Z</dcterms:created>
  <dcterms:modified xsi:type="dcterms:W3CDTF">2026-06-30T10:12:29Z</dcterms:modified>
</cp:coreProperties>
</file>