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2926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1887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 园 外 卖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MEI  YUAN  —  Android 多角色外卖平台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信息系统分析与设计 · 课程设计答辩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崔桐浩    马鸣远    王略帆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7033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 年 7 月  ·  大连海事大学</a:t>
            </a:r>
            <a:endParaRPr lang="en-US" sz="11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  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640080" cy="64008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143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项目概述与系统分析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可行性分析 · 数据库设计 · 数据字典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1188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主讲：崔桐浩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76809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14884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4592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系统设计与核心实现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架构设计 · 状态机 · 核心功能实现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主讲：马鸣远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10896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数据设计与编码体系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数据流图 · 界面设计 · 编码规范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主讲：王略帆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886200"/>
            <a:ext cx="76809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0690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4592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总结与展望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592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创新点回顾 · 不足与改进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4069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主讲：全组</a:t>
            </a:r>
            <a:endParaRPr lang="en-US" sz="12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团队介绍与任务分工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260604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崔桐浩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组长  ·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20574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031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选题方向确立与系统目标定义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三维度可行性分析（技术/经济/操作）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数据库三层设计（E-R → 逻辑 → 物理）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数据字典编写与项目计划编制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终稿统稿与答辩准备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51560"/>
            <a:ext cx="26060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2344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马鸣远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91840" y="16002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核心开发  ·  30%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2011680"/>
            <a:ext cx="20574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1031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三类用户需求详细分析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业务流程图绘制（四泳道）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订单状态机设计与处理规则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11个Activity + 4个Adapter编码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单元测试与集成测试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05156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16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5156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2344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王略帆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26480" y="16002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数据设计  ·  30%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2011680"/>
            <a:ext cx="20574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1031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数据流图绘制（3实体6处理5存储）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输入/输出界面设计（7+7场景）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信息分类编码设计（4套13值）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数据汇总与格式规范化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术语统一与图表编号管理</a:t>
            </a:r>
            <a:endParaRPr lang="en-US" sz="10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第一部分：项目概述与系统分析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OVERVIEW &amp; SYSTEM ANALYSIS  —  主讲：崔桐浩（组长）</a:t>
            </a:r>
            <a:endParaRPr lang="en-US" sz="16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项目背景与选题定位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崔桐浩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选题：手机外卖管理App（课程选题第16号）</a:t>
            </a:r>
            <a:endParaRPr lang="en-US" sz="13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面向买家、商家和管理员三类用户角色</a:t>
            </a:r>
            <a:endParaRPr lang="en-US" sz="13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打通「浏览→加购→支付→接单→配送→完成」闭环</a:t>
            </a:r>
            <a:endParaRPr lang="en-US" sz="13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纯本地架构：无需后端服务器，Android单机运行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系统核心目标</a:t>
            </a:r>
            <a:endParaRPr lang="en-US" sz="13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买家端：高效筛选商品、便捷下单支付、灵活管理地址与订单</a:t>
            </a:r>
            <a:endParaRPr lang="en-US" sz="13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商家端：快速发布商品、实时处理订单、直观监控店铺状态</a:t>
            </a:r>
            <a:endParaRPr lang="en-US" sz="13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管理员端：批量管控商家、动态更新账号状态、全局监控订单流转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技术栈：Android Studio + Java + SQLite + Glide</a:t>
            </a:r>
            <a:endParaRPr lang="en-US" sz="13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全开源免费技术选型，零经济成本</a:t>
            </a:r>
            <a:endParaRPr lang="en-US" sz="13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兼容 Android 5.0 ~ 13，覆盖绝大多数设备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1188720"/>
            <a:ext cx="54864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234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浏览·下单·收货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162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2286000"/>
            <a:ext cx="54864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商品·订单·店铺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38328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162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338328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429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监管·封禁·审计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可行性分析：三维度论证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崔桐浩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260604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技术可行性 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Android Studio + Java 生态成熟稳定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SQLite 嵌入式数据库，无需独立服务器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Gradle 8.13 构建，Glide 图片加载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兼容 Android 5.0 ~ 13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51560"/>
            <a:ext cx="26060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经济可行性 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5544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全技术栈均为开源或系统内置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无商业授权软件或付费 API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纯本地运行，零运维成本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仅投入10工作日人力时间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5156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操作可行性 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5544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遵循 Material Design 规范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借鉴主流外卖 App 交互范式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Toast + BroadcastReceiver 双反馈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SharedPreferences + 单例模式管理状态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1E40A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结论：技术选型合理 · 开发成本可控 · 用户操作便捷  →  项目完全可行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项目实施计划（两周·六阶段·瀑布模型）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8686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51960"/>
            <a:ext cx="86868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7024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6.22-23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计划与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可行性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25880" y="4251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874520" y="4251960"/>
            <a:ext cx="8686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74520" y="4251960"/>
            <a:ext cx="8686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1874520" y="427024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6.24-25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需求与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业务建模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743200" y="4251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91840" y="4251960"/>
            <a:ext cx="8686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4251960"/>
            <a:ext cx="8686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427024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6.26-29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数据流图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数据字典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160520" y="4251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09160" y="4251960"/>
            <a:ext cx="8686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4251960"/>
            <a:ext cx="8686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427024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6.30-7.1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概要设计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详细设计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77840" y="4251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26480" y="4251960"/>
            <a:ext cx="8686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4251960"/>
            <a:ext cx="8686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427024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7.2-3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数据库设计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原型实现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995160" y="4251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543800" y="4251960"/>
            <a:ext cx="8686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543800" y="4251960"/>
            <a:ext cx="86868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3" name="Text 41"/>
          <p:cNvSpPr/>
          <p:nvPr/>
        </p:nvSpPr>
        <p:spPr>
          <a:xfrm>
            <a:off x="7543800" y="427024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7.3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报告撰写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系统演示</a:t>
            </a:r>
            <a:endParaRPr lang="en-US" sz="750" dirty="0"/>
          </a:p>
        </p:txBody>
      </p:sp>
      <p:sp>
        <p:nvSpPr>
          <p:cNvPr id="4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核心业务规则：从源码逆向提炼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崔桐浩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1143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双重过滤机制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1417320"/>
            <a:ext cx="3602736" cy="256032"/>
          </a:xfrm>
          <a:prstGeom prst="roundRect">
            <a:avLst>
              <a:gd name="adj" fmla="val 17857"/>
            </a:avLst>
          </a:prstGeom>
          <a:solidFill>
            <a:srgbClr val="1E40AF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41732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getAllProducts() SQL WHERE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1709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买家浏览商品时对商家(users.status≠2)和商品(products.status=1)执行双重WHERE过滤——已删除商家的商品自动隐藏，下架商品对买家不可见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51560"/>
            <a:ext cx="54864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1208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购物车单商家约束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0" y="1417320"/>
            <a:ext cx="2962656" cy="256032"/>
          </a:xfrm>
          <a:prstGeom prst="roundRect">
            <a:avLst>
              <a:gd name="adj" fmla="val 17857"/>
            </a:avLst>
          </a:prstGeom>
          <a:solidFill>
            <a:srgbClr val="F97316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141732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CartManager校验 + Toast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92040" y="1709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加购时CartManager.getMerchantId()校验，冲突则Toast阻断——一次只允许购买同一家店的商品，规避跨店下单逻辑冲突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377440"/>
            <a:ext cx="54864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软删除机制 (status=2)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0120" y="2743200"/>
            <a:ext cx="219456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status!=2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40080" y="30358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商家注销/管理员删除不物理删记录——通过status=2标记软删除，login()查询和商品列表均自动过滤，且释放username允许重新注册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37744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377440"/>
            <a:ext cx="54864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1208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订单状态有序流转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212080" y="2743200"/>
            <a:ext cx="2066544" cy="256032"/>
          </a:xfrm>
          <a:prstGeom prst="roundRect">
            <a:avLst>
              <a:gd name="adj" fmla="val 17857"/>
            </a:avLst>
          </a:prstGeom>
          <a:solidFill>
            <a:srgbClr val="3B82F6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274320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ORDER_UPDATE广播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92040" y="30358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paid→accepted→delivering→completed主线流转 + paid→canceled异常分支，通过updateOrderStatus()原子操作，BroadcastReceiver实时同步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70332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703320"/>
            <a:ext cx="54864" cy="1143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749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6012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图片路径存储策略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60120" y="4069080"/>
            <a:ext cx="3090672" cy="256032"/>
          </a:xfrm>
          <a:prstGeom prst="roundRect">
            <a:avLst>
              <a:gd name="adj" fmla="val 17857"/>
            </a:avLst>
          </a:prstGeom>
          <a:solidFill>
            <a:srgbClr val="1E40AF">
              <a:alpha val="3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60120" y="40690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Files + 路径存DB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40080" y="4361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商品和店铺图片保存到App内部文件目录，数据库仅存文件绝对路径字符串——减少数据库体积，避免BLOB存储的性能问题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70332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703320"/>
            <a:ext cx="54864" cy="1143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3749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21208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登录态与状态管理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212080" y="4069080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4069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 + 状态机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92040" y="4361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SharedPreferences持久化5项会话键值 + CartManager单例管理购物车 + 登录时status三重判断（0封禁/2删除/1正常）</a:t>
            </a:r>
            <a:endParaRPr lang="en-US" sz="950" dirty="0"/>
          </a:p>
        </p:txBody>
      </p:sp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数据库设计：三层递进与版本演进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崔桐浩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397764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 → 逻辑 → 物理 三层递进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概念结构：4个核心实体（User/Product/Order/Address），4组1:N关系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逻辑结构：4个关系模式，遵循第三范式，明确主键外键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物理结构：SQLite waimai.db，4表28字段，17个CRUD方法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特别处理：User实体通过role字段统一三类角色——买家有地址和订单，商家有商品和订单，管理员仅账号信息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3977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数据库版本演进 v1 → v3（核心创新）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v1→v2：ALTER TABLE ADD COLUMN 新增 opening_hours 和 store_image_uri 两字段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v2→v3：采用「四步安全迁移法」——重命名旧表 → 创建新表（无UNIQUE约束）→迁移数据 → 删除旧表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目的：移除 username 的 UNIQUE 约束，支持软删除后新用户重新注册同名用户名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17个CRUD方法中包含 getColumnIndex 兼容性处理（防旧版本数据库崩溃）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920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192024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4290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字段数：10 字段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主键：id PK AUTOINCREMENT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亮点：role + status 双字段联合控制权限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06040" y="2926080"/>
            <a:ext cx="1920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06040" y="2926080"/>
            <a:ext cx="19202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34290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字段数：8 字段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主键：merchant_id → users.id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亮点：status 控制上架/下架，image_uri 存路径非 BLOB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1920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2608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4290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字段数：7 字段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主键：buyer_id + merchant_id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亮点：status 5 状态枚举，create_time 兼容性处理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03720" y="2926080"/>
            <a:ext cx="1920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292608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40880" y="34290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字段数：3 字段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主键：user_id → users.id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亮点：user_id + detail 均 NOT NULL 约束</a:t>
            </a:r>
            <a:endParaRPr lang="en-US" sz="105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数据字典：28字段 + 临时数据条目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崔桐浩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029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26517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字段名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约束与含义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users.id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PRIMARY KEY AUTOINCREMENT 用户编号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users.role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admin/merchant/buyer 角色编码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users.status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DEFAULT 1 | 1正常/0封禁/2已删除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products.status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DEFAULT 1 | 1上架/0下架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orders.status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paid/accepted/delivering/completed/canceled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orders.create_time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时间戳，getColumnIndex兼容性处理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051560"/>
            <a:ext cx="29260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051560"/>
            <a:ext cx="29260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589788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临时数据字典条目（非DB）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97880" y="155448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SharedPreferences (5个键值):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user_id, role, username,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store_name, selected_address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CartManager 单例: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HashMap&lt;Product, Integer&gt;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购物车 - 进程退出时清空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Internal Files: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product_images/IMG_&lt;ts&gt;.jpg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store_images/IMG_&lt;ts&gt;.jpg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图片 — 除非主动删除否则永久保存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⚠ 若不标注临时存储，数据流图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将无法完整反映系统全貌</a:t>
            </a:r>
            <a:endParaRPr lang="en-US" sz="105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第二部分：系统设计与核心实现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DESIGN &amp; CORE IMPLEMENTATION  —  主讲：马鸣远</a:t>
            </a:r>
            <a:endParaRPr lang="en-US" sz="16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系统技术架构：轻量四层分层设计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马鸣远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54864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视图层 (View)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XML 布局 + Activity 控制器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11887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11个Activity · 独立 item 布局 · Material Design 组件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874520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01168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适配器层 (Adapter)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RecyclerView/BaseAdapter 数据映射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20574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4个Adapter · ViewHolder模式 · 回调接口解耦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2743200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8036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业务逻辑层 (Logic)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核心流程控制与状态管理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0" y="29260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SessionManager · CartManager单例 · BroadcastReceiver广播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611880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4904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持久层 (Data)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数据存储与持久化支撑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26080" y="37947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SQLite(waimai.db) · 3个Model实体 · 17个CRUD方法 · v1→v3升级</a:t>
            </a:r>
            <a:endParaRPr lang="en-US" sz="10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功能模块全景：五大模块·二十二项功能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马鸣远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572768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1572768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账户模块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1E40A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4592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13898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登录校验 · 角色分流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自动登录 · 注册(双模式)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29968" y="1051560"/>
            <a:ext cx="1572768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29968" y="1051560"/>
            <a:ext cx="157276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2029968" y="12344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买家模块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87168" y="164592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97316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487168" y="164592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6项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21408" y="2011680"/>
            <a:ext cx="13898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商品浏览 · 搜索过滤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购物车管理 · 订单生成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地址管理 · 订单追踪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85616" y="1051560"/>
            <a:ext cx="1572768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85616" y="1051560"/>
            <a:ext cx="1572768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3785616" y="12344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商家模块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42816" y="164592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242816" y="164592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5项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77056" y="2011680"/>
            <a:ext cx="13898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店铺维护 · 商品管理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状态切换 · 订单处理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账号注销(软删除)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41264" y="1051560"/>
            <a:ext cx="1572768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41264" y="1051560"/>
            <a:ext cx="157276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5541264" y="12344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管理员模块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98464" y="164592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3B82F6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998464" y="164592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3项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32704" y="2011680"/>
            <a:ext cx="13898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商家列表总览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封禁/解封操作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全局状态监控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96912" y="1051560"/>
            <a:ext cx="1572768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96912" y="1051560"/>
            <a:ext cx="1572768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7296912" y="123444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数据与工具模块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54112" y="164592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754112" y="164592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4项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88352" y="2011680"/>
            <a:ext cx="13898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数据库(4表17方法)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数据模型(3个实体)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会话管理 · 广播通知</a:t>
            </a:r>
            <a:endParaRPr lang="en-US" sz="95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核心创新：订单状态机设计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马鸣远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46304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40AF"/>
            </a:solidFill>
            <a:prstDash val="solid"/>
          </a:ln>
          <a:effectLst>
            <a:outerShdw sx="100000" sy="100000" kx="0" ky="0" algn="bl" rotWithShape="0" blurRad="38100" dist="19050" dir="162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45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已支付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645920"/>
            <a:ext cx="146304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  <a:effectLst>
            <a:outerShdw sx="100000" sy="100000" kx="0" ky="0" algn="bl" rotWithShape="0" blurRad="38100" dist="1905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1645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已接单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645920"/>
            <a:ext cx="146304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97316"/>
            </a:solidFill>
            <a:prstDash val="solid"/>
          </a:ln>
          <a:effectLst>
            <a:outerShdw sx="100000" sy="100000" kx="0" ky="0" algn="bl" rotWithShape="0" blurRad="38100" dist="1905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0" y="1645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配送中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1645920"/>
            <a:ext cx="146304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0B981"/>
            </a:solidFill>
            <a:prstDash val="solid"/>
          </a:ln>
          <a:effectLst>
            <a:outerShdw sx="100000" sy="100000" kx="0" ky="0" algn="bl" rotWithShape="0" blurRad="38100" dist="19050" dir="162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1645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3108960"/>
            <a:ext cx="146304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1905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94560" y="31089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已取消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651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商家「接单」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2651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商家「配送」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买家「确认收货」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买家「取消订单」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0" y="1051560"/>
            <a:ext cx="1554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1051560"/>
            <a:ext cx="1554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设计亮点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52360" y="1554480"/>
            <a:ext cx="1280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5个状态节点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4条转换路径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原子操作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updateOrderStatus()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ORDER_UPDATE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广播实时同步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OrderAdapter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if/else if链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动态渲染按钮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状态更新统一调用 updateOrderStatus() 原子操作，更新后立即 loadOrders() 刷新界面。OrderAdapter 根据 isMerchant + status 动态渲染按钮：商家看paid显示「接单」，买家看delivering显示「确认收货」</a:t>
            </a:r>
            <a:endParaRPr lang="en-US" sz="10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买家端核心功能演示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马鸣远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200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32004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商品浏览与搜索</a:t>
            </a:r>
            <a:endParaRPr lang="en-US" sz="1300" dirty="0"/>
          </a:p>
        </p:txBody>
      </p:sp>
      <p:pic>
        <p:nvPicPr>
          <p:cNvPr id="9" name="Image 0" descr="C:\Users\dell\.trae-cn\work\6a43e2ae792ccf8b760d8b5c\ppt_images\img_buyer_hom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0140" y="1600200"/>
            <a:ext cx="187452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3383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双重过滤（商家≠2 AND 商品=1），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EditText + TextWatcher实时文本匹配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83280" y="105156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05156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352044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购物车管理</a:t>
            </a:r>
            <a:endParaRPr lang="en-US" sz="1300" dirty="0"/>
          </a:p>
        </p:txBody>
      </p:sp>
      <p:pic>
        <p:nvPicPr>
          <p:cNvPr id="14" name="Image 1" descr="C:\Users\dell\.trae-cn\work\6a43e2ae792ccf8b760d8b5c\ppt_images\img_buyer_car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60520" y="1600200"/>
            <a:ext cx="1188720" cy="1645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33832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同商家校验——冲突弹窗阻断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跨店下单自动拦截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309360" y="105156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105156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4"/>
          <p:cNvSpPr/>
          <p:nvPr/>
        </p:nvSpPr>
        <p:spPr>
          <a:xfrm>
            <a:off x="644652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下单结算与订单追踪</a:t>
            </a:r>
            <a:endParaRPr lang="en-US" sz="1300" dirty="0"/>
          </a:p>
        </p:txBody>
      </p:sp>
      <p:pic>
        <p:nvPicPr>
          <p:cNvPr id="19" name="Image 2" descr="C:\Users\dell\.trae-cn\work\6a43e2ae792ccf8b760d8b5c\ppt_images\img_buyer_ord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86600" y="1600200"/>
            <a:ext cx="1188720" cy="1645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46520" y="33832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结算→广播→清空购物车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paid→accepted→delivering→completed</a:t>
            </a:r>
            <a:endParaRPr lang="en-US" sz="95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商家端核心功能演示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马鸣远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77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39776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商品管理（双模式 + 图片本地存储）</a:t>
            </a:r>
            <a:endParaRPr lang="en-US" sz="1300" dirty="0"/>
          </a:p>
        </p:txBody>
      </p:sp>
      <p:pic>
        <p:nvPicPr>
          <p:cNvPr id="9" name="Image 0" descr="C:\Users\dell\.trae-cn\work\6a43e2ae792ccf8b760d8b5c\ppt_images\img_seller_ad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600200"/>
            <a:ext cx="1463040" cy="1463040"/>
          </a:xfrm>
          <a:prstGeom prst="rect">
            <a:avLst/>
          </a:prstGeom>
        </p:spPr>
      </p:pic>
      <p:pic>
        <p:nvPicPr>
          <p:cNvPr id="10" name="Image 1" descr="C:\Users\dell\.trae-cn\work\6a43e2ae792ccf8b760d8b5c\ppt_images\img_seller_produc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320" y="1600200"/>
            <a:ext cx="1463040" cy="1463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3200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新增/编辑通过Intent中是否携带product对象判断模式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图片saveImageToInternalStorage()存目录，DB仅存路径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上架/下架按钮根据status值互斥显示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709160" y="1051560"/>
            <a:ext cx="3977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09160" y="1051560"/>
            <a:ext cx="3977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0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订单履约（接单 → 配送 两阶段流转）</a:t>
            </a:r>
            <a:endParaRPr lang="en-US" sz="1300" dirty="0"/>
          </a:p>
        </p:txBody>
      </p:sp>
      <p:pic>
        <p:nvPicPr>
          <p:cNvPr id="15" name="Image 2" descr="C:\Users\dell\.trae-cn\work\6a43e2ae792ccf8b760d8b5c\ppt_images\img_seller_ord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77840" y="1600200"/>
            <a:ext cx="1188720" cy="2103120"/>
          </a:xfrm>
          <a:prstGeom prst="rect">
            <a:avLst/>
          </a:prstGeom>
        </p:spPr>
      </p:pic>
      <p:pic>
        <p:nvPicPr>
          <p:cNvPr id="16" name="Image 3" descr="C:\Users\dell\.trae-cn\work\6a43e2ae792ccf8b760d8b5c\ppt_images\img_stor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49440" y="2286000"/>
            <a:ext cx="1371600" cy="8229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46320" y="3200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getOrdersByMerchant()按ID降序查询本店订单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paid→accepted→delivering 顺序流转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配合 ORDER_UPDATE 广播，买家端实时感知状态变化</a:t>
            </a:r>
            <a:endParaRPr lang="en-US" sz="10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管理员端功能演示：商家管控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马鸣远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商家列表总览</a:t>
            </a:r>
            <a:endParaRPr lang="en-US" sz="11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getMerchants() 查询所有非已删除商家</a:t>
            </a:r>
            <a:endParaRPr lang="en-US" sz="11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ListView 展示「店铺名(用户名) - 状态」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封禁/解封操作</a:t>
            </a:r>
            <a:endParaRPr lang="en-US" sz="11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点击商家条目 → AlertDialog 管理菜单</a:t>
            </a:r>
            <a:endParaRPr lang="en-US" sz="11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封禁：updateUserStatus(id, 0) → 商家无法登录</a:t>
            </a:r>
            <a:endParaRPr lang="en-US" sz="11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解封：updateUserStatus(id, 1) → 恢复正常权限</a:t>
            </a:r>
            <a:endParaRPr lang="en-US" sz="11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已注销商家(status=2)不可操作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设计要点</a:t>
            </a:r>
            <a:endParaRPr lang="en-US" sz="11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软删除(status=2)与封禁(status=0)分离——不同业务语义</a:t>
            </a:r>
            <a:endParaRPr lang="en-US" sz="11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被封禁商家商品仍可见(仅过滤status=2)，合理的设计选择</a:t>
            </a:r>
            <a:endParaRPr lang="en-US" sz="1100" dirty="0"/>
          </a:p>
          <a:p>
            <a:pPr lvl="1" marL="6858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管理员预设账号 admin/admin，系统内置不可注册</a:t>
            </a:r>
            <a:endParaRPr lang="en-US" sz="1100" dirty="0"/>
          </a:p>
        </p:txBody>
      </p:sp>
      <p:pic>
        <p:nvPicPr>
          <p:cNvPr id="7" name="Image 0" descr="C:\Users\dell\.trae-cn\work\6a43e2ae792ccf8b760d8b5c\ppt_images\img_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188720"/>
            <a:ext cx="3200400" cy="3200400"/>
          </a:xfrm>
          <a:prstGeom prst="rect">
            <a:avLst/>
          </a:prstGeom>
        </p:spPr>
      </p:pic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第三部分：数据设计与编码体系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DESIGN &amp; CODING STANDARDS  —  主讲：王略帆</a:t>
            </a:r>
            <a:endParaRPr lang="en-US" sz="16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数据流图设计：3实体·6处理·5存储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王略帆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41148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核心架构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外部实体 (3个):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E1 买家 · E2 商家 · E3 管理员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处理过程 (6个):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P1 账户认证与会话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P2 店铺与商品管理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P3 商品浏览与购物车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P4 订单管理（创建/状态更新/查询）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P5 地址管理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P6 商家状态管理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数据存储 (5个):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D1 users · D2 products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D3 orders · D4 addresses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D5 本地临时存储（复合型）★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51560"/>
            <a:ext cx="3840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D5 复合型临时存储（核心创新）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5544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D5不是单一数据库表，而是三类存储的组合：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SharedPreferences: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持久化5个会话键值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退出登录时清空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CartManager 内存单例: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HashMap&lt;Product, Integer&gt;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进程退出时清空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Internal Files 文件系统: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product_images/IMG_&lt;ts&gt;.jpg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除非主动删除，否则永久保存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设计意义：若不标注D5，数据流图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不能完整反映系统全部数据形态</a:t>
            </a:r>
            <a:endParaRPr lang="en-US" sz="105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输入输出界面设计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王略帆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776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397764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输入设计（7个场景）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登录：username + password → 非空 + status三重校验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注册：分买家/商家两种模式，用户名唯一性校验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商品维护：name + price(必填) → 通过Double解析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店铺维护：store_name(必填) + 可选营业信息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地址管理：detail → 非空校验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购物车/下单：自动生成buyer_id/merchant_id/total_price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管理员：选择商家 + 封禁/解封操作类型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39776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3977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输出设计（7个场景）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登录反馈：成功按role分流跳转，失败Toast + 清空密码框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买家列表：RecyclerView + Glide加载图片 + ¥格式价格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商品详情：大图 + 名称/分类/描述/价格 + 店铺名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购物车：ListView + 加减按钮 + 实时总价 + 结算/清空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订单中心：动态按钮（接单/配送/确认收货/取消）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商家首页：商品列表 + 状态标签 + FAB新增 + 点击编辑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管理员：ListView商家列表 + AlertDialog操作菜单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8229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54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界面控件选型（10种 Android 原生控件，按交互频率与视觉层次选择）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52044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EditText ×7（文本输入）| RadioGroup ×1（角色选择）| ImageView ×N（图片展示/选择）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RecyclerView ×3（高频率列表：买家商品、商家商品、订单）| ListView ×2（低频列表：管理员商家、购物车）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AlertDialog ×3（确认操作：封禁/解封、注销、新增地址）| FloatingActionButton ×2（首要操作：购物车、新增商品）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MaterialToolbar ×2（次级菜单：订单/地址/设置/退出）| Toast ×All（即时反馈：操作结果、错误提示）| Spinner ×1（预留分类筛选）</a:t>
            </a:r>
            <a:endParaRPr lang="en-US" sz="105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信息分类编码设计：英文枚举语义化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王略帆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397764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43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用户角色编码 (users.role)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3703320" cy="128016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214884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编码值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含义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权限范围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admin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管理员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商家状态管理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merchant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商家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店铺+商品+订单维护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buyer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买家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浏览+下单+收货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09160" y="105156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51560"/>
            <a:ext cx="3977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143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账号状态编码 (users.status)</a:t>
            </a:r>
            <a:endParaRPr lang="en-US" sz="11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63040"/>
          <a:ext cx="3703320" cy="128016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214884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编码值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含义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影响范围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正常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允许登录+全部功能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封禁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拒绝登录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已删除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登录+商品双重过滤，释放username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57200" y="306324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063240"/>
            <a:ext cx="39776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31546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商品状态编码 (products.status)</a:t>
            </a:r>
            <a:endParaRPr lang="en-US" sz="1100" dirty="0"/>
          </a:p>
        </p:txBody>
      </p:sp>
      <p:graphicFrame>
        <p:nvGraphicFramePr>
          <p:cNvPr id="6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74720"/>
          <a:ext cx="3703320" cy="128016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214884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编码值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含义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影响范围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上架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买家可见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下架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买家不可见，商家仍可管理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3"/>
          <p:cNvSpPr/>
          <p:nvPr/>
        </p:nvSpPr>
        <p:spPr>
          <a:xfrm>
            <a:off x="4709160" y="306324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09160" y="3063240"/>
            <a:ext cx="39776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5"/>
          <p:cNvSpPr/>
          <p:nvPr/>
        </p:nvSpPr>
        <p:spPr>
          <a:xfrm>
            <a:off x="4846320" y="31546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订单状态编码 (orders.status)</a:t>
            </a:r>
            <a:endParaRPr lang="en-US" sz="1100" dirty="0"/>
          </a:p>
        </p:txBody>
      </p:sp>
      <p:graphicFrame>
        <p:nvGraphicFramePr>
          <p:cNvPr id="8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474720"/>
          <a:ext cx="3703320" cy="1280160"/>
        </p:xfrm>
        <a:graphic>
          <a:graphicData uri="http://schemas.openxmlformats.org/drawingml/2006/table">
            <a:tbl>
              <a:tblPr/>
              <a:tblGrid>
                <a:gridCol w="914400"/>
                <a:gridCol w="777240"/>
                <a:gridCol w="1005840"/>
                <a:gridCol w="10972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编码值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含义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下一状态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操作角色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paid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待接单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accepted/canceled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商家接单/买家取消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accepted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已接单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delivering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商家配送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delivering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配送中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completed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买家确认收货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completed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已完成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—(终态)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—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canceled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已取消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—(终态)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—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编码设计原则：三条核心准则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45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王略帆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1143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325880"/>
            <a:ext cx="594360" cy="5943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143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英文枚举语义化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15087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编码值直接反映业务含义——Java代码中用 equals("paid") 比 equals("1") 直观得多。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delivering 本身就是物流行业标准术语，编码即文档，无需中间翻译层。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77440"/>
            <a:ext cx="54864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65176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整数编码单向唯一性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28346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 表示否定/不可用，1 表示肯定/可用，2 表示软删除。每个整数值在各表中含义统一且固定，禁止编码复用——避免魔法数字带来的逻辑bug。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03320"/>
            <a:ext cx="54864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97764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77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3794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编码映射真实业务节点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160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订单状态编码的五个值(paid→accepted→delivering→completed/canceled)直接对应外卖业务流程的五个关键节点。编码表额外增加「下一状态」和「操作角色」两列，实现「一表双用」——既是编码手册，也是状态机设计文档。</a:t>
            </a:r>
            <a:endParaRPr lang="en-US" sz="105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第四部分：总结与展望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SUMMARY &amp; OUTLOOK</a:t>
            </a:r>
            <a:endParaRPr lang="en-US" sz="16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项目创新点汇总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0058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88720"/>
            <a:ext cx="320040" cy="320040"/>
          </a:xfrm>
          <a:prstGeom prst="ellipse">
            <a:avLst/>
          </a:prstGeom>
          <a:solidFill>
            <a:srgbClr val="1E40A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多角色权限闭环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买家·商家·管理员三层角色独立流程与权限隔离，SessionManager + 角色专属组件避免功能交叉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51560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188720"/>
            <a:ext cx="320040" cy="32004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购物车单商家约束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CartManager 校验 + Toast 阻断跨店下单，从源头规避多店铺订单逻辑冲突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24028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24028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377440"/>
            <a:ext cx="320040" cy="32004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订单状态机 + 广播同步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5节点4转换，ORDER_UPDATE广播实现跨页面实时状态同步，商家/买家信息一致性保障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24028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24028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2377440"/>
            <a:ext cx="320040" cy="32004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软删除 + 四步安全迁移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status=2标记软删除，释放username供重新注册；数据库v2→v3采用四步安全迁移法零数据丢失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42900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429000"/>
            <a:ext cx="54864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3566160"/>
            <a:ext cx="320040" cy="32004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复合型临时存储 D5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97280" y="3840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SharedPreferences + CartManager单例 + Internal Files 三类存储组合，数据流图首次完整反映全部数据形态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42900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4290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566160"/>
            <a:ext cx="320040" cy="32004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49240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英文枚举语义化编码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49240" y="3840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4套13个编码值，编码即文档——代码中用 "paid" 而非 "1"，避免魔法数字</a:t>
            </a:r>
            <a:endParaRPr lang="en-US" sz="950" dirty="0"/>
          </a:p>
        </p:txBody>
      </p:sp>
      <p:sp>
        <p:nvSpPr>
          <p:cNvPr id="4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项目总结与展望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97764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项目完成情况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系统分析：需求描述、业务流程图、数据流图、数据字典、功能分析——全部完成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系统设计：功能结构图、处理过程设计、输入输出设计、数据库设计、编码设计——全部完成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原型实现：11个Activity + 4个Adapter + 4表17方法，覆盖三类用户全流程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报告文档：可行性报告、项目计划书、系统分析报告、系统设计报告、项目总结——完整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3977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核心收获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崔桐浩：掌握了从可行性论证到数据库三层设计的完整方法论，特别是数据库版本演进策略的设计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马鸣远：实现了「从分析到设计再到编码」的完整链路贯通，理解了信息系统开发的层层递进关系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王略帆：获得三个「第一次」突破——第一次用DFD把数据全貌画清楚、第一次把28个字段逐一写明白、第一次把13个编码值纳入标准化管理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82296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246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不足与改进方向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61188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数据完整性约束：当前未显式声明 FOREIGN KEY，引用完整性依赖业务代码校验 → 开启 PRAGMA foreign_keys=ON 并补全 REFERENCES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数据库升级测试：虽然实现了安全迁移，但缺少数据库迁移的单元测试 → 增加 v1→v2→v3 全路径测试用例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代码可读性：AddProductActivity 新增/编辑模式 if/else 分支较多 → 可考虑策略模式重构；OrderAdapter 条件分支可改为「状态-行为」映射表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数据流图粒度：当前仅绘制顶层DFD → 可补充分层DFD（如P4订单管理分解为 P4.1/P4.2/P4.3 三个子过程）</a:t>
            </a:r>
            <a:endParaRPr lang="en-US" sz="105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感谢各位老师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请各位老师批评指正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美园外卖项目组  ·  崔桐浩  马鸣远  王略帆</a:t>
            </a:r>
            <a:endParaRPr lang="en-US" sz="12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美园外卖 — 信息系统分析与设计 课程设计答辩</dc:title>
  <dc:subject>PptxGenJS Presentation</dc:subject>
  <dc:creator>美园外卖项目组</dc:creator>
  <cp:lastModifiedBy>美园外卖项目组</cp:lastModifiedBy>
  <cp:revision>1</cp:revision>
  <dcterms:created xsi:type="dcterms:W3CDTF">2026-06-30T15:53:16Z</dcterms:created>
  <dcterms:modified xsi:type="dcterms:W3CDTF">2026-06-30T15:53:16Z</dcterms:modified>
</cp:coreProperties>
</file>