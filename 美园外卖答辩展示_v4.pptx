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基于Android的手机外卖管理系统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914400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信息系统分析与设计 课程设计答辩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  ·  马鸣远  ·  王略帆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手机外卖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 · 便捷 · 智能</a:t>
            </a:r>
            <a:endParaRPr lang="en-US" sz="12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三角色 · 纯本地 · 全闭环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 / 商家 / 管理员    |    Android + SQLite    |    浏览 → 下单 → 履约 → 管控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2331720" cy="2286000"/>
          </a:xfrm>
          <a:prstGeom prst="rect">
            <a:avLst>
              <a:gd name="adj" fmla="val 4000"/>
            </a:avLst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2560320"/>
            <a:ext cx="548640" cy="137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版本演进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软删除机制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331720" cy="2286000"/>
          </a:xfrm>
          <a:prstGeom prst="rect">
            <a:avLst>
              <a:gd name="adj" fmla="val 4000"/>
            </a:avLst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2560320"/>
            <a:ext cx="548640" cy="137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状态机设计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购物车约束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331720" cy="2286000"/>
          </a:xfrm>
          <a:prstGeom prst="rect">
            <a:avLst>
              <a:gd name="adj" fmla="val 4000"/>
            </a:avLst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王略帆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548640" cy="137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数据建模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编码规范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DFD设计</a:t>
            </a:r>
            <a:endParaRPr lang="en-US" sz="14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数据库设计与工程决策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0" y="3474720"/>
            <a:ext cx="2011680" cy="2011680"/>
          </a:xfrm>
          <a:prstGeom prst="ellipse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数据库三版本安全演进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真实项目中的数据迁移问题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029200" cy="960120"/>
          </a:xfrm>
          <a:prstGeom prst="rect">
            <a:avLst>
              <a:gd name="adj" fmla="val 5714"/>
            </a:avLst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417320"/>
            <a:ext cx="36576" cy="9601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 →  v2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新增两个字段：营业时间 opening_hours、店铺图片路径 store_image_uri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5029200" cy="1325880"/>
          </a:xfrm>
          <a:prstGeom prst="rect">
            <a:avLst>
              <a:gd name="adj" fmla="val 4138"/>
            </a:avLst>
          </a:pr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606040"/>
            <a:ext cx="36576" cy="13258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 →  v3 （四步安全迁移）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重命名旧表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创建新表（移除 UNIQUE 约束）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迁移数据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删除旧表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188720" cy="594360"/>
          </a:xfrm>
          <a:prstGeom prst="rect">
            <a:avLst>
              <a:gd name="adj" fmla="val 9231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1155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444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基础四表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52360" y="1691640"/>
            <a:ext cx="22860" cy="5029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2194560"/>
            <a:ext cx="1188720" cy="594360"/>
          </a:xfrm>
          <a:prstGeom prst="rect">
            <a:avLst>
              <a:gd name="adj" fmla="val 9231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2542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+店铺扩展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52360" y="2788920"/>
            <a:ext cx="22860" cy="5029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3291840"/>
            <a:ext cx="1188720" cy="594360"/>
          </a:xfrm>
          <a:prstGeom prst="rect">
            <a:avLst>
              <a:gd name="adj" fmla="val 9231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3101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36393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软删除支持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为什么移除UNIQUE？ → 支持软删除后用户名回收</a:t>
            </a:r>
            <a:endParaRPr lang="en-US" sz="14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 + 用户名回收机制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商家注销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956816"/>
            <a:ext cx="13716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=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(软删除)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956816"/>
            <a:ext cx="13716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数据保留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956816"/>
            <a:ext cx="13716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用户名释放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可重新注册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登录查询时自动过滤已删除用户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已删除用户无法登录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商品列表查询时跳过已删除商家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商品自动对买家隐藏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97764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注册校验时排除已删除用户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用户名可被新用户注册</a:t>
            </a:r>
            <a:endParaRPr lang="en-US" sz="13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三维度可行性分析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· 经济 · 操作 — 三个维度均给出"完全可行"的核心判断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51760" cy="2834640"/>
          </a:xfrm>
          <a:prstGeom prst="rect">
            <a:avLst>
              <a:gd name="adj" fmla="val 2759"/>
            </a:avLst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847088"/>
            <a:ext cx="1097280" cy="274320"/>
          </a:xfrm>
          <a:prstGeom prst="rect">
            <a:avLst>
              <a:gd name="adj" fmla="val 13333"/>
            </a:avLst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65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Android + Java 全开源技术栈，生态成熟稳定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SQLite 嵌入式数据库，无需独立服务器部署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MVC 分层架构，三层职责清晰分离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兼容 Android 5.0 ~ 13，覆盖绝大多数设备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2834640"/>
          </a:xfrm>
          <a:prstGeom prst="rect">
            <a:avLst>
              <a:gd name="adj" fmla="val 2759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经济可行性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847088"/>
            <a:ext cx="1097280" cy="274320"/>
          </a:xfrm>
          <a:prstGeom prst="rect">
            <a:avLst>
              <a:gd name="adj" fmla="val 13333"/>
            </a:avLst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865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全技术栈零商业授权，无付费第三方依赖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纯本地运行架构，无需配置后端服务器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开发投入仅为三人10个工作日时间成本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零运维成本，应用可直接安装使用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651760" cy="2834640"/>
          </a:xfrm>
          <a:prstGeom prst="rect">
            <a:avLst>
              <a:gd name="adj" fmla="val 2759"/>
            </a:avLst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操作可行性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1847088"/>
            <a:ext cx="1097280" cy="274320"/>
          </a:xfrm>
          <a:prstGeom prst="rect">
            <a:avLst>
              <a:gd name="adj" fmla="val 13333"/>
            </a:avLst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865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286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遵循 Material Design 设计规范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交互模式借鉴主流外卖应用通用范式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三类用户独立界面，角色互不干扰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同步提示 + 异步广播双通道反馈机制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以上分析为项目启动阶段的核心决策依据，确立了"全开源 · 零成本 · 纯本地"的技术路线</a:t>
            </a:r>
            <a:endParaRPr lang="en-US" sz="11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项目计划与核心业务规则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项目实施阶段（瀑布模型，两周六阶段）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08176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08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6.22-23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可行性分析 + 项目计划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" y="1673352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1755648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17190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6.24-25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+ 业务建模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0392" y="2020824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103120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206654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6.26/29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5960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数据流图 + 数据字典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0665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王略帆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" y="2368296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2450592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24140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6.30-7.1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24140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概要设计 + 详细设计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2414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 / 王略帆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" y="2715768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2798064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" y="27614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7.2-3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65960" y="2761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 + 编码实现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2761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 / 马鸣远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" y="3063240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3145536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" y="3108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596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报告撰写 + 答辩准备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914400"/>
            <a:ext cx="13716" cy="32004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43" name="Text 41"/>
          <p:cNvSpPr/>
          <p:nvPr/>
        </p:nvSpPr>
        <p:spPr>
          <a:xfrm>
            <a:off x="585216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七条核心业务规则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85216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（从代码逆向还原）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5216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商品列表只显示正常商家在售商品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0" y="1947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购物车一次只能买同一商家商品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52160" y="2295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订单状态按主线单向流转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52160" y="26426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封禁商家拒绝登录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52160" y="2990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已删除数据可追溯且用户名可回收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5216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用户名对未删除用户不可重复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52160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图片存本地文件，数据库仅存路径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" y="4434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每一条规则都源自源码中 SQL 条件、if 判断和字段赋值的逆向分析</a:t>
            </a:r>
            <a:endParaRPr lang="en-US" sz="1100" dirty="0"/>
          </a:p>
        </p:txBody>
      </p:sp>
      <p:sp>
        <p:nvSpPr>
          <p:cNvPr id="5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概念结构设计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4个核心实体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4组 1:N 关系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单表三角色（role字段区分）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外键通过业务SQL逆向还原</a:t>
            </a:r>
            <a:endParaRPr lang="en-US" sz="1200" dirty="0"/>
          </a:p>
        </p:txBody>
      </p:sp>
      <p:pic>
        <p:nvPicPr>
          <p:cNvPr id="7" name="Image 0" descr="C:\Users\dell\Desktop\le_degn_system\report_images\cui2\media\image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17520" y="731520"/>
            <a:ext cx="576072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0" y="457200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图：系统数据库 E-R 图</a:t>
            </a:r>
            <a:endParaRPr lang="en-US" sz="11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核心业务逻辑设计与实现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2700000">
            <a:off x="6858000" y="3657600"/>
            <a:ext cx="1828800" cy="164592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订单五状态机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5个状态节点 · 4条转换路径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已支付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0312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配送中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1234440" cy="685800"/>
          </a:xfrm>
          <a:prstGeom prst="rect">
            <a:avLst>
              <a:gd name="adj" fmla="val 8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80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canceled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218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已取消 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83080" y="1888236"/>
            <a:ext cx="32004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15773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商家接单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1888236"/>
            <a:ext cx="32004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15773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商家配送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1888236"/>
            <a:ext cx="32004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5773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买家确认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65860" y="2240280"/>
            <a:ext cx="228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1239012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买家取消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状态更新通过统一的状态更新方法实现，确保原子性操作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114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订单列表根据角色和状态动态显示对应的操作按钮（接单/配送/确认收货/取消）</a:t>
            </a:r>
            <a:endParaRPr lang="en-US" sz="1200" dirty="0"/>
          </a:p>
        </p:txBody>
      </p:sp>
      <p:pic>
        <p:nvPicPr>
          <p:cNvPr id="32" name="Image 0" descr="C:\Users\dell\Desktop\le_degn_system\report_images\cui2\media\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3200400"/>
            <a:ext cx="3200400" cy="14630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669280" y="461772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用例图</a:t>
            </a:r>
            <a:endParaRPr lang="en-US" sz="9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同商家购物车约束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加购新商品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691640"/>
            <a:ext cx="22860" cy="36576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获取当前购物车商家编号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350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与购物车中已有商品的商家对比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" y="2377440"/>
            <a:ext cx="22860" cy="36576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7432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与新商品所属商家比对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 → 加入成功  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不一致 → 弹窗提示阻断  ✗</a:t>
            </a:r>
            <a:endParaRPr lang="en-US" sz="1400" dirty="0"/>
          </a:p>
        </p:txBody>
      </p:sp>
      <p:pic>
        <p:nvPicPr>
          <p:cNvPr id="20" name="Image 0" descr="C:\Users\dell\Desktop\le_degn_system\app_screenshots\screenshot_c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097280"/>
            <a:ext cx="1920240" cy="1508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846320" y="2578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购物车实机截图</a:t>
            </a:r>
            <a:endParaRPr lang="en-US" sz="900" dirty="0"/>
          </a:p>
        </p:txBody>
      </p:sp>
      <p:pic>
        <p:nvPicPr>
          <p:cNvPr id="22" name="Image 1" descr="C:\Users\dell\Desktop\le_degn_system\report_images\ma2\media\image5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1097280"/>
            <a:ext cx="1965960" cy="29260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03720" y="40690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图：系统功能结构图（5大模块22个功能）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731520" y="4343400"/>
            <a:ext cx="3840480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1"/>
          <p:cNvSpPr/>
          <p:nvPr/>
        </p:nvSpPr>
        <p:spPr>
          <a:xfrm>
            <a:off x="731520" y="4434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购物车采用全局唯一实例管理 — 结算前进行购物车非空和商家有效性双重校验</a:t>
            </a:r>
            <a:endParaRPr lang="en-US" sz="11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登录与角色分流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→ 校验 → 会话保存 → 三向跳转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App启动 → 初始化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检测是否已登录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已登录→按角色自动跳转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→ 管控页面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 → 商品管理页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 → 商品浏览页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未登录→填写表单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数据库查询校验账号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封禁账号→拒绝并提示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正常账号→保存会话→跳转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log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买家下单全链路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 → 搜索 → 加购 → 结算 → 广播通知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双重过滤展示商品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排除已删除商家和已下架商品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输入即搜实时过滤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按商品名称和描述匹配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加购时同商家校验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不同商家→提示先清空购物车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结算生成订单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下单成功→清空购物车+广播通知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buy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商家商品与订单管理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商品增删改查 + 图片本地存储 + 接单配送两阶段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商品新增与编辑双模式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通过传递商品信息自动识别模式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图片保存到手机本地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图片存为文件，数据库只记录路径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减小数据库体积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订单处理两个关键操作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待接单→接单→开始配送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已接单→开始配送→配送中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账号注销→软删除机制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标记为已删除，用户名可回收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mercha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管理员商家状态管控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商家列表 → 封禁/解封 → 提示反馈 → 刷新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4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系统预置管理员账号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仅拥有商家状态管理权限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加载全部商家列表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列表形式展示所有商家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点击弹出管理菜单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选择封禁或解封操作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已注销的商家跳过操作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执行状态更新并刷新列表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操作后弹出提示并自动刷新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adm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数据建模与编码规范设计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王略帆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2700000">
            <a:off x="6858000" y="3474720"/>
            <a:ext cx="1645920" cy="164592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数据流图与复合型 D5 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0" y="365760"/>
            <a:ext cx="2286000" cy="274320"/>
          </a:xfrm>
          <a:prstGeom prst="rect">
            <a:avLst>
              <a:gd name="adj" fmla="val 13333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384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3外部实体 · 6处理 · 5存储</a:t>
            </a:r>
            <a:endParaRPr lang="en-US" sz="1000" dirty="0"/>
          </a:p>
        </p:txBody>
      </p:sp>
      <p:pic>
        <p:nvPicPr>
          <p:cNvPr id="8" name="Image 0" descr="C:\Users\dell\Desktop\le_degn_system\report_images\wang2\media\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0" y="3063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图：系统数据流图（DFD）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337560"/>
          <a:ext cx="6400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2468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存储类型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生命周期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数据内容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SharedPreferences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退出登录时清空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user_id, role, username 等5键值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CartManager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进程退出时清空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 → Quantity 映射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Internal Files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永久保存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商品/店铺图片文件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31520" y="45720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不标注 D5，DFD 无法完整反映系统全部数据形态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输入输出设计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覆盖登录、注册、商品维护、店铺维护、地址管理、购物车下单、管理员操作七个场景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输入设计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登录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用户名、密码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0332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非空校验 + 账号存在性与状态校验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注册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用户名、密码、角色；商家还需店铺名、地址、电话等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用户名对未删除用户不可重复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240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商品维护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名称、价格（必填）；描述、分类、图片可选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名称和价格为空时拒绝提交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606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店铺维护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店铺名（必填）；地址、电话、营业时间、图片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店铺名必填校验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2971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地址管理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地址文本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地址非空校验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337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购物车/下单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商品条目、数量、收货地址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0332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购物车非空 + 商家有效性校验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3703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管理员操作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4592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选择商家 + 操作类型（封禁/解封）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0332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已注销商家不可操作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143000"/>
            <a:ext cx="13716" cy="292608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输出设计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5080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登录/注册反馈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成功→按角色跳转对应主页；失败→提示原因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1874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买家商品列表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图文列表展示商品，支持输入框实时搜索过滤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商品详情/购物车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大图详情展示；购物车支持数量调节和实时总价计算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订单中心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列表展示订单，根据角色和状态动态显示操作按钮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商家首页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8952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商品列表含状态标签；点击编辑；快捷新增入口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管理员界面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895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商家列表展示；点击弹出封禁/解封菜单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55080" y="3703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本地通知/存储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8952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下单成功→广播通知；图片存本地文件目录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" y="44348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每种控件的选择都有交互频率和视觉层次的考量——例如购物车用悬浮按钮降低操作路径</a:t>
            </a:r>
            <a:endParaRPr lang="en-US" sz="11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信息分类编码设计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四套编码 · 13个值 · 三条原则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200400" cy="868680"/>
          </a:xfrm>
          <a:prstGeom prst="rect">
            <a:avLst>
              <a:gd name="adj" fmla="val 6316"/>
            </a:avLst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280160"/>
            <a:ext cx="3657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英文枚举语义化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"已支付" 一目了然，比用数字1 更直观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3200400" cy="868680"/>
          </a:xfrm>
          <a:prstGeom prst="rect">
            <a:avLst>
              <a:gd name="adj" fmla="val 6316"/>
            </a:avLst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331720"/>
            <a:ext cx="3657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377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587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整数单向唯一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= 否定  1 = 肯定  2 = 软删除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3200400" cy="868680"/>
          </a:xfrm>
          <a:prstGeom prst="rect">
            <a:avLst>
              <a:gd name="adj" fmla="val 6316"/>
            </a:avLst>
          </a:pr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383280"/>
            <a:ext cx="3657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429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编码即业务节点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编码值 = 外卖流程关键阶段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订单状态编码表（"一表双用"）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645920"/>
          <a:ext cx="4206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371600"/>
                <a:gridCol w="10058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编码值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下一状态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操作角色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paid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待接单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accepted / canceled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商家 / 买家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accepted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已接单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delivering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商家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delivering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配送中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买家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已完成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canceled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已取消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297680" y="32461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一表双用：编码含义 + 状态机转换路径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3703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用户角色编码</a:t>
            </a:r>
            <a:endParaRPr lang="en-US" sz="10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886200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管理员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merchant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商家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buyer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买家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2011680" y="3703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账号状态编码</a:t>
            </a:r>
            <a:endParaRPr lang="en-US" sz="1000" dirty="0"/>
          </a:p>
        </p:txBody>
      </p:sp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3886200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正常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封禁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已删除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4"/>
          <p:cNvSpPr/>
          <p:nvPr/>
        </p:nvSpPr>
        <p:spPr>
          <a:xfrm>
            <a:off x="3291840" y="3703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商品状态编码</a:t>
            </a:r>
            <a:endParaRPr lang="en-US" sz="1000" dirty="0"/>
          </a:p>
        </p:txBody>
      </p:sp>
      <p:graphicFrame>
        <p:nvGraphicFramePr>
          <p:cNvPr id="7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3886200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上架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下架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5"/>
          <p:cNvSpPr/>
          <p:nvPr/>
        </p:nvSpPr>
        <p:spPr>
          <a:xfrm>
            <a:off x="731520" y="45720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共计4套编码体系 · 13个编码值 · 覆盖系统全部状态标识</a:t>
            </a:r>
            <a:endParaRPr lang="en-US" sz="1100" dirty="0"/>
          </a:p>
        </p:txBody>
      </p:sp>
      <p:sp>
        <p:nvSpPr>
          <p:cNvPr id="7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数据字典概览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四张核心数据表 · 28个字段 · 完整约束与业务含义标注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8503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表（10字段）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82880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 PK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用户编号，自增主键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username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登录名（业务唯一）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admin/merchant/buyer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1正常 / 0封禁 / 2已删除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store_name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商家店铺名称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846320" y="8503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products 表（8字段）</a:t>
            </a:r>
            <a:endParaRPr lang="en-US" sz="12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5156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82880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 PK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商品编号，自增主键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merchant_id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所属商家编号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商品名称（必填）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REAL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商品价格（必填）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1上架 / 0下架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2542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 表（7字段）</a:t>
            </a:r>
            <a:endParaRPr lang="en-US" sz="1200" dirty="0"/>
          </a:p>
        </p:txBody>
      </p:sp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82880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 PK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订单编号，自增主键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buyer_id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下单买家编号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merchant_id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接单商家编号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total_price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REAL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订单总金额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paid/accepted/delivering/completed/canceled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846320" y="2542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addresses 表（3字段）</a:t>
            </a:r>
            <a:endParaRPr lang="en-US" sz="1200" dirty="0"/>
          </a:p>
        </p:txBody>
      </p:sp>
      <p:graphicFrame>
        <p:nvGraphicFramePr>
          <p:cNvPr id="8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74320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82880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 PK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地址编号，自增主键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user_id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所属用户编号（NOT NULL）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detail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收货地址详细描述（NOT NULL）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31520" y="4251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除数据库持久化外，还补充编写了运行期临时数据字典——登录会话中的5个键值、购物车内存映射结构、以及图片文件存储路径规则</a:t>
            </a:r>
            <a:endParaRPr lang="en-US" sz="1100" dirty="0"/>
          </a:p>
        </p:txBody>
      </p:sp>
      <p:sp>
        <p:nvSpPr>
          <p:cNvPr id="8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项目核心创新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三版本演进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118872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用户名回收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五状态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51460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同商家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购物车约束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251460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5760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复合型D5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存储建模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51460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6364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英文枚举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编码体系</a:t>
            </a:r>
            <a:endParaRPr lang="en-US" sz="1300" dirty="0"/>
          </a:p>
        </p:txBody>
      </p:sp>
      <p:pic>
        <p:nvPicPr>
          <p:cNvPr id="24" name="Image 0" descr="C:\Users\dell\Desktop\le_degn_system\app_screenshots\screenshot_detail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3931920"/>
            <a:ext cx="2286000" cy="1188720"/>
          </a:xfrm>
          <a:prstGeom prst="rect">
            <a:avLst/>
          </a:prstGeom>
        </p:spPr>
      </p:pic>
      <p:pic>
        <p:nvPicPr>
          <p:cNvPr id="25" name="Image 1" descr="C:\Users\dell\Desktop\le_degn_system\app_screenshots\screenshot_detail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3931920"/>
            <a:ext cx="2286000" cy="11887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200400" y="3794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实机运行展示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感谢老师指导 · 欢迎提问</a:t>
            </a:r>
            <a:endParaRPr lang="en-US" sz="15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美园外卖 - 答辩展示</dc:title>
  <dc:subject>PptxGenJS Presentation</dc:subject>
  <dc:creator>崔桐浩, 马鸣远, 王略帆</dc:creator>
  <cp:lastModifiedBy>崔桐浩, 马鸣远, 王略帆</cp:lastModifiedBy>
  <cp:revision>1</cp:revision>
  <dcterms:created xsi:type="dcterms:W3CDTF">2026-07-02T03:04:13Z</dcterms:created>
  <dcterms:modified xsi:type="dcterms:W3CDTF">2026-07-02T03:04:13Z</dcterms:modified>
</cp:coreProperties>
</file>