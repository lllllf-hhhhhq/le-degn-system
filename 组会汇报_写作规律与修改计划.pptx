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838"/>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838"/>
          </a:solidFill>
          <a:ln/>
        </p:spPr>
      </p:sp>
      <p:sp>
        <p:nvSpPr>
          <p:cNvPr id="3" name="Shape 1"/>
          <p:cNvSpPr/>
          <p:nvPr/>
        </p:nvSpPr>
        <p:spPr>
          <a:xfrm>
            <a:off x="1371600" y="1965960"/>
            <a:ext cx="2286000" cy="36576"/>
          </a:xfrm>
          <a:prstGeom prst="rect">
            <a:avLst/>
          </a:prstGeom>
          <a:solidFill>
            <a:srgbClr val="0D9488"/>
          </a:solidFill>
          <a:ln/>
        </p:spPr>
      </p:sp>
      <p:sp>
        <p:nvSpPr>
          <p:cNvPr id="4" name="Text 2"/>
          <p:cNvSpPr/>
          <p:nvPr/>
        </p:nvSpPr>
        <p:spPr>
          <a:xfrm>
            <a:off x="1371600" y="1097280"/>
            <a:ext cx="6400800" cy="914400"/>
          </a:xfrm>
          <a:prstGeom prst="rect">
            <a:avLst/>
          </a:prstGeom>
          <a:noFill/>
          <a:ln/>
        </p:spPr>
        <p:txBody>
          <a:bodyPr wrap="square" lIns="0" tIns="0" rIns="0" bIns="0" rtlCol="0" anchor="ctr"/>
          <a:lstStyle/>
          <a:p>
            <a:pPr indent="0" marL="0">
              <a:buNone/>
            </a:pPr>
            <a:r>
              <a:rPr lang="en-US" sz="3600" b="1" dirty="0">
                <a:solidFill>
                  <a:srgbClr val="FFFFFF"/>
                </a:solidFill>
                <a:latin typeface="Microsoft YaHei" pitchFamily="34" charset="0"/>
                <a:ea typeface="Microsoft YaHei" pitchFamily="34" charset="-122"/>
                <a:cs typeface="Microsoft YaHei" pitchFamily="34" charset="-120"/>
              </a:rPr>
              <a:t>学术论文写作规律学习</a:t>
            </a:r>
            <a:endParaRPr lang="en-US" sz="3600" dirty="0"/>
          </a:p>
          <a:p>
            <a:pPr indent="0" marL="0">
              <a:buNone/>
            </a:pPr>
            <a:r>
              <a:rPr lang="en-US" sz="3600" b="1" dirty="0">
                <a:solidFill>
                  <a:srgbClr val="FFFFFF"/>
                </a:solidFill>
                <a:latin typeface="Microsoft YaHei" pitchFamily="34" charset="0"/>
                <a:ea typeface="Microsoft YaHei" pitchFamily="34" charset="-122"/>
                <a:cs typeface="Microsoft YaHei" pitchFamily="34" charset="-120"/>
              </a:rPr>
              <a:t>与论文修改工作计划</a:t>
            </a:r>
            <a:endParaRPr lang="en-US" sz="3600" dirty="0"/>
          </a:p>
        </p:txBody>
      </p:sp>
      <p:sp>
        <p:nvSpPr>
          <p:cNvPr id="5" name="Text 3"/>
          <p:cNvSpPr/>
          <p:nvPr/>
        </p:nvSpPr>
        <p:spPr>
          <a:xfrm>
            <a:off x="1371600" y="2148840"/>
            <a:ext cx="6400800" cy="640080"/>
          </a:xfrm>
          <a:prstGeom prst="rect">
            <a:avLst/>
          </a:prstGeom>
          <a:noFill/>
          <a:ln/>
        </p:spPr>
        <p:txBody>
          <a:bodyPr wrap="square" lIns="0" tIns="0" rIns="0" bIns="0" rtlCol="0" anchor="ctr"/>
          <a:lstStyle/>
          <a:p>
            <a:pPr indent="0" marL="0">
              <a:buNone/>
            </a:pPr>
            <a:r>
              <a:rPr lang="en-US" sz="1600" dirty="0">
                <a:solidFill>
                  <a:srgbClr val="64748B"/>
                </a:solidFill>
                <a:latin typeface="Microsoft YaHei" pitchFamily="34" charset="0"/>
                <a:ea typeface="Microsoft YaHei" pitchFamily="34" charset="-122"/>
                <a:cs typeface="Microsoft YaHei" pitchFamily="34" charset="-120"/>
              </a:rPr>
              <a:t>LE-DEGN | 组会汇报</a:t>
            </a:r>
            <a:endParaRPr lang="en-US" sz="1600" dirty="0"/>
          </a:p>
        </p:txBody>
      </p:sp>
      <p:sp>
        <p:nvSpPr>
          <p:cNvPr id="6"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汇报大纲</a:t>
            </a:r>
            <a:endParaRPr lang="en-US" sz="2800" dirty="0"/>
          </a:p>
        </p:txBody>
      </p:sp>
      <p:sp>
        <p:nvSpPr>
          <p:cNvPr id="4" name="Shape 2"/>
          <p:cNvSpPr/>
          <p:nvPr/>
        </p:nvSpPr>
        <p:spPr>
          <a:xfrm>
            <a:off x="731520" y="868680"/>
            <a:ext cx="1463040" cy="27432"/>
          </a:xfrm>
          <a:prstGeom prst="rect">
            <a:avLst/>
          </a:prstGeom>
          <a:solidFill>
            <a:srgbClr val="0D9488"/>
          </a:solidFill>
          <a:ln/>
        </p:spPr>
      </p:sp>
      <p:sp>
        <p:nvSpPr>
          <p:cNvPr id="5" name="Shape 3"/>
          <p:cNvSpPr/>
          <p:nvPr/>
        </p:nvSpPr>
        <p:spPr>
          <a:xfrm>
            <a:off x="731520" y="1188720"/>
            <a:ext cx="731520" cy="502920"/>
          </a:xfrm>
          <a:prstGeom prst="rect">
            <a:avLst>
              <a:gd name="adj" fmla="val 10909"/>
            </a:avLst>
          </a:prstGeom>
          <a:solidFill>
            <a:srgbClr val="1E3A5F"/>
          </a:solidFill>
          <a:ln/>
        </p:spPr>
      </p:sp>
      <p:sp>
        <p:nvSpPr>
          <p:cNvPr id="6" name="Text 4"/>
          <p:cNvSpPr/>
          <p:nvPr/>
        </p:nvSpPr>
        <p:spPr>
          <a:xfrm>
            <a:off x="731520" y="1188720"/>
            <a:ext cx="7315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01</a:t>
            </a:r>
            <a:endParaRPr lang="en-US" sz="1600" dirty="0"/>
          </a:p>
        </p:txBody>
      </p:sp>
      <p:sp>
        <p:nvSpPr>
          <p:cNvPr id="7" name="Text 5"/>
          <p:cNvSpPr/>
          <p:nvPr/>
        </p:nvSpPr>
        <p:spPr>
          <a:xfrm>
            <a:off x="1691640" y="1188720"/>
            <a:ext cx="5486400" cy="292608"/>
          </a:xfrm>
          <a:prstGeom prst="rect">
            <a:avLst/>
          </a:prstGeom>
          <a:noFill/>
          <a:ln/>
        </p:spPr>
        <p:txBody>
          <a:bodyPr wrap="square" lIns="0" tIns="0" rIns="0" bIns="0" rtlCol="0" anchor="ctr"/>
          <a:lstStyle/>
          <a:p>
            <a:pPr indent="0" marL="0">
              <a:buNone/>
            </a:pPr>
            <a:r>
              <a:rPr lang="en-US" sz="1700" b="1" dirty="0">
                <a:solidFill>
                  <a:srgbClr val="1B2838"/>
                </a:solidFill>
                <a:latin typeface="Microsoft YaHei" pitchFamily="34" charset="0"/>
                <a:ea typeface="Microsoft YaHei" pitchFamily="34" charset="-122"/>
                <a:cs typeface="Microsoft YaHei" pitchFamily="34" charset="-120"/>
              </a:rPr>
              <a:t>两刊写作规律分析</a:t>
            </a:r>
            <a:endParaRPr lang="en-US" sz="1700" dirty="0"/>
          </a:p>
        </p:txBody>
      </p:sp>
      <p:sp>
        <p:nvSpPr>
          <p:cNvPr id="8" name="Text 6"/>
          <p:cNvSpPr/>
          <p:nvPr/>
        </p:nvSpPr>
        <p:spPr>
          <a:xfrm>
            <a:off x="1691640" y="1463040"/>
            <a:ext cx="5486400" cy="228600"/>
          </a:xfrm>
          <a:prstGeom prst="rect">
            <a:avLst/>
          </a:prstGeom>
          <a:noFill/>
          <a:ln/>
        </p:spPr>
        <p:txBody>
          <a:bodyPr wrap="square" lIns="0" tIns="0" rIns="0" bIns="0" rtlCol="0" anchor="ctr"/>
          <a:lstStyle/>
          <a:p>
            <a:pPr indent="0" marL="0">
              <a:buNone/>
            </a:pPr>
            <a:r>
              <a:rPr lang="en-US" sz="1100" dirty="0">
                <a:solidFill>
                  <a:srgbClr val="64748B"/>
                </a:solidFill>
                <a:latin typeface="Microsoft YaHei" pitchFamily="34" charset="0"/>
                <a:ea typeface="Microsoft YaHei" pitchFamily="34" charset="-122"/>
                <a:cs typeface="Microsoft YaHei" pitchFamily="34" charset="-120"/>
              </a:rPr>
              <a:t>控制与决策 + TR-E · 核心规范·句式模板</a:t>
            </a:r>
            <a:endParaRPr lang="en-US" sz="1100" dirty="0"/>
          </a:p>
        </p:txBody>
      </p:sp>
      <p:sp>
        <p:nvSpPr>
          <p:cNvPr id="9" name="Shape 7"/>
          <p:cNvSpPr/>
          <p:nvPr/>
        </p:nvSpPr>
        <p:spPr>
          <a:xfrm>
            <a:off x="731520" y="1920240"/>
            <a:ext cx="731520" cy="502920"/>
          </a:xfrm>
          <a:prstGeom prst="rect">
            <a:avLst>
              <a:gd name="adj" fmla="val 10909"/>
            </a:avLst>
          </a:prstGeom>
          <a:solidFill>
            <a:srgbClr val="1E3A5F"/>
          </a:solidFill>
          <a:ln/>
        </p:spPr>
      </p:sp>
      <p:sp>
        <p:nvSpPr>
          <p:cNvPr id="10" name="Text 8"/>
          <p:cNvSpPr/>
          <p:nvPr/>
        </p:nvSpPr>
        <p:spPr>
          <a:xfrm>
            <a:off x="731520" y="1920240"/>
            <a:ext cx="7315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02</a:t>
            </a:r>
            <a:endParaRPr lang="en-US" sz="1600" dirty="0"/>
          </a:p>
        </p:txBody>
      </p:sp>
      <p:sp>
        <p:nvSpPr>
          <p:cNvPr id="11" name="Text 9"/>
          <p:cNvSpPr/>
          <p:nvPr/>
        </p:nvSpPr>
        <p:spPr>
          <a:xfrm>
            <a:off x="1691640" y="1920240"/>
            <a:ext cx="5486400" cy="292608"/>
          </a:xfrm>
          <a:prstGeom prst="rect">
            <a:avLst/>
          </a:prstGeom>
          <a:noFill/>
          <a:ln/>
        </p:spPr>
        <p:txBody>
          <a:bodyPr wrap="square" lIns="0" tIns="0" rIns="0" bIns="0" rtlCol="0" anchor="ctr"/>
          <a:lstStyle/>
          <a:p>
            <a:pPr indent="0" marL="0">
              <a:buNone/>
            </a:pPr>
            <a:r>
              <a:rPr lang="en-US" sz="1700" b="1" dirty="0">
                <a:solidFill>
                  <a:srgbClr val="1B2838"/>
                </a:solidFill>
                <a:latin typeface="Microsoft YaHei" pitchFamily="34" charset="0"/>
                <a:ea typeface="Microsoft YaHei" pitchFamily="34" charset="-122"/>
                <a:cs typeface="Microsoft YaHei" pitchFamily="34" charset="-120"/>
              </a:rPr>
              <a:t>期刊论文案例详解（3篇）</a:t>
            </a:r>
            <a:endParaRPr lang="en-US" sz="1700" dirty="0"/>
          </a:p>
        </p:txBody>
      </p:sp>
      <p:sp>
        <p:nvSpPr>
          <p:cNvPr id="12" name="Text 10"/>
          <p:cNvSpPr/>
          <p:nvPr/>
        </p:nvSpPr>
        <p:spPr>
          <a:xfrm>
            <a:off x="1691640" y="2194560"/>
            <a:ext cx="5486400" cy="228600"/>
          </a:xfrm>
          <a:prstGeom prst="rect">
            <a:avLst/>
          </a:prstGeom>
          <a:noFill/>
          <a:ln/>
        </p:spPr>
        <p:txBody>
          <a:bodyPr wrap="square" lIns="0" tIns="0" rIns="0" bIns="0" rtlCol="0" anchor="ctr"/>
          <a:lstStyle/>
          <a:p>
            <a:pPr indent="0" marL="0">
              <a:buNone/>
            </a:pPr>
            <a:r>
              <a:rPr lang="en-US" sz="1100" dirty="0">
                <a:solidFill>
                  <a:srgbClr val="64748B"/>
                </a:solidFill>
                <a:latin typeface="Microsoft YaHei" pitchFamily="34" charset="0"/>
                <a:ea typeface="Microsoft YaHei" pitchFamily="34" charset="-122"/>
                <a:cs typeface="Microsoft YaHei" pitchFamily="34" charset="-120"/>
              </a:rPr>
              <a:t>逐篇页面重现 + 结构拆解 + 规律提炼</a:t>
            </a:r>
            <a:endParaRPr lang="en-US" sz="1100" dirty="0"/>
          </a:p>
        </p:txBody>
      </p:sp>
      <p:sp>
        <p:nvSpPr>
          <p:cNvPr id="13" name="Shape 11"/>
          <p:cNvSpPr/>
          <p:nvPr/>
        </p:nvSpPr>
        <p:spPr>
          <a:xfrm>
            <a:off x="731520" y="2651760"/>
            <a:ext cx="731520" cy="502920"/>
          </a:xfrm>
          <a:prstGeom prst="rect">
            <a:avLst>
              <a:gd name="adj" fmla="val 10909"/>
            </a:avLst>
          </a:prstGeom>
          <a:solidFill>
            <a:srgbClr val="1E3A5F"/>
          </a:solidFill>
          <a:ln/>
        </p:spPr>
      </p:sp>
      <p:sp>
        <p:nvSpPr>
          <p:cNvPr id="14" name="Text 12"/>
          <p:cNvSpPr/>
          <p:nvPr/>
        </p:nvSpPr>
        <p:spPr>
          <a:xfrm>
            <a:off x="731520" y="2651760"/>
            <a:ext cx="7315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03</a:t>
            </a:r>
            <a:endParaRPr lang="en-US" sz="1600" dirty="0"/>
          </a:p>
        </p:txBody>
      </p:sp>
      <p:sp>
        <p:nvSpPr>
          <p:cNvPr id="15" name="Text 13"/>
          <p:cNvSpPr/>
          <p:nvPr/>
        </p:nvSpPr>
        <p:spPr>
          <a:xfrm>
            <a:off x="1691640" y="2651760"/>
            <a:ext cx="5486400" cy="292608"/>
          </a:xfrm>
          <a:prstGeom prst="rect">
            <a:avLst/>
          </a:prstGeom>
          <a:noFill/>
          <a:ln/>
        </p:spPr>
        <p:txBody>
          <a:bodyPr wrap="square" lIns="0" tIns="0" rIns="0" bIns="0" rtlCol="0" anchor="ctr"/>
          <a:lstStyle/>
          <a:p>
            <a:pPr indent="0" marL="0">
              <a:buNone/>
            </a:pPr>
            <a:r>
              <a:rPr lang="en-US" sz="1700" b="1" dirty="0">
                <a:solidFill>
                  <a:srgbClr val="1B2838"/>
                </a:solidFill>
                <a:latin typeface="Microsoft YaHei" pitchFamily="34" charset="0"/>
                <a:ea typeface="Microsoft YaHei" pitchFamily="34" charset="-122"/>
                <a:cs typeface="Microsoft YaHei" pitchFamily="34" charset="-120"/>
              </a:rPr>
              <a:t>当前论文问题诊断</a:t>
            </a:r>
            <a:endParaRPr lang="en-US" sz="1700" dirty="0"/>
          </a:p>
        </p:txBody>
      </p:sp>
      <p:sp>
        <p:nvSpPr>
          <p:cNvPr id="16" name="Text 14"/>
          <p:cNvSpPr/>
          <p:nvPr/>
        </p:nvSpPr>
        <p:spPr>
          <a:xfrm>
            <a:off x="1691640" y="2926080"/>
            <a:ext cx="5486400" cy="228600"/>
          </a:xfrm>
          <a:prstGeom prst="rect">
            <a:avLst/>
          </a:prstGeom>
          <a:noFill/>
          <a:ln/>
        </p:spPr>
        <p:txBody>
          <a:bodyPr wrap="square" lIns="0" tIns="0" rIns="0" bIns="0" rtlCol="0" anchor="ctr"/>
          <a:lstStyle/>
          <a:p>
            <a:pPr indent="0" marL="0">
              <a:buNone/>
            </a:pPr>
            <a:r>
              <a:rPr lang="en-US" sz="1100" dirty="0">
                <a:solidFill>
                  <a:srgbClr val="64748B"/>
                </a:solidFill>
                <a:latin typeface="Microsoft YaHei" pitchFamily="34" charset="0"/>
                <a:ea typeface="Microsoft YaHei" pitchFamily="34" charset="-122"/>
                <a:cs typeface="Microsoft YaHei" pitchFamily="34" charset="-120"/>
              </a:rPr>
              <a:t>摘要·引言·结构·逻辑 · 5大问题</a:t>
            </a:r>
            <a:endParaRPr lang="en-US" sz="1100" dirty="0"/>
          </a:p>
        </p:txBody>
      </p:sp>
      <p:sp>
        <p:nvSpPr>
          <p:cNvPr id="17" name="Shape 15"/>
          <p:cNvSpPr/>
          <p:nvPr/>
        </p:nvSpPr>
        <p:spPr>
          <a:xfrm>
            <a:off x="731520" y="3383280"/>
            <a:ext cx="731520" cy="502920"/>
          </a:xfrm>
          <a:prstGeom prst="rect">
            <a:avLst>
              <a:gd name="adj" fmla="val 10909"/>
            </a:avLst>
          </a:prstGeom>
          <a:solidFill>
            <a:srgbClr val="1E3A5F"/>
          </a:solidFill>
          <a:ln/>
        </p:spPr>
      </p:sp>
      <p:sp>
        <p:nvSpPr>
          <p:cNvPr id="18" name="Text 16"/>
          <p:cNvSpPr/>
          <p:nvPr/>
        </p:nvSpPr>
        <p:spPr>
          <a:xfrm>
            <a:off x="731520" y="3383280"/>
            <a:ext cx="7315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04</a:t>
            </a:r>
            <a:endParaRPr lang="en-US" sz="1600" dirty="0"/>
          </a:p>
        </p:txBody>
      </p:sp>
      <p:sp>
        <p:nvSpPr>
          <p:cNvPr id="19" name="Text 17"/>
          <p:cNvSpPr/>
          <p:nvPr/>
        </p:nvSpPr>
        <p:spPr>
          <a:xfrm>
            <a:off x="1691640" y="3383280"/>
            <a:ext cx="5486400" cy="292608"/>
          </a:xfrm>
          <a:prstGeom prst="rect">
            <a:avLst/>
          </a:prstGeom>
          <a:noFill/>
          <a:ln/>
        </p:spPr>
        <p:txBody>
          <a:bodyPr wrap="square" lIns="0" tIns="0" rIns="0" bIns="0" rtlCol="0" anchor="ctr"/>
          <a:lstStyle/>
          <a:p>
            <a:pPr indent="0" marL="0">
              <a:buNone/>
            </a:pPr>
            <a:r>
              <a:rPr lang="en-US" sz="1700" b="1" dirty="0">
                <a:solidFill>
                  <a:srgbClr val="1B2838"/>
                </a:solidFill>
                <a:latin typeface="Microsoft YaHei" pitchFamily="34" charset="0"/>
                <a:ea typeface="Microsoft YaHei" pitchFamily="34" charset="-122"/>
                <a:cs typeface="Microsoft YaHei" pitchFamily="34" charset="-120"/>
              </a:rPr>
              <a:t>一个月优化计划</a:t>
            </a:r>
            <a:endParaRPr lang="en-US" sz="1700" dirty="0"/>
          </a:p>
        </p:txBody>
      </p:sp>
      <p:sp>
        <p:nvSpPr>
          <p:cNvPr id="20" name="Text 18"/>
          <p:cNvSpPr/>
          <p:nvPr/>
        </p:nvSpPr>
        <p:spPr>
          <a:xfrm>
            <a:off x="1691640" y="3657600"/>
            <a:ext cx="5486400" cy="228600"/>
          </a:xfrm>
          <a:prstGeom prst="rect">
            <a:avLst/>
          </a:prstGeom>
          <a:noFill/>
          <a:ln/>
        </p:spPr>
        <p:txBody>
          <a:bodyPr wrap="square" lIns="0" tIns="0" rIns="0" bIns="0" rtlCol="0" anchor="ctr"/>
          <a:lstStyle/>
          <a:p>
            <a:pPr indent="0" marL="0">
              <a:buNone/>
            </a:pPr>
            <a:r>
              <a:rPr lang="en-US" sz="1100" dirty="0">
                <a:solidFill>
                  <a:srgbClr val="64748B"/>
                </a:solidFill>
                <a:latin typeface="Microsoft YaHei" pitchFamily="34" charset="0"/>
                <a:ea typeface="Microsoft YaHei" pitchFamily="34" charset="-122"/>
                <a:cs typeface="Microsoft YaHei" pitchFamily="34" charset="-120"/>
              </a:rPr>
              <a:t>周度任务·里程碑·风险预案</a:t>
            </a:r>
            <a:endParaRPr lang="en-US" sz="1100" dirty="0"/>
          </a:p>
        </p:txBody>
      </p:sp>
      <p:sp>
        <p:nvSpPr>
          <p:cNvPr id="21" name="Shape 19"/>
          <p:cNvSpPr/>
          <p:nvPr/>
        </p:nvSpPr>
        <p:spPr>
          <a:xfrm>
            <a:off x="731520" y="4114800"/>
            <a:ext cx="731520" cy="502920"/>
          </a:xfrm>
          <a:prstGeom prst="rect">
            <a:avLst>
              <a:gd name="adj" fmla="val 10909"/>
            </a:avLst>
          </a:prstGeom>
          <a:solidFill>
            <a:srgbClr val="1E3A5F"/>
          </a:solidFill>
          <a:ln/>
        </p:spPr>
      </p:sp>
      <p:sp>
        <p:nvSpPr>
          <p:cNvPr id="22" name="Text 20"/>
          <p:cNvSpPr/>
          <p:nvPr/>
        </p:nvSpPr>
        <p:spPr>
          <a:xfrm>
            <a:off x="731520" y="4114800"/>
            <a:ext cx="7315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05</a:t>
            </a:r>
            <a:endParaRPr lang="en-US" sz="1600" dirty="0"/>
          </a:p>
        </p:txBody>
      </p:sp>
      <p:sp>
        <p:nvSpPr>
          <p:cNvPr id="23" name="Text 21"/>
          <p:cNvSpPr/>
          <p:nvPr/>
        </p:nvSpPr>
        <p:spPr>
          <a:xfrm>
            <a:off x="1691640" y="4114800"/>
            <a:ext cx="5486400" cy="292608"/>
          </a:xfrm>
          <a:prstGeom prst="rect">
            <a:avLst/>
          </a:prstGeom>
          <a:noFill/>
          <a:ln/>
        </p:spPr>
        <p:txBody>
          <a:bodyPr wrap="square" lIns="0" tIns="0" rIns="0" bIns="0" rtlCol="0" anchor="ctr"/>
          <a:lstStyle/>
          <a:p>
            <a:pPr indent="0" marL="0">
              <a:buNone/>
            </a:pPr>
            <a:r>
              <a:rPr lang="en-US" sz="1700" b="1" dirty="0">
                <a:solidFill>
                  <a:srgbClr val="1B2838"/>
                </a:solidFill>
                <a:latin typeface="Microsoft YaHei" pitchFamily="34" charset="0"/>
                <a:ea typeface="Microsoft YaHei" pitchFamily="34" charset="-122"/>
                <a:cs typeface="Microsoft YaHei" pitchFamily="34" charset="-120"/>
              </a:rPr>
              <a:t>写作建议速查卡</a:t>
            </a:r>
            <a:endParaRPr lang="en-US" sz="1700" dirty="0"/>
          </a:p>
        </p:txBody>
      </p:sp>
      <p:sp>
        <p:nvSpPr>
          <p:cNvPr id="24" name="Text 22"/>
          <p:cNvSpPr/>
          <p:nvPr/>
        </p:nvSpPr>
        <p:spPr>
          <a:xfrm>
            <a:off x="1691640" y="4389120"/>
            <a:ext cx="5486400" cy="228600"/>
          </a:xfrm>
          <a:prstGeom prst="rect">
            <a:avLst/>
          </a:prstGeom>
          <a:noFill/>
          <a:ln/>
        </p:spPr>
        <p:txBody>
          <a:bodyPr wrap="square" lIns="0" tIns="0" rIns="0" bIns="0" rtlCol="0" anchor="ctr"/>
          <a:lstStyle/>
          <a:p>
            <a:pPr indent="0" marL="0">
              <a:buNone/>
            </a:pPr>
            <a:r>
              <a:rPr lang="en-US" sz="1100" dirty="0">
                <a:solidFill>
                  <a:srgbClr val="64748B"/>
                </a:solidFill>
                <a:latin typeface="Microsoft YaHei" pitchFamily="34" charset="0"/>
                <a:ea typeface="Microsoft YaHei" pitchFamily="34" charset="-122"/>
                <a:cs typeface="Microsoft YaHei" pitchFamily="34" charset="-120"/>
              </a:rPr>
              <a:t>摘要·引言·方法·实验四大模块</a:t>
            </a:r>
            <a:endParaRPr lang="en-US" sz="1100" dirty="0"/>
          </a:p>
        </p:txBody>
      </p:sp>
      <p:sp>
        <p:nvSpPr>
          <p:cNvPr id="25"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《控制与决策》期刊简介与写作规律</a:t>
            </a:r>
            <a:endParaRPr lang="en-US" sz="2800" dirty="0"/>
          </a:p>
        </p:txBody>
      </p:sp>
      <p:sp>
        <p:nvSpPr>
          <p:cNvPr id="4" name="Shape 2"/>
          <p:cNvSpPr/>
          <p:nvPr/>
        </p:nvSpPr>
        <p:spPr>
          <a:xfrm>
            <a:off x="731520" y="868680"/>
            <a:ext cx="1463040" cy="27432"/>
          </a:xfrm>
          <a:prstGeom prst="rect">
            <a:avLst/>
          </a:prstGeom>
          <a:solidFill>
            <a:srgbClr val="0D9488"/>
          </a:solidFill>
          <a:ln/>
        </p:spPr>
      </p:sp>
      <p:sp>
        <p:nvSpPr>
          <p:cNvPr id="5" name="Shape 3"/>
          <p:cNvSpPr/>
          <p:nvPr/>
        </p:nvSpPr>
        <p:spPr>
          <a:xfrm>
            <a:off x="731520" y="1097280"/>
            <a:ext cx="3840480" cy="1463040"/>
          </a:xfrm>
          <a:prstGeom prst="rect">
            <a:avLst>
              <a:gd name="adj" fmla="val 5000"/>
            </a:avLst>
          </a:prstGeom>
          <a:solidFill>
            <a:srgbClr val="F8FAFC"/>
          </a:solidFill>
          <a:ln/>
        </p:spPr>
      </p:sp>
      <p:sp>
        <p:nvSpPr>
          <p:cNvPr id="6" name="Shape 4"/>
          <p:cNvSpPr/>
          <p:nvPr/>
        </p:nvSpPr>
        <p:spPr>
          <a:xfrm>
            <a:off x="731520" y="1097280"/>
            <a:ext cx="3840480" cy="45720"/>
          </a:xfrm>
          <a:prstGeom prst="rect">
            <a:avLst/>
          </a:prstGeom>
          <a:solidFill>
            <a:srgbClr val="1E3A5F"/>
          </a:solidFill>
          <a:ln/>
        </p:spPr>
      </p:sp>
      <p:sp>
        <p:nvSpPr>
          <p:cNvPr id="7" name="Text 5"/>
          <p:cNvSpPr/>
          <p:nvPr/>
        </p:nvSpPr>
        <p:spPr>
          <a:xfrm>
            <a:off x="914400" y="1234440"/>
            <a:ext cx="347472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基本信息</a:t>
            </a:r>
            <a:endParaRPr lang="en-US" sz="1500" dirty="0"/>
          </a:p>
        </p:txBody>
      </p:sp>
      <p:sp>
        <p:nvSpPr>
          <p:cNvPr id="8" name="Text 6"/>
          <p:cNvSpPr/>
          <p:nvPr/>
        </p:nvSpPr>
        <p:spPr>
          <a:xfrm>
            <a:off x="914400" y="1600200"/>
            <a:ext cx="3474720" cy="82296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主管：教育部 | 主办：东北大学 | 月刊</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ISSN: 1001-0920 | CN: 21-1124/TP</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EI Compendex · CSCD · 中文核心</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选题：控制理论、运筹学、智能优化</a:t>
            </a:r>
            <a:endParaRPr lang="en-US" sz="1100" dirty="0"/>
          </a:p>
        </p:txBody>
      </p:sp>
      <p:sp>
        <p:nvSpPr>
          <p:cNvPr id="9" name="Shape 7"/>
          <p:cNvSpPr/>
          <p:nvPr/>
        </p:nvSpPr>
        <p:spPr>
          <a:xfrm>
            <a:off x="4754880" y="1097280"/>
            <a:ext cx="3657600" cy="1463040"/>
          </a:xfrm>
          <a:prstGeom prst="rect">
            <a:avLst>
              <a:gd name="adj" fmla="val 5000"/>
            </a:avLst>
          </a:prstGeom>
          <a:solidFill>
            <a:srgbClr val="F8FAFC"/>
          </a:solidFill>
          <a:ln/>
        </p:spPr>
      </p:sp>
      <p:sp>
        <p:nvSpPr>
          <p:cNvPr id="10" name="Shape 8"/>
          <p:cNvSpPr/>
          <p:nvPr/>
        </p:nvSpPr>
        <p:spPr>
          <a:xfrm>
            <a:off x="4754880" y="1097280"/>
            <a:ext cx="3657600" cy="45720"/>
          </a:xfrm>
          <a:prstGeom prst="rect">
            <a:avLst/>
          </a:prstGeom>
          <a:solidFill>
            <a:srgbClr val="0D9488"/>
          </a:solidFill>
          <a:ln/>
        </p:spPr>
      </p:sp>
      <p:sp>
        <p:nvSpPr>
          <p:cNvPr id="11" name="Text 9"/>
          <p:cNvSpPr/>
          <p:nvPr/>
        </p:nvSpPr>
        <p:spPr>
          <a:xfrm>
            <a:off x="4937760" y="1234440"/>
            <a:ext cx="329184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摘要硬性要求</a:t>
            </a:r>
            <a:endParaRPr lang="en-US" sz="1500" dirty="0"/>
          </a:p>
        </p:txBody>
      </p:sp>
      <p:sp>
        <p:nvSpPr>
          <p:cNvPr id="12" name="Text 10"/>
          <p:cNvSpPr/>
          <p:nvPr/>
        </p:nvSpPr>
        <p:spPr>
          <a:xfrm>
            <a:off x="4937760" y="1600200"/>
            <a:ext cx="3291840" cy="82296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结构：强制四要素（目的→方法→结果→结论）</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字数：中文150~200字</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人称：严禁"本文""我们"</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关键词：3~6个，中英文双语</a:t>
            </a:r>
            <a:endParaRPr lang="en-US" sz="1100" dirty="0"/>
          </a:p>
        </p:txBody>
      </p:sp>
      <p:sp>
        <p:nvSpPr>
          <p:cNvPr id="13" name="Shape 11"/>
          <p:cNvSpPr/>
          <p:nvPr/>
        </p:nvSpPr>
        <p:spPr>
          <a:xfrm>
            <a:off x="731520" y="2834640"/>
            <a:ext cx="3840480" cy="1828800"/>
          </a:xfrm>
          <a:prstGeom prst="rect">
            <a:avLst>
              <a:gd name="adj" fmla="val 4000"/>
            </a:avLst>
          </a:prstGeom>
          <a:solidFill>
            <a:srgbClr val="F8FAFC"/>
          </a:solidFill>
          <a:ln/>
        </p:spPr>
      </p:sp>
      <p:sp>
        <p:nvSpPr>
          <p:cNvPr id="14" name="Shape 12"/>
          <p:cNvSpPr/>
          <p:nvPr/>
        </p:nvSpPr>
        <p:spPr>
          <a:xfrm>
            <a:off x="731520" y="2834640"/>
            <a:ext cx="3840480" cy="45720"/>
          </a:xfrm>
          <a:prstGeom prst="rect">
            <a:avLst/>
          </a:prstGeom>
          <a:solidFill>
            <a:srgbClr val="1E3A5F"/>
          </a:solidFill>
          <a:ln/>
        </p:spPr>
      </p:sp>
      <p:sp>
        <p:nvSpPr>
          <p:cNvPr id="15" name="Text 13"/>
          <p:cNvSpPr/>
          <p:nvPr/>
        </p:nvSpPr>
        <p:spPr>
          <a:xfrm>
            <a:off x="914400" y="2971800"/>
            <a:ext cx="347472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典型句式模板（方法串联）</a:t>
            </a:r>
            <a:endParaRPr lang="en-US" sz="1500" dirty="0"/>
          </a:p>
        </p:txBody>
      </p:sp>
      <p:sp>
        <p:nvSpPr>
          <p:cNvPr id="16" name="Text 14"/>
          <p:cNvSpPr/>
          <p:nvPr/>
        </p:nvSpPr>
        <p:spPr>
          <a:xfrm>
            <a:off x="914400" y="3337560"/>
            <a:ext cx="3474720" cy="118872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【目的】"针对...的...问题/挑战，提出一种..."</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【方法】"首先，设计/构建...；然后，引入...；"</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"接着，通过...；最后，验证..."</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【结果】"实验结果表明：与...相比，成本降低X%"</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【结论】"...验证了所提出方法的有效性"</a:t>
            </a:r>
            <a:endParaRPr lang="en-US" sz="1100" dirty="0"/>
          </a:p>
        </p:txBody>
      </p:sp>
      <p:sp>
        <p:nvSpPr>
          <p:cNvPr id="17" name="Shape 15"/>
          <p:cNvSpPr/>
          <p:nvPr/>
        </p:nvSpPr>
        <p:spPr>
          <a:xfrm>
            <a:off x="4754880" y="2834640"/>
            <a:ext cx="3657600" cy="1828800"/>
          </a:xfrm>
          <a:prstGeom prst="rect">
            <a:avLst>
              <a:gd name="adj" fmla="val 4000"/>
            </a:avLst>
          </a:prstGeom>
          <a:solidFill>
            <a:srgbClr val="F8FAFC"/>
          </a:solidFill>
          <a:ln/>
        </p:spPr>
      </p:sp>
      <p:sp>
        <p:nvSpPr>
          <p:cNvPr id="18" name="Shape 16"/>
          <p:cNvSpPr/>
          <p:nvPr/>
        </p:nvSpPr>
        <p:spPr>
          <a:xfrm>
            <a:off x="4754880" y="2834640"/>
            <a:ext cx="3657600" cy="45720"/>
          </a:xfrm>
          <a:prstGeom prst="rect">
            <a:avLst/>
          </a:prstGeom>
          <a:solidFill>
            <a:srgbClr val="059669"/>
          </a:solidFill>
          <a:ln/>
        </p:spPr>
      </p:sp>
      <p:sp>
        <p:nvSpPr>
          <p:cNvPr id="19" name="Text 17"/>
          <p:cNvSpPr/>
          <p:nvPr/>
        </p:nvSpPr>
        <p:spPr>
          <a:xfrm>
            <a:off x="4937760" y="2971800"/>
            <a:ext cx="329184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与LE-DEGN的匹配度</a:t>
            </a:r>
            <a:endParaRPr lang="en-US" sz="1500" dirty="0"/>
          </a:p>
        </p:txBody>
      </p:sp>
      <p:sp>
        <p:nvSpPr>
          <p:cNvPr id="20" name="Text 18"/>
          <p:cNvSpPr/>
          <p:nvPr/>
        </p:nvSpPr>
        <p:spPr>
          <a:xfrm>
            <a:off x="4937760" y="3337560"/>
            <a:ext cx="3291840" cy="118872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LE-DEGN = 图神经网络 + 组合优化 + 动态路由</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近期该刊发文：GNN求解器、多智能体DRL调度</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选题方向高度匹配</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写作上需严格按四要素+客观陈述格式</a:t>
            </a:r>
            <a:endParaRPr lang="en-US" sz="1100" dirty="0"/>
          </a:p>
        </p:txBody>
      </p:sp>
      <p:sp>
        <p:nvSpPr>
          <p:cNvPr id="21"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Transportation Research Part E 期刊简介与写作规律</a:t>
            </a:r>
            <a:endParaRPr lang="en-US" sz="2800" dirty="0"/>
          </a:p>
        </p:txBody>
      </p:sp>
      <p:sp>
        <p:nvSpPr>
          <p:cNvPr id="4" name="Shape 2"/>
          <p:cNvSpPr/>
          <p:nvPr/>
        </p:nvSpPr>
        <p:spPr>
          <a:xfrm>
            <a:off x="731520" y="868680"/>
            <a:ext cx="1463040" cy="27432"/>
          </a:xfrm>
          <a:prstGeom prst="rect">
            <a:avLst/>
          </a:prstGeom>
          <a:solidFill>
            <a:srgbClr val="0D9488"/>
          </a:solidFill>
          <a:ln/>
        </p:spPr>
      </p:sp>
      <p:sp>
        <p:nvSpPr>
          <p:cNvPr id="5" name="Shape 3"/>
          <p:cNvSpPr/>
          <p:nvPr/>
        </p:nvSpPr>
        <p:spPr>
          <a:xfrm>
            <a:off x="731520" y="1097280"/>
            <a:ext cx="3840480" cy="1463040"/>
          </a:xfrm>
          <a:prstGeom prst="rect">
            <a:avLst>
              <a:gd name="adj" fmla="val 5000"/>
            </a:avLst>
          </a:prstGeom>
          <a:solidFill>
            <a:srgbClr val="F8FAFC"/>
          </a:solidFill>
          <a:ln/>
        </p:spPr>
      </p:sp>
      <p:sp>
        <p:nvSpPr>
          <p:cNvPr id="6" name="Shape 4"/>
          <p:cNvSpPr/>
          <p:nvPr/>
        </p:nvSpPr>
        <p:spPr>
          <a:xfrm>
            <a:off x="731520" y="1097280"/>
            <a:ext cx="3840480" cy="45720"/>
          </a:xfrm>
          <a:prstGeom prst="rect">
            <a:avLst/>
          </a:prstGeom>
          <a:solidFill>
            <a:srgbClr val="1E3A5F"/>
          </a:solidFill>
          <a:ln/>
        </p:spPr>
      </p:sp>
      <p:sp>
        <p:nvSpPr>
          <p:cNvPr id="7" name="Text 5"/>
          <p:cNvSpPr/>
          <p:nvPr/>
        </p:nvSpPr>
        <p:spPr>
          <a:xfrm>
            <a:off x="914400" y="1234440"/>
            <a:ext cx="347472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基本信息</a:t>
            </a:r>
            <a:endParaRPr lang="en-US" sz="1500" dirty="0"/>
          </a:p>
        </p:txBody>
      </p:sp>
      <p:sp>
        <p:nvSpPr>
          <p:cNvPr id="8" name="Text 6"/>
          <p:cNvSpPr/>
          <p:nvPr/>
        </p:nvSpPr>
        <p:spPr>
          <a:xfrm>
            <a:off x="914400" y="1600200"/>
            <a:ext cx="3474720" cy="82296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出版商：Elsevier Ltd | 双月刊</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ISSN: 1366-5545</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JCR Q1 | 中科院1区TOP | IF≈10.6</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CiteScore≈18.5 | 审稿周期4~8月</a:t>
            </a:r>
            <a:endParaRPr lang="en-US" sz="1100" dirty="0"/>
          </a:p>
        </p:txBody>
      </p:sp>
      <p:sp>
        <p:nvSpPr>
          <p:cNvPr id="9" name="Shape 7"/>
          <p:cNvSpPr/>
          <p:nvPr/>
        </p:nvSpPr>
        <p:spPr>
          <a:xfrm>
            <a:off x="4754880" y="1097280"/>
            <a:ext cx="3657600" cy="1463040"/>
          </a:xfrm>
          <a:prstGeom prst="rect">
            <a:avLst>
              <a:gd name="adj" fmla="val 5000"/>
            </a:avLst>
          </a:prstGeom>
          <a:solidFill>
            <a:srgbClr val="F8FAFC"/>
          </a:solidFill>
          <a:ln/>
        </p:spPr>
      </p:sp>
      <p:sp>
        <p:nvSpPr>
          <p:cNvPr id="10" name="Shape 8"/>
          <p:cNvSpPr/>
          <p:nvPr/>
        </p:nvSpPr>
        <p:spPr>
          <a:xfrm>
            <a:off x="4754880" y="1097280"/>
            <a:ext cx="3657600" cy="45720"/>
          </a:xfrm>
          <a:prstGeom prst="rect">
            <a:avLst/>
          </a:prstGeom>
          <a:solidFill>
            <a:srgbClr val="0D9488"/>
          </a:solidFill>
          <a:ln/>
        </p:spPr>
      </p:sp>
      <p:sp>
        <p:nvSpPr>
          <p:cNvPr id="11" name="Text 9"/>
          <p:cNvSpPr/>
          <p:nvPr/>
        </p:nvSpPr>
        <p:spPr>
          <a:xfrm>
            <a:off x="4937760" y="1234440"/>
            <a:ext cx="329184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摘要核心要求</a:t>
            </a:r>
            <a:endParaRPr lang="en-US" sz="1500" dirty="0"/>
          </a:p>
        </p:txBody>
      </p:sp>
      <p:sp>
        <p:nvSpPr>
          <p:cNvPr id="12" name="Text 10"/>
          <p:cNvSpPr/>
          <p:nvPr/>
        </p:nvSpPr>
        <p:spPr>
          <a:xfrm>
            <a:off x="4937760" y="1600200"/>
            <a:ext cx="3291840" cy="82296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非结构化单段式，隐含IMRaD逻辑</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约200~280词，10~15句</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第三人称为主 (This paper proposes...)</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必须提供Highlights (3~5条, ≤85字符)</a:t>
            </a:r>
            <a:endParaRPr lang="en-US" sz="1100" dirty="0"/>
          </a:p>
        </p:txBody>
      </p:sp>
      <p:sp>
        <p:nvSpPr>
          <p:cNvPr id="13" name="Shape 11"/>
          <p:cNvSpPr/>
          <p:nvPr/>
        </p:nvSpPr>
        <p:spPr>
          <a:xfrm>
            <a:off x="731520" y="2834640"/>
            <a:ext cx="3840480" cy="1828800"/>
          </a:xfrm>
          <a:prstGeom prst="rect">
            <a:avLst>
              <a:gd name="adj" fmla="val 4000"/>
            </a:avLst>
          </a:prstGeom>
          <a:solidFill>
            <a:srgbClr val="F8FAFC"/>
          </a:solidFill>
          <a:ln/>
        </p:spPr>
      </p:sp>
      <p:sp>
        <p:nvSpPr>
          <p:cNvPr id="14" name="Shape 12"/>
          <p:cNvSpPr/>
          <p:nvPr/>
        </p:nvSpPr>
        <p:spPr>
          <a:xfrm>
            <a:off x="731520" y="2834640"/>
            <a:ext cx="3840480" cy="45720"/>
          </a:xfrm>
          <a:prstGeom prst="rect">
            <a:avLst/>
          </a:prstGeom>
          <a:solidFill>
            <a:srgbClr val="1E3A5F"/>
          </a:solidFill>
          <a:ln/>
        </p:spPr>
      </p:sp>
      <p:sp>
        <p:nvSpPr>
          <p:cNvPr id="15" name="Text 13"/>
          <p:cNvSpPr/>
          <p:nvPr/>
        </p:nvSpPr>
        <p:spPr>
          <a:xfrm>
            <a:off x="914400" y="2971800"/>
            <a:ext cx="347472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典型英文句式模板</a:t>
            </a:r>
            <a:endParaRPr lang="en-US" sz="1500" dirty="0"/>
          </a:p>
        </p:txBody>
      </p:sp>
      <p:sp>
        <p:nvSpPr>
          <p:cNvPr id="16" name="Text 14"/>
          <p:cNvSpPr/>
          <p:nvPr/>
        </p:nvSpPr>
        <p:spPr>
          <a:xfrm>
            <a:off x="914400" y="3337560"/>
            <a:ext cx="3474720" cy="118872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【Problem】"This paper addresses/investigates..."</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【Method】"First, ... Second, ... Then, ..."</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【Result】"Results show that... achieves up to X%"</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【Contribution】"These findings provide..."</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【Comparative】"Compared to the baseline, ..."</a:t>
            </a:r>
            <a:endParaRPr lang="en-US" sz="1100" dirty="0"/>
          </a:p>
        </p:txBody>
      </p:sp>
      <p:sp>
        <p:nvSpPr>
          <p:cNvPr id="17" name="Shape 15"/>
          <p:cNvSpPr/>
          <p:nvPr/>
        </p:nvSpPr>
        <p:spPr>
          <a:xfrm>
            <a:off x="4754880" y="2834640"/>
            <a:ext cx="3657600" cy="1828800"/>
          </a:xfrm>
          <a:prstGeom prst="rect">
            <a:avLst>
              <a:gd name="adj" fmla="val 4000"/>
            </a:avLst>
          </a:prstGeom>
          <a:solidFill>
            <a:srgbClr val="F8FAFC"/>
          </a:solidFill>
          <a:ln/>
        </p:spPr>
      </p:sp>
      <p:sp>
        <p:nvSpPr>
          <p:cNvPr id="18" name="Shape 16"/>
          <p:cNvSpPr/>
          <p:nvPr/>
        </p:nvSpPr>
        <p:spPr>
          <a:xfrm>
            <a:off x="4754880" y="2834640"/>
            <a:ext cx="3657600" cy="45720"/>
          </a:xfrm>
          <a:prstGeom prst="rect">
            <a:avLst/>
          </a:prstGeom>
          <a:solidFill>
            <a:srgbClr val="059669"/>
          </a:solidFill>
          <a:ln/>
        </p:spPr>
      </p:sp>
      <p:sp>
        <p:nvSpPr>
          <p:cNvPr id="19" name="Text 17"/>
          <p:cNvSpPr/>
          <p:nvPr/>
        </p:nvSpPr>
        <p:spPr>
          <a:xfrm>
            <a:off x="4937760" y="2971800"/>
            <a:ext cx="329184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特色要求</a:t>
            </a:r>
            <a:endParaRPr lang="en-US" sz="1500" dirty="0"/>
          </a:p>
        </p:txBody>
      </p:sp>
      <p:sp>
        <p:nvSpPr>
          <p:cNvPr id="20" name="Text 18"/>
          <p:cNvSpPr/>
          <p:nvPr/>
        </p:nvSpPr>
        <p:spPr>
          <a:xfrm>
            <a:off x="4937760" y="3337560"/>
            <a:ext cx="3291840" cy="118872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双盲匿名：摘要及正文不得出现作者信息</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Highlights与Abstract互补，不重复</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定量结果必须有具体数值和显著性</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参考文献按Elsevier格式（APA-style）</a:t>
            </a:r>
            <a:endParaRPr lang="en-US" sz="1100" dirty="0"/>
          </a:p>
        </p:txBody>
      </p:sp>
      <p:sp>
        <p:nvSpPr>
          <p:cNvPr id="21"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两刊写作规律对比总览</a:t>
            </a:r>
            <a:endParaRPr lang="en-US" sz="2800" dirty="0"/>
          </a:p>
        </p:txBody>
      </p:sp>
      <p:sp>
        <p:nvSpPr>
          <p:cNvPr id="4" name="Shape 2"/>
          <p:cNvSpPr/>
          <p:nvPr/>
        </p:nvSpPr>
        <p:spPr>
          <a:xfrm>
            <a:off x="731520" y="868680"/>
            <a:ext cx="1463040" cy="27432"/>
          </a:xfrm>
          <a:prstGeom prst="rect">
            <a:avLst/>
          </a:prstGeom>
          <a:solidFill>
            <a:srgbClr val="0D9488"/>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554480"/>
                <a:gridCol w="3291840"/>
                <a:gridCol w="3383280"/>
              </a:tblGrid>
              <a:tr h="0">
                <a:tc>
                  <a:txBody>
                    <a:bodyPr/>
                    <a:lstStyle/>
                    <a:p>
                      <a:pPr indent="0" marL="0">
                        <a:buNone/>
                      </a:pPr>
                      <a:r>
                        <a:rPr lang="en-US" sz="1200" b="1" dirty="0">
                          <a:solidFill>
                            <a:srgbClr val="FFFFFF"/>
                          </a:solidFill>
                          <a:latin typeface="Microsoft YaHei" pitchFamily="34" charset="0"/>
                          <a:ea typeface="Microsoft YaHei" pitchFamily="34" charset="-122"/>
                          <a:cs typeface="Microsoft YaHei" pitchFamily="34" charset="-120"/>
                        </a:rPr>
                        <a:t>维度</a:t>
                      </a:r>
                      <a:endParaRPr lang="en-US" sz="12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indent="0" marL="0">
                        <a:buNone/>
                      </a:pPr>
                      <a:r>
                        <a:rPr lang="en-US" sz="1200" b="1" dirty="0">
                          <a:solidFill>
                            <a:srgbClr val="FFFFFF"/>
                          </a:solidFill>
                          <a:latin typeface="Microsoft YaHei" pitchFamily="34" charset="0"/>
                          <a:ea typeface="Microsoft YaHei" pitchFamily="34" charset="-122"/>
                          <a:cs typeface="Microsoft YaHei" pitchFamily="34" charset="-120"/>
                        </a:rPr>
                        <a:t>《控制与决策》</a:t>
                      </a:r>
                      <a:endParaRPr lang="en-US" sz="12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indent="0" marL="0">
                        <a:buNone/>
                      </a:pPr>
                      <a:r>
                        <a:rPr lang="en-US" sz="1200" b="1" dirty="0">
                          <a:solidFill>
                            <a:srgbClr val="FFFFFF"/>
                          </a:solidFill>
                          <a:latin typeface="Microsoft YaHei" pitchFamily="34" charset="0"/>
                          <a:ea typeface="Microsoft YaHei" pitchFamily="34" charset="-122"/>
                          <a:cs typeface="Microsoft YaHei" pitchFamily="34" charset="-120"/>
                        </a:rPr>
                        <a:t>TR-E (Elsevier)</a:t>
                      </a:r>
                      <a:endParaRPr lang="en-US" sz="12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r>
              <a:tr h="0">
                <a:tc>
                  <a:txBody>
                    <a:bodyPr/>
                    <a:lstStyle/>
                    <a:p>
                      <a:pPr indent="0" marL="0">
                        <a:buNone/>
                      </a:pPr>
                      <a:r>
                        <a:rPr lang="en-US" sz="1100" b="1" dirty="0">
                          <a:solidFill>
                            <a:srgbClr val="000000"/>
                          </a:solidFill>
                          <a:latin typeface="Microsoft YaHei" pitchFamily="34" charset="0"/>
                          <a:ea typeface="Microsoft YaHei" pitchFamily="34" charset="-122"/>
                          <a:cs typeface="Microsoft YaHei" pitchFamily="34" charset="-120"/>
                        </a:rPr>
                        <a:t>摘要结构</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7"/>
                    </a:solidFill>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强制四要素分段</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7"/>
                    </a:solidFill>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单段非结构化, 隐含IMRaD</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7"/>
                    </a:solidFill>
                  </a:tcPr>
                </a:tc>
              </a:tr>
              <a:tr h="0">
                <a:tc>
                  <a:txBody>
                    <a:bodyPr/>
                    <a:lstStyle/>
                    <a:p>
                      <a:pPr indent="0" marL="0">
                        <a:buNone/>
                      </a:pPr>
                      <a:r>
                        <a:rPr lang="en-US" sz="1100" b="1" dirty="0">
                          <a:solidFill>
                            <a:srgbClr val="000000"/>
                          </a:solidFill>
                          <a:latin typeface="Microsoft YaHei" pitchFamily="34" charset="0"/>
                          <a:ea typeface="Microsoft YaHei" pitchFamily="34" charset="-122"/>
                          <a:cs typeface="Microsoft YaHei" pitchFamily="34" charset="-120"/>
                        </a:rPr>
                        <a:t>字数</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150~200 汉字</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约 200~280 词</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1100" b="1" dirty="0">
                          <a:solidFill>
                            <a:srgbClr val="000000"/>
                          </a:solidFill>
                          <a:latin typeface="Microsoft YaHei" pitchFamily="34" charset="0"/>
                          <a:ea typeface="Microsoft YaHei" pitchFamily="34" charset="-122"/>
                          <a:cs typeface="Microsoft YaHei" pitchFamily="34" charset="-120"/>
                        </a:rPr>
                        <a:t>人称</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7"/>
                    </a:solidFill>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严禁第一人称</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7"/>
                    </a:solidFill>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第三人称为主, 偶用 we</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7"/>
                    </a:solidFill>
                  </a:tcPr>
                </a:tc>
              </a:tr>
              <a:tr h="0">
                <a:tc>
                  <a:txBody>
                    <a:bodyPr/>
                    <a:lstStyle/>
                    <a:p>
                      <a:pPr indent="0" marL="0">
                        <a:buNone/>
                      </a:pPr>
                      <a:r>
                        <a:rPr lang="en-US" sz="1100" b="1" dirty="0">
                          <a:solidFill>
                            <a:srgbClr val="000000"/>
                          </a:solidFill>
                          <a:latin typeface="Microsoft YaHei" pitchFamily="34" charset="0"/>
                          <a:ea typeface="Microsoft YaHei" pitchFamily="34" charset="-122"/>
                          <a:cs typeface="Microsoft YaHei" pitchFamily="34" charset="-120"/>
                        </a:rPr>
                        <a:t>方法串联</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首先→然后→接着→最后</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First→Second→Then→Finally</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1100" b="1" dirty="0">
                          <a:solidFill>
                            <a:srgbClr val="000000"/>
                          </a:solidFill>
                          <a:latin typeface="Microsoft YaHei" pitchFamily="34" charset="0"/>
                          <a:ea typeface="Microsoft YaHei" pitchFamily="34" charset="-122"/>
                          <a:cs typeface="Microsoft YaHei" pitchFamily="34" charset="-120"/>
                        </a:rPr>
                        <a:t>特色要求</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7"/>
                    </a:solidFill>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中图分类号+文献标志码</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7"/>
                    </a:solidFill>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Highlights + 双盲匿名</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7"/>
                    </a:solidFill>
                  </a:tcPr>
                </a:tc>
              </a:tr>
            </a:tbl>
          </a:graphicData>
        </a:graphic>
      </p:graphicFrame>
      <p:sp>
        <p:nvSpPr>
          <p:cNvPr id="6" name="Shape 3"/>
          <p:cNvSpPr/>
          <p:nvPr/>
        </p:nvSpPr>
        <p:spPr>
          <a:xfrm>
            <a:off x="457200" y="4206240"/>
            <a:ext cx="8229600" cy="640080"/>
          </a:xfrm>
          <a:prstGeom prst="rect">
            <a:avLst>
              <a:gd name="adj" fmla="val 8571"/>
            </a:avLst>
          </a:prstGeom>
          <a:solidFill>
            <a:srgbClr val="E8F5F2"/>
          </a:solidFill>
          <a:ln/>
        </p:spPr>
      </p:sp>
      <p:sp>
        <p:nvSpPr>
          <p:cNvPr id="7" name="Text 4"/>
          <p:cNvSpPr/>
          <p:nvPr/>
        </p:nvSpPr>
        <p:spPr>
          <a:xfrm>
            <a:off x="640080" y="4206240"/>
            <a:ext cx="7863840" cy="640080"/>
          </a:xfrm>
          <a:prstGeom prst="rect">
            <a:avLst/>
          </a:prstGeom>
          <a:noFill/>
          <a:ln/>
        </p:spPr>
        <p:txBody>
          <a:bodyPr wrap="square" lIns="0" tIns="0" rIns="0" bIns="0" rtlCol="0" anchor="ctr"/>
          <a:lstStyle/>
          <a:p>
            <a:pPr indent="0" marL="0">
              <a:buNone/>
            </a:pPr>
            <a:r>
              <a:rPr lang="en-US" sz="1100" dirty="0">
                <a:solidFill>
                  <a:srgbClr val="1E3A5F"/>
                </a:solidFill>
                <a:latin typeface="Microsoft YaHei" pitchFamily="34" charset="0"/>
                <a:ea typeface="Microsoft YaHei" pitchFamily="34" charset="-122"/>
                <a:cs typeface="Microsoft YaHei" pitchFamily="34" charset="-120"/>
              </a:rPr>
              <a:t>核心差异：控制与决策 = 结构化四要素 + 禁止第一人称；TR-E = 单段非结构化 + Highlights + 双盲匿名。共同点：都必须有明确定量结果和逻辑递进。</a:t>
            </a:r>
            <a:endParaRPr lang="en-US" sz="1100" dirty="0"/>
          </a:p>
        </p:txBody>
      </p:sp>
      <p:sp>
        <p:nvSpPr>
          <p:cNvPr id="8"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endParaRPr lang="en-US" sz="2800" dirty="0"/>
          </a:p>
        </p:txBody>
      </p:sp>
      <p:sp>
        <p:nvSpPr>
          <p:cNvPr id="4" name="Shape 2"/>
          <p:cNvSpPr/>
          <p:nvPr/>
        </p:nvSpPr>
        <p:spPr>
          <a:xfrm>
            <a:off x="731520" y="868680"/>
            <a:ext cx="1463040" cy="27432"/>
          </a:xfrm>
          <a:prstGeom prst="rect">
            <a:avLst/>
          </a:prstGeom>
          <a:solidFill>
            <a:srgbClr val="0D9488"/>
          </a:solidFill>
          <a:ln/>
        </p:spPr>
      </p:sp>
      <p:sp>
        <p:nvSpPr>
          <p:cNvPr id="5" name="Shape 3"/>
          <p:cNvSpPr/>
          <p:nvPr/>
        </p:nvSpPr>
        <p:spPr>
          <a:xfrm>
            <a:off x="457200" y="274320"/>
            <a:ext cx="8229600" cy="731520"/>
          </a:xfrm>
          <a:prstGeom prst="rect">
            <a:avLst>
              <a:gd name="adj" fmla="val 7500"/>
            </a:avLst>
          </a:prstGeom>
          <a:solidFill>
            <a:srgbClr val="1A3C6D"/>
          </a:solidFill>
          <a:ln/>
        </p:spPr>
      </p:sp>
      <p:sp>
        <p:nvSpPr>
          <p:cNvPr id="6" name="Text 4"/>
          <p:cNvSpPr/>
          <p:nvPr/>
        </p:nvSpPr>
        <p:spPr>
          <a:xfrm>
            <a:off x="640080" y="292608"/>
            <a:ext cx="7863840" cy="320040"/>
          </a:xfrm>
          <a:prstGeom prst="rect">
            <a:avLst/>
          </a:prstGeom>
          <a:noFill/>
          <a:ln/>
        </p:spPr>
        <p:txBody>
          <a:bodyPr wrap="square" lIns="0" tIns="0" rIns="0" bIns="0" rtlCol="0" anchor="ctr"/>
          <a:lstStyle/>
          <a:p>
            <a:pPr indent="0" marL="0">
              <a:buNone/>
            </a:pPr>
            <a:r>
              <a:rPr lang="en-US" sz="1200" dirty="0">
                <a:solidFill>
                  <a:srgbClr val="B0C4DE"/>
                </a:solidFill>
                <a:latin typeface="Arial" pitchFamily="34" charset="0"/>
                <a:ea typeface="Arial" pitchFamily="34" charset="-122"/>
                <a:cs typeface="Arial" pitchFamily="34" charset="-120"/>
              </a:rPr>
              <a:t>《控制与决策》  2026年  第41卷  第5期  pp.1338-1347</a:t>
            </a:r>
            <a:endParaRPr lang="en-US" sz="1200" dirty="0"/>
          </a:p>
        </p:txBody>
      </p:sp>
      <p:sp>
        <p:nvSpPr>
          <p:cNvPr id="7" name="Text 5"/>
          <p:cNvSpPr/>
          <p:nvPr/>
        </p:nvSpPr>
        <p:spPr>
          <a:xfrm>
            <a:off x="640080" y="566928"/>
            <a:ext cx="7863840" cy="320040"/>
          </a:xfrm>
          <a:prstGeom prst="rect">
            <a:avLst/>
          </a:prstGeom>
          <a:noFill/>
          <a:ln/>
        </p:spPr>
        <p:txBody>
          <a:bodyPr wrap="square" lIns="0" tIns="0" rIns="0" bIns="0" rtlCol="0" anchor="ctr"/>
          <a:lstStyle/>
          <a:p>
            <a:pPr indent="0" marL="0">
              <a:buNone/>
            </a:pPr>
            <a:r>
              <a:rPr lang="en-US" sz="900" dirty="0">
                <a:solidFill>
                  <a:srgbClr val="8899AA"/>
                </a:solidFill>
                <a:latin typeface="Arial" pitchFamily="34" charset="0"/>
                <a:ea typeface="Arial" pitchFamily="34" charset="-122"/>
                <a:cs typeface="Arial" pitchFamily="34" charset="-120"/>
              </a:rPr>
              <a:t>Control and Decision  ·  Northeast University  ·  EI Compendex Indexed</a:t>
            </a:r>
            <a:endParaRPr lang="en-US" sz="900" dirty="0"/>
          </a:p>
        </p:txBody>
      </p:sp>
      <p:sp>
        <p:nvSpPr>
          <p:cNvPr id="8" name="Text 6"/>
          <p:cNvSpPr/>
          <p:nvPr/>
        </p:nvSpPr>
        <p:spPr>
          <a:xfrm>
            <a:off x="640080" y="1143000"/>
            <a:ext cx="7863840" cy="411480"/>
          </a:xfrm>
          <a:prstGeom prst="rect">
            <a:avLst/>
          </a:prstGeom>
          <a:noFill/>
          <a:ln/>
        </p:spPr>
        <p:txBody>
          <a:bodyPr wrap="square" lIns="0" tIns="0" rIns="0" bIns="0" rtlCol="0" anchor="ctr"/>
          <a:lstStyle/>
          <a:p>
            <a:pPr algn="ctr" indent="0" marL="0">
              <a:buNone/>
            </a:pPr>
            <a:r>
              <a:rPr lang="en-US" sz="1800" b="1" dirty="0">
                <a:solidFill>
                  <a:srgbClr val="1A1A1A"/>
                </a:solidFill>
                <a:latin typeface="Microsoft YaHei" pitchFamily="34" charset="0"/>
                <a:ea typeface="Microsoft YaHei" pitchFamily="34" charset="-122"/>
                <a:cs typeface="Microsoft YaHei" pitchFamily="34" charset="-120"/>
              </a:rPr>
              <a:t>低碳视角下油电混合车队配送路径优化研究</a:t>
            </a:r>
            <a:endParaRPr lang="en-US" sz="1800" dirty="0"/>
          </a:p>
        </p:txBody>
      </p:sp>
      <p:sp>
        <p:nvSpPr>
          <p:cNvPr id="9" name="Text 7"/>
          <p:cNvSpPr/>
          <p:nvPr/>
        </p:nvSpPr>
        <p:spPr>
          <a:xfrm>
            <a:off x="640080" y="1554480"/>
            <a:ext cx="7863840" cy="274320"/>
          </a:xfrm>
          <a:prstGeom prst="rect">
            <a:avLst/>
          </a:prstGeom>
          <a:noFill/>
          <a:ln/>
        </p:spPr>
        <p:txBody>
          <a:bodyPr wrap="square" lIns="0" tIns="0" rIns="0" bIns="0" rtlCol="0" anchor="ctr"/>
          <a:lstStyle/>
          <a:p>
            <a:pPr algn="ctr" indent="0" marL="0">
              <a:buNone/>
            </a:pPr>
            <a:r>
              <a:rPr lang="en-US" sz="1200" dirty="0">
                <a:solidFill>
                  <a:srgbClr val="333333"/>
                </a:solidFill>
                <a:latin typeface="Microsoft YaHei" pitchFamily="34" charset="0"/>
                <a:ea typeface="Microsoft YaHei" pitchFamily="34" charset="-122"/>
                <a:cs typeface="Microsoft YaHei" pitchFamily="34" charset="-120"/>
              </a:rPr>
              <a:t>巩亮，郑世龙，许得杰，耿慧琳，周健，惠昌武</a:t>
            </a:r>
            <a:endParaRPr lang="en-US" sz="1200" dirty="0"/>
          </a:p>
        </p:txBody>
      </p:sp>
      <p:sp>
        <p:nvSpPr>
          <p:cNvPr id="10" name="Text 8"/>
          <p:cNvSpPr/>
          <p:nvPr/>
        </p:nvSpPr>
        <p:spPr>
          <a:xfrm>
            <a:off x="640080" y="1783080"/>
            <a:ext cx="7863840" cy="228600"/>
          </a:xfrm>
          <a:prstGeom prst="rect">
            <a:avLst/>
          </a:prstGeom>
          <a:noFill/>
          <a:ln/>
        </p:spPr>
        <p:txBody>
          <a:bodyPr wrap="square" lIns="0" tIns="0" rIns="0" bIns="0" rtlCol="0" anchor="ctr"/>
          <a:lstStyle/>
          <a:p>
            <a:pPr algn="ctr" indent="0" marL="0">
              <a:buNone/>
            </a:pPr>
            <a:r>
              <a:rPr lang="en-US" sz="1000" dirty="0">
                <a:solidFill>
                  <a:srgbClr val="666666"/>
                </a:solidFill>
                <a:latin typeface="Microsoft YaHei" pitchFamily="34" charset="0"/>
                <a:ea typeface="Microsoft YaHei" pitchFamily="34" charset="-122"/>
                <a:cs typeface="Microsoft YaHei" pitchFamily="34" charset="-120"/>
              </a:rPr>
              <a:t>（兰州交通大学 交通运输学院）</a:t>
            </a:r>
            <a:endParaRPr lang="en-US" sz="1000" dirty="0"/>
          </a:p>
        </p:txBody>
      </p:sp>
      <p:sp>
        <p:nvSpPr>
          <p:cNvPr id="11" name="Shape 9"/>
          <p:cNvSpPr/>
          <p:nvPr/>
        </p:nvSpPr>
        <p:spPr>
          <a:xfrm>
            <a:off x="457200" y="2148840"/>
            <a:ext cx="8229600" cy="54864"/>
          </a:xfrm>
          <a:prstGeom prst="rect">
            <a:avLst/>
          </a:prstGeom>
          <a:solidFill>
            <a:srgbClr val="0D9488"/>
          </a:solidFill>
          <a:ln/>
        </p:spPr>
      </p:sp>
      <p:sp>
        <p:nvSpPr>
          <p:cNvPr id="12" name="Text 10"/>
          <p:cNvSpPr/>
          <p:nvPr/>
        </p:nvSpPr>
        <p:spPr>
          <a:xfrm>
            <a:off x="640080" y="2267712"/>
            <a:ext cx="914400" cy="320040"/>
          </a:xfrm>
          <a:prstGeom prst="rect">
            <a:avLst/>
          </a:prstGeom>
          <a:noFill/>
          <a:ln/>
        </p:spPr>
        <p:txBody>
          <a:bodyPr wrap="square" lIns="0" tIns="0" rIns="0" bIns="0" rtlCol="0" anchor="ctr"/>
          <a:lstStyle/>
          <a:p>
            <a:pPr indent="0" marL="0">
              <a:buNone/>
            </a:pPr>
            <a:r>
              <a:rPr lang="en-US" sz="1200" b="1" dirty="0">
                <a:solidFill>
                  <a:srgbClr val="1A3C6D"/>
                </a:solidFill>
                <a:latin typeface="Microsoft YaHei" pitchFamily="34" charset="0"/>
                <a:ea typeface="Microsoft YaHei" pitchFamily="34" charset="-122"/>
                <a:cs typeface="Microsoft YaHei" pitchFamily="34" charset="-120"/>
              </a:rPr>
              <a:t>摘  要</a:t>
            </a:r>
            <a:endParaRPr lang="en-US" sz="1200" dirty="0"/>
          </a:p>
        </p:txBody>
      </p:sp>
      <p:sp>
        <p:nvSpPr>
          <p:cNvPr id="13" name="Text 11"/>
          <p:cNvSpPr/>
          <p:nvPr/>
        </p:nvSpPr>
        <p:spPr>
          <a:xfrm>
            <a:off x="640080" y="2578608"/>
            <a:ext cx="7863840" cy="1828800"/>
          </a:xfrm>
          <a:prstGeom prst="rect">
            <a:avLst/>
          </a:prstGeom>
          <a:noFill/>
          <a:ln/>
        </p:spPr>
        <p:txBody>
          <a:bodyPr wrap="square" lIns="0" tIns="0" rIns="0" bIns="0" rtlCol="0" anchor="t"/>
          <a:lstStyle/>
          <a:p>
            <a:pPr indent="0" marL="0">
              <a:buNone/>
            </a:pPr>
            <a:r>
              <a:rPr lang="en-US" sz="950" b="1" dirty="0">
                <a:solidFill>
                  <a:srgbClr val="DC2626"/>
                </a:solidFill>
                <a:latin typeface="Microsoft YaHei" pitchFamily="34" charset="0"/>
                <a:ea typeface="Microsoft YaHei" pitchFamily="34" charset="-122"/>
                <a:cs typeface="Microsoft YaHei" pitchFamily="34" charset="-120"/>
              </a:rPr>
              <a:t>【目的】</a:t>
            </a:r>
            <a:pPr indent="0" marL="0">
              <a:buNone/>
            </a:pPr>
            <a:r>
              <a:rPr lang="en-US" sz="950" dirty="0">
                <a:solidFill>
                  <a:srgbClr val="333333"/>
                </a:solidFill>
                <a:latin typeface="Microsoft YaHei" pitchFamily="34" charset="0"/>
                <a:ea typeface="Microsoft YaHei" pitchFamily="34" charset="-122"/>
                <a:cs typeface="Microsoft YaHei" pitchFamily="34" charset="-120"/>
              </a:rPr>
              <a:t>针对道路行驶速度随时间变化且软时间窗条件下的同时配集车辆路径优化问题, 以配送总成本最小化与客户满意度最大化为目标, 考虑车辆载重等约束条件, 构建时变交通下油车-电车混合车队货物配送路径优化模型.</a:t>
            </a:r>
            <a:pPr indent="0" marL="0">
              <a:buNone/>
            </a:pPr>
            <a:r>
              <a:rPr lang="en-US" sz="950" b="1" dirty="0">
                <a:solidFill>
                  <a:srgbClr val="1E3A5F"/>
                </a:solidFill>
                <a:latin typeface="Microsoft YaHei" pitchFamily="34" charset="0"/>
                <a:ea typeface="Microsoft YaHei" pitchFamily="34" charset="-122"/>
                <a:cs typeface="Microsoft YaHei" pitchFamily="34" charset="-120"/>
              </a:rPr>
              <a:t>【方法】</a:t>
            </a:r>
            <a:endParaRPr lang="en-US" sz="950" dirty="0"/>
          </a:p>
          <a:p>
            <a:pPr indent="0" marL="0">
              <a:buNone/>
            </a:pPr>
            <a:r>
              <a:rPr lang="en-US" sz="950" dirty="0">
                <a:solidFill>
                  <a:srgbClr val="333333"/>
                </a:solidFill>
                <a:latin typeface="Microsoft YaHei" pitchFamily="34" charset="0"/>
                <a:ea typeface="Microsoft YaHei" pitchFamily="34" charset="-122"/>
                <a:cs typeface="Microsoft YaHei" pitchFamily="34" charset="-120"/>
              </a:rPr>
              <a:t>根据模型特点设计考虑时空距离、基于Pareto非支配排序的多目标混合启发式算法, 将遗传算法与变邻域搜索算法结合, 增强算法的局部搜索能力.</a:t>
            </a:r>
            <a:pPr indent="0" marL="0">
              <a:buNone/>
            </a:pPr>
            <a:r>
              <a:rPr lang="en-US" sz="950" b="1" dirty="0">
                <a:solidFill>
                  <a:srgbClr val="059669"/>
                </a:solidFill>
                <a:latin typeface="Microsoft YaHei" pitchFamily="34" charset="0"/>
                <a:ea typeface="Microsoft YaHei" pitchFamily="34" charset="-122"/>
                <a:cs typeface="Microsoft YaHei" pitchFamily="34" charset="-120"/>
              </a:rPr>
              <a:t>【结果】</a:t>
            </a:r>
            <a:endParaRPr lang="en-US" sz="950" dirty="0"/>
          </a:p>
          <a:p>
            <a:pPr indent="0" marL="0">
              <a:buNone/>
            </a:pPr>
            <a:r>
              <a:rPr lang="en-US" sz="950" dirty="0">
                <a:solidFill>
                  <a:srgbClr val="333333"/>
                </a:solidFill>
                <a:latin typeface="Microsoft YaHei" pitchFamily="34" charset="0"/>
                <a:ea typeface="Microsoft YaHei" pitchFamily="34" charset="-122"/>
                <a:cs typeface="Microsoft YaHei" pitchFamily="34" charset="-120"/>
              </a:rPr>
              <a:t>以Solomon中C101类部分客户为例进行算例分析. 研究结果表明: 与多目标协同优化遗传算法等相比, 所提出算法将总成本降低至7,008.47元, 降幅分别为4.59%、5.46%、6.80%、10.77%和8.41%, 客户满意度提升至0.841.</a:t>
            </a:r>
            <a:pPr indent="0" marL="0">
              <a:buNone/>
            </a:pPr>
            <a:r>
              <a:rPr lang="en-US" sz="950" b="1" dirty="0">
                <a:solidFill>
                  <a:srgbClr val="7C3AED"/>
                </a:solidFill>
                <a:latin typeface="Microsoft YaHei" pitchFamily="34" charset="0"/>
                <a:ea typeface="Microsoft YaHei" pitchFamily="34" charset="-122"/>
                <a:cs typeface="Microsoft YaHei" pitchFamily="34" charset="-120"/>
              </a:rPr>
              <a:t>【结论】</a:t>
            </a:r>
            <a:endParaRPr lang="en-US" sz="950" dirty="0"/>
          </a:p>
          <a:p>
            <a:pPr indent="0" marL="0">
              <a:buNone/>
            </a:pPr>
            <a:r>
              <a:rPr lang="en-US" sz="950" dirty="0">
                <a:solidFill>
                  <a:srgbClr val="333333"/>
                </a:solidFill>
                <a:latin typeface="Microsoft YaHei" pitchFamily="34" charset="0"/>
                <a:ea typeface="Microsoft YaHei" pitchFamily="34" charset="-122"/>
                <a:cs typeface="Microsoft YaHei" pitchFamily="34" charset="-120"/>
              </a:rPr>
              <a:t>所构建的模型和所提出的算法能合理调配不同类型的车辆, 科学规划车辆路径, 降低物流配送总成本, 减少车辆碳排放, 提高企业经济效益.</a:t>
            </a:r>
            <a:endParaRPr lang="en-US" sz="950" dirty="0"/>
          </a:p>
        </p:txBody>
      </p:sp>
      <p:sp>
        <p:nvSpPr>
          <p:cNvPr id="14" name="Text 12"/>
          <p:cNvSpPr/>
          <p:nvPr/>
        </p:nvSpPr>
        <p:spPr>
          <a:xfrm>
            <a:off x="640080" y="4434840"/>
            <a:ext cx="7863840" cy="274320"/>
          </a:xfrm>
          <a:prstGeom prst="rect">
            <a:avLst/>
          </a:prstGeom>
          <a:noFill/>
          <a:ln/>
        </p:spPr>
        <p:txBody>
          <a:bodyPr wrap="square" lIns="0" tIns="0" rIns="0" bIns="0" rtlCol="0" anchor="ctr"/>
          <a:lstStyle/>
          <a:p>
            <a:pPr indent="0" marL="0">
              <a:buNone/>
            </a:pPr>
            <a:r>
              <a:rPr lang="en-US" sz="950" dirty="0">
                <a:solidFill>
                  <a:srgbClr val="555555"/>
                </a:solidFill>
                <a:latin typeface="Microsoft YaHei" pitchFamily="34" charset="0"/>
                <a:ea typeface="Microsoft YaHei" pitchFamily="34" charset="-122"/>
                <a:cs typeface="Microsoft YaHei" pitchFamily="34" charset="-120"/>
              </a:rPr>
              <a:t>关键词：城市交通; 路径优化; 时变交通; 混合车队; 混合启发式算法; 多目标优化</a:t>
            </a:r>
            <a:endParaRPr lang="en-US" sz="950" dirty="0"/>
          </a:p>
        </p:txBody>
      </p:sp>
      <p:sp>
        <p:nvSpPr>
          <p:cNvPr id="15" name="Shape 13"/>
          <p:cNvSpPr/>
          <p:nvPr/>
        </p:nvSpPr>
        <p:spPr>
          <a:xfrm>
            <a:off x="457200" y="4754880"/>
            <a:ext cx="8229600" cy="320040"/>
          </a:xfrm>
          <a:prstGeom prst="rect">
            <a:avLst>
              <a:gd name="adj" fmla="val 11429"/>
            </a:avLst>
          </a:prstGeom>
          <a:solidFill>
            <a:srgbClr val="FFF3CD"/>
          </a:solidFill>
          <a:ln/>
        </p:spPr>
      </p:sp>
      <p:sp>
        <p:nvSpPr>
          <p:cNvPr id="16" name="Text 14"/>
          <p:cNvSpPr/>
          <p:nvPr/>
        </p:nvSpPr>
        <p:spPr>
          <a:xfrm>
            <a:off x="640080" y="4754880"/>
            <a:ext cx="7863840" cy="320040"/>
          </a:xfrm>
          <a:prstGeom prst="rect">
            <a:avLst/>
          </a:prstGeom>
          <a:noFill/>
          <a:ln/>
        </p:spPr>
        <p:txBody>
          <a:bodyPr wrap="square" lIns="0" tIns="0" rIns="0" bIns="0" rtlCol="0" anchor="ctr"/>
          <a:lstStyle/>
          <a:p>
            <a:pPr indent="0" marL="0">
              <a:buNone/>
            </a:pPr>
            <a:r>
              <a:rPr lang="en-US" sz="900" dirty="0">
                <a:solidFill>
                  <a:srgbClr val="856404"/>
                </a:solidFill>
                <a:latin typeface="Microsoft YaHei" pitchFamily="34" charset="0"/>
                <a:ea typeface="Microsoft YaHei" pitchFamily="34" charset="-122"/>
                <a:cs typeface="Microsoft YaHei" pitchFamily="34" charset="-120"/>
              </a:rPr>
              <a:t>✓ 写作亮点：四要素完整（目的→方法→结果→结论） ✓ 定量数据丰富（5组对比降幅） ✓ 结论有意义收敛 ✓ 无第一人称</a:t>
            </a:r>
            <a:endParaRPr lang="en-US" sz="900" dirty="0"/>
          </a:p>
        </p:txBody>
      </p:sp>
      <p:sp>
        <p:nvSpPr>
          <p:cNvPr id="1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案例一分析：摘要结构拆解与LE-DEGN对照</a:t>
            </a:r>
            <a:endParaRPr lang="en-US" sz="2800" dirty="0"/>
          </a:p>
        </p:txBody>
      </p:sp>
      <p:sp>
        <p:nvSpPr>
          <p:cNvPr id="4" name="Shape 2"/>
          <p:cNvSpPr/>
          <p:nvPr/>
        </p:nvSpPr>
        <p:spPr>
          <a:xfrm>
            <a:off x="731520" y="868680"/>
            <a:ext cx="1463040" cy="27432"/>
          </a:xfrm>
          <a:prstGeom prst="rect">
            <a:avLst/>
          </a:prstGeom>
          <a:solidFill>
            <a:srgbClr val="0D9488"/>
          </a:solidFill>
          <a:ln/>
        </p:spPr>
      </p:sp>
      <p:sp>
        <p:nvSpPr>
          <p:cNvPr id="5" name="Shape 3"/>
          <p:cNvSpPr/>
          <p:nvPr/>
        </p:nvSpPr>
        <p:spPr>
          <a:xfrm>
            <a:off x="457200" y="1097280"/>
            <a:ext cx="2560320" cy="2011680"/>
          </a:xfrm>
          <a:prstGeom prst="rect">
            <a:avLst>
              <a:gd name="adj" fmla="val 3636"/>
            </a:avLst>
          </a:prstGeom>
          <a:solidFill>
            <a:srgbClr val="F8FAFC"/>
          </a:solidFill>
          <a:ln/>
        </p:spPr>
      </p:sp>
      <p:sp>
        <p:nvSpPr>
          <p:cNvPr id="6" name="Shape 4"/>
          <p:cNvSpPr/>
          <p:nvPr/>
        </p:nvSpPr>
        <p:spPr>
          <a:xfrm>
            <a:off x="457200" y="1097280"/>
            <a:ext cx="2560320" cy="45720"/>
          </a:xfrm>
          <a:prstGeom prst="rect">
            <a:avLst/>
          </a:prstGeom>
          <a:solidFill>
            <a:srgbClr val="DC2626"/>
          </a:solidFill>
          <a:ln/>
        </p:spPr>
      </p:sp>
      <p:sp>
        <p:nvSpPr>
          <p:cNvPr id="7" name="Text 5"/>
          <p:cNvSpPr/>
          <p:nvPr/>
        </p:nvSpPr>
        <p:spPr>
          <a:xfrm>
            <a:off x="640080" y="1234440"/>
            <a:ext cx="219456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目的段（红）</a:t>
            </a:r>
            <a:endParaRPr lang="en-US" sz="1500" dirty="0"/>
          </a:p>
        </p:txBody>
      </p:sp>
      <p:sp>
        <p:nvSpPr>
          <p:cNvPr id="8" name="Text 6"/>
          <p:cNvSpPr/>
          <p:nvPr/>
        </p:nvSpPr>
        <p:spPr>
          <a:xfrm>
            <a:off x="640080" y="1600200"/>
            <a:ext cx="2194560" cy="137160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问题：时变交通 + 软时间窗</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目标：配送成本最小 + 满意度最大</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约束：车辆载重等</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一句话锚定具体场景和问题</a:t>
            </a:r>
            <a:endParaRPr lang="en-US" sz="1100" dirty="0"/>
          </a:p>
        </p:txBody>
      </p:sp>
      <p:sp>
        <p:nvSpPr>
          <p:cNvPr id="9" name="Shape 7"/>
          <p:cNvSpPr/>
          <p:nvPr/>
        </p:nvSpPr>
        <p:spPr>
          <a:xfrm>
            <a:off x="3200400" y="1097280"/>
            <a:ext cx="2560320" cy="2011680"/>
          </a:xfrm>
          <a:prstGeom prst="rect">
            <a:avLst>
              <a:gd name="adj" fmla="val 3636"/>
            </a:avLst>
          </a:prstGeom>
          <a:solidFill>
            <a:srgbClr val="F8FAFC"/>
          </a:solidFill>
          <a:ln/>
        </p:spPr>
      </p:sp>
      <p:sp>
        <p:nvSpPr>
          <p:cNvPr id="10" name="Shape 8"/>
          <p:cNvSpPr/>
          <p:nvPr/>
        </p:nvSpPr>
        <p:spPr>
          <a:xfrm>
            <a:off x="3200400" y="1097280"/>
            <a:ext cx="2560320" cy="45720"/>
          </a:xfrm>
          <a:prstGeom prst="rect">
            <a:avLst/>
          </a:prstGeom>
          <a:solidFill>
            <a:srgbClr val="1E3A5F"/>
          </a:solidFill>
          <a:ln/>
        </p:spPr>
      </p:sp>
      <p:sp>
        <p:nvSpPr>
          <p:cNvPr id="11" name="Text 9"/>
          <p:cNvSpPr/>
          <p:nvPr/>
        </p:nvSpPr>
        <p:spPr>
          <a:xfrm>
            <a:off x="3383280" y="1234440"/>
            <a:ext cx="219456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方法段（蓝）</a:t>
            </a:r>
            <a:endParaRPr lang="en-US" sz="1500" dirty="0"/>
          </a:p>
        </p:txBody>
      </p:sp>
      <p:sp>
        <p:nvSpPr>
          <p:cNvPr id="12" name="Text 10"/>
          <p:cNvSpPr/>
          <p:nvPr/>
        </p:nvSpPr>
        <p:spPr>
          <a:xfrm>
            <a:off x="3383280" y="1600200"/>
            <a:ext cx="2194560" cy="137160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模型：时变交通下混合车队优化模型</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算法：Pareto非支配排序混合启发式</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创新：遗传算法 + 变邻域搜索结合</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"根据模型特点设计..." 递进自然</a:t>
            </a:r>
            <a:endParaRPr lang="en-US" sz="1100" dirty="0"/>
          </a:p>
        </p:txBody>
      </p:sp>
      <p:sp>
        <p:nvSpPr>
          <p:cNvPr id="13" name="Shape 11"/>
          <p:cNvSpPr/>
          <p:nvPr/>
        </p:nvSpPr>
        <p:spPr>
          <a:xfrm>
            <a:off x="5943600" y="1097280"/>
            <a:ext cx="2560320" cy="2011680"/>
          </a:xfrm>
          <a:prstGeom prst="rect">
            <a:avLst>
              <a:gd name="adj" fmla="val 3636"/>
            </a:avLst>
          </a:prstGeom>
          <a:solidFill>
            <a:srgbClr val="F8FAFC"/>
          </a:solidFill>
          <a:ln/>
        </p:spPr>
      </p:sp>
      <p:sp>
        <p:nvSpPr>
          <p:cNvPr id="14" name="Shape 12"/>
          <p:cNvSpPr/>
          <p:nvPr/>
        </p:nvSpPr>
        <p:spPr>
          <a:xfrm>
            <a:off x="5943600" y="1097280"/>
            <a:ext cx="2560320" cy="45720"/>
          </a:xfrm>
          <a:prstGeom prst="rect">
            <a:avLst/>
          </a:prstGeom>
          <a:solidFill>
            <a:srgbClr val="059669"/>
          </a:solidFill>
          <a:ln/>
        </p:spPr>
      </p:sp>
      <p:sp>
        <p:nvSpPr>
          <p:cNvPr id="15" name="Text 13"/>
          <p:cNvSpPr/>
          <p:nvPr/>
        </p:nvSpPr>
        <p:spPr>
          <a:xfrm>
            <a:off x="6126480" y="1234440"/>
            <a:ext cx="219456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结果+结论段（绿+紫）</a:t>
            </a:r>
            <a:endParaRPr lang="en-US" sz="1500" dirty="0"/>
          </a:p>
        </p:txBody>
      </p:sp>
      <p:sp>
        <p:nvSpPr>
          <p:cNvPr id="16" name="Text 14"/>
          <p:cNvSpPr/>
          <p:nvPr/>
        </p:nvSpPr>
        <p:spPr>
          <a:xfrm>
            <a:off x="6126480" y="1600200"/>
            <a:ext cx="2194560" cy="137160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结果：成本7008.47元, 降幅4.59~10.77%</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灵敏度：合理参数可节约28%~69%</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结论：能合理调配车辆、降低碳排放</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结果必须先有具体数字，再有解释</a:t>
            </a:r>
            <a:endParaRPr lang="en-US" sz="1100" dirty="0"/>
          </a:p>
        </p:txBody>
      </p:sp>
      <p:sp>
        <p:nvSpPr>
          <p:cNvPr id="17" name="Shape 15"/>
          <p:cNvSpPr/>
          <p:nvPr/>
        </p:nvSpPr>
        <p:spPr>
          <a:xfrm>
            <a:off x="457200" y="3291840"/>
            <a:ext cx="8046720" cy="1554480"/>
          </a:xfrm>
          <a:prstGeom prst="rect">
            <a:avLst>
              <a:gd name="adj" fmla="val 4706"/>
            </a:avLst>
          </a:prstGeom>
          <a:solidFill>
            <a:srgbClr val="F8FAFC"/>
          </a:solidFill>
          <a:ln/>
        </p:spPr>
      </p:sp>
      <p:sp>
        <p:nvSpPr>
          <p:cNvPr id="18" name="Shape 16"/>
          <p:cNvSpPr/>
          <p:nvPr/>
        </p:nvSpPr>
        <p:spPr>
          <a:xfrm>
            <a:off x="457200" y="3291840"/>
            <a:ext cx="8046720" cy="45720"/>
          </a:xfrm>
          <a:prstGeom prst="rect">
            <a:avLst/>
          </a:prstGeom>
          <a:solidFill>
            <a:srgbClr val="0D9488"/>
          </a:solidFill>
          <a:ln/>
        </p:spPr>
      </p:sp>
      <p:sp>
        <p:nvSpPr>
          <p:cNvPr id="19" name="Text 17"/>
          <p:cNvSpPr/>
          <p:nvPr/>
        </p:nvSpPr>
        <p:spPr>
          <a:xfrm>
            <a:off x="640080" y="3429000"/>
            <a:ext cx="768096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LE-DEGN 论文应该如何改写？</a:t>
            </a:r>
            <a:endParaRPr lang="en-US" sz="1500" dirty="0"/>
          </a:p>
        </p:txBody>
      </p:sp>
      <p:sp>
        <p:nvSpPr>
          <p:cNvPr id="20" name="Text 18"/>
          <p:cNvSpPr/>
          <p:nvPr/>
        </p:nvSpPr>
        <p:spPr>
          <a:xfrm>
            <a:off x="640080" y="3794760"/>
            <a:ext cx="7680960" cy="91440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原稿："混合单向/双向城市路网的街景车路径优化因动态拥堵...构成重大组合挑战" → 太模糊</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改后："针对混合单向/双向城市路网中街景采集车遍历路径优化面临的动态拥堵与运动学约束挑战" → 场景+问题+困难</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原稿：三模块堆砌，无递进逻辑  ✅ 改后："首先，通过线图转换建立ERFM...然后，设计SA-DGWN...接着，构建LHH..."</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原稿结果数据已有（12.1%、16.3%），但需按"结论→数字→解释"结构重组</a:t>
            </a:r>
            <a:endParaRPr lang="en-US" sz="1100" dirty="0"/>
          </a:p>
        </p:txBody>
      </p:sp>
      <p:sp>
        <p:nvSpPr>
          <p:cNvPr id="21"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endParaRPr lang="en-US" sz="2800" dirty="0"/>
          </a:p>
        </p:txBody>
      </p:sp>
      <p:sp>
        <p:nvSpPr>
          <p:cNvPr id="4" name="Shape 2"/>
          <p:cNvSpPr/>
          <p:nvPr/>
        </p:nvSpPr>
        <p:spPr>
          <a:xfrm>
            <a:off x="731520" y="868680"/>
            <a:ext cx="1463040" cy="27432"/>
          </a:xfrm>
          <a:prstGeom prst="rect">
            <a:avLst/>
          </a:prstGeom>
          <a:solidFill>
            <a:srgbClr val="0D9488"/>
          </a:solidFill>
          <a:ln/>
        </p:spPr>
      </p:sp>
      <p:sp>
        <p:nvSpPr>
          <p:cNvPr id="5" name="Shape 3"/>
          <p:cNvSpPr/>
          <p:nvPr/>
        </p:nvSpPr>
        <p:spPr>
          <a:xfrm>
            <a:off x="457200" y="274320"/>
            <a:ext cx="8229600" cy="731520"/>
          </a:xfrm>
          <a:prstGeom prst="rect">
            <a:avLst>
              <a:gd name="adj" fmla="val 7500"/>
            </a:avLst>
          </a:prstGeom>
          <a:solidFill>
            <a:srgbClr val="1A3C6D"/>
          </a:solidFill>
          <a:ln/>
        </p:spPr>
      </p:sp>
      <p:sp>
        <p:nvSpPr>
          <p:cNvPr id="6" name="Text 4"/>
          <p:cNvSpPr/>
          <p:nvPr/>
        </p:nvSpPr>
        <p:spPr>
          <a:xfrm>
            <a:off x="640080" y="292608"/>
            <a:ext cx="7863840" cy="320040"/>
          </a:xfrm>
          <a:prstGeom prst="rect">
            <a:avLst/>
          </a:prstGeom>
          <a:noFill/>
          <a:ln/>
        </p:spPr>
        <p:txBody>
          <a:bodyPr wrap="square" lIns="0" tIns="0" rIns="0" bIns="0" rtlCol="0" anchor="ctr"/>
          <a:lstStyle/>
          <a:p>
            <a:pPr indent="0" marL="0">
              <a:buNone/>
            </a:pPr>
            <a:r>
              <a:rPr lang="en-US" sz="1200" dirty="0">
                <a:solidFill>
                  <a:srgbClr val="B0C4DE"/>
                </a:solidFill>
                <a:latin typeface="Arial" pitchFamily="34" charset="0"/>
                <a:ea typeface="Arial" pitchFamily="34" charset="-122"/>
                <a:cs typeface="Arial" pitchFamily="34" charset="-120"/>
              </a:rPr>
              <a:t>《控制与决策》  2026年  第41卷  第5期  pp.1219-1228</a:t>
            </a:r>
            <a:endParaRPr lang="en-US" sz="1200" dirty="0"/>
          </a:p>
        </p:txBody>
      </p:sp>
      <p:sp>
        <p:nvSpPr>
          <p:cNvPr id="7" name="Text 5"/>
          <p:cNvSpPr/>
          <p:nvPr/>
        </p:nvSpPr>
        <p:spPr>
          <a:xfrm>
            <a:off x="640080" y="566928"/>
            <a:ext cx="7863840" cy="320040"/>
          </a:xfrm>
          <a:prstGeom prst="rect">
            <a:avLst/>
          </a:prstGeom>
          <a:noFill/>
          <a:ln/>
        </p:spPr>
        <p:txBody>
          <a:bodyPr wrap="square" lIns="0" tIns="0" rIns="0" bIns="0" rtlCol="0" anchor="ctr"/>
          <a:lstStyle/>
          <a:p>
            <a:pPr indent="0" marL="0">
              <a:buNone/>
            </a:pPr>
            <a:r>
              <a:rPr lang="en-US" sz="900" dirty="0">
                <a:solidFill>
                  <a:srgbClr val="8899AA"/>
                </a:solidFill>
                <a:latin typeface="Arial" pitchFamily="34" charset="0"/>
                <a:ea typeface="Arial" pitchFamily="34" charset="-122"/>
                <a:cs typeface="Arial" pitchFamily="34" charset="-120"/>
              </a:rPr>
              <a:t>Control and Decision  ·  EI Compendex  ·  DOI: 10.13195/j.kzyjc.2025.0857</a:t>
            </a:r>
            <a:endParaRPr lang="en-US" sz="900" dirty="0"/>
          </a:p>
        </p:txBody>
      </p:sp>
      <p:sp>
        <p:nvSpPr>
          <p:cNvPr id="8" name="Text 6"/>
          <p:cNvSpPr/>
          <p:nvPr/>
        </p:nvSpPr>
        <p:spPr>
          <a:xfrm>
            <a:off x="640080" y="1143000"/>
            <a:ext cx="7863840" cy="548640"/>
          </a:xfrm>
          <a:prstGeom prst="rect">
            <a:avLst/>
          </a:prstGeom>
          <a:noFill/>
          <a:ln/>
        </p:spPr>
        <p:txBody>
          <a:bodyPr wrap="square" lIns="0" tIns="0" rIns="0" bIns="0" rtlCol="0" anchor="ctr"/>
          <a:lstStyle/>
          <a:p>
            <a:pPr algn="ctr" indent="0" marL="0">
              <a:buNone/>
            </a:pPr>
            <a:r>
              <a:rPr lang="en-US" sz="1800" b="1" dirty="0">
                <a:solidFill>
                  <a:srgbClr val="1A1A1A"/>
                </a:solidFill>
                <a:latin typeface="Microsoft YaHei" pitchFamily="34" charset="0"/>
                <a:ea typeface="Microsoft YaHei" pitchFamily="34" charset="-122"/>
                <a:cs typeface="Microsoft YaHei" pitchFamily="34" charset="-120"/>
              </a:rPr>
              <a:t>基于多智能体深度强化学习的轨道车辆组装分布式异构柔性作业调度</a:t>
            </a:r>
            <a:endParaRPr lang="en-US" sz="1800" dirty="0"/>
          </a:p>
        </p:txBody>
      </p:sp>
      <p:sp>
        <p:nvSpPr>
          <p:cNvPr id="9" name="Text 7"/>
          <p:cNvSpPr/>
          <p:nvPr/>
        </p:nvSpPr>
        <p:spPr>
          <a:xfrm>
            <a:off x="640080" y="1691640"/>
            <a:ext cx="7863840" cy="274320"/>
          </a:xfrm>
          <a:prstGeom prst="rect">
            <a:avLst/>
          </a:prstGeom>
          <a:noFill/>
          <a:ln/>
        </p:spPr>
        <p:txBody>
          <a:bodyPr wrap="square" lIns="0" tIns="0" rIns="0" bIns="0" rtlCol="0" anchor="ctr"/>
          <a:lstStyle/>
          <a:p>
            <a:pPr algn="ctr" indent="0" marL="0">
              <a:buNone/>
            </a:pPr>
            <a:r>
              <a:rPr lang="en-US" sz="1200" dirty="0">
                <a:solidFill>
                  <a:srgbClr val="333333"/>
                </a:solidFill>
                <a:latin typeface="Microsoft YaHei" pitchFamily="34" charset="0"/>
                <a:ea typeface="Microsoft YaHei" pitchFamily="34" charset="-122"/>
                <a:cs typeface="Microsoft YaHei" pitchFamily="34" charset="-120"/>
              </a:rPr>
              <a:t>孟祥恒，郭鹏，李嘉雯，史海超，张志瑶，马永敬，孙轶杰</a:t>
            </a:r>
            <a:endParaRPr lang="en-US" sz="1200" dirty="0"/>
          </a:p>
        </p:txBody>
      </p:sp>
      <p:sp>
        <p:nvSpPr>
          <p:cNvPr id="10" name="Text 8"/>
          <p:cNvSpPr/>
          <p:nvPr/>
        </p:nvSpPr>
        <p:spPr>
          <a:xfrm>
            <a:off x="640080" y="1920240"/>
            <a:ext cx="7863840" cy="228600"/>
          </a:xfrm>
          <a:prstGeom prst="rect">
            <a:avLst/>
          </a:prstGeom>
          <a:noFill/>
          <a:ln/>
        </p:spPr>
        <p:txBody>
          <a:bodyPr wrap="square" lIns="0" tIns="0" rIns="0" bIns="0" rtlCol="0" anchor="ctr"/>
          <a:lstStyle/>
          <a:p>
            <a:pPr algn="ctr" indent="0" marL="0">
              <a:buNone/>
            </a:pPr>
            <a:r>
              <a:rPr lang="en-US" sz="1000" dirty="0">
                <a:solidFill>
                  <a:srgbClr val="666666"/>
                </a:solidFill>
                <a:latin typeface="Microsoft YaHei" pitchFamily="34" charset="0"/>
                <a:ea typeface="Microsoft YaHei" pitchFamily="34" charset="-122"/>
                <a:cs typeface="Microsoft YaHei" pitchFamily="34" charset="-120"/>
              </a:rPr>
              <a:t>（西南交通大学 机械工程学院 / 中车青岛四方机车车辆股份有限公司）</a:t>
            </a:r>
            <a:endParaRPr lang="en-US" sz="1000" dirty="0"/>
          </a:p>
        </p:txBody>
      </p:sp>
      <p:sp>
        <p:nvSpPr>
          <p:cNvPr id="11" name="Shape 9"/>
          <p:cNvSpPr/>
          <p:nvPr/>
        </p:nvSpPr>
        <p:spPr>
          <a:xfrm>
            <a:off x="457200" y="2286000"/>
            <a:ext cx="8229600" cy="54864"/>
          </a:xfrm>
          <a:prstGeom prst="rect">
            <a:avLst/>
          </a:prstGeom>
          <a:solidFill>
            <a:srgbClr val="0D9488"/>
          </a:solidFill>
          <a:ln/>
        </p:spPr>
      </p:sp>
      <p:sp>
        <p:nvSpPr>
          <p:cNvPr id="12" name="Text 10"/>
          <p:cNvSpPr/>
          <p:nvPr/>
        </p:nvSpPr>
        <p:spPr>
          <a:xfrm>
            <a:off x="640080" y="2404872"/>
            <a:ext cx="914400" cy="320040"/>
          </a:xfrm>
          <a:prstGeom prst="rect">
            <a:avLst/>
          </a:prstGeom>
          <a:noFill/>
          <a:ln/>
        </p:spPr>
        <p:txBody>
          <a:bodyPr wrap="square" lIns="0" tIns="0" rIns="0" bIns="0" rtlCol="0" anchor="ctr"/>
          <a:lstStyle/>
          <a:p>
            <a:pPr indent="0" marL="0">
              <a:buNone/>
            </a:pPr>
            <a:r>
              <a:rPr lang="en-US" sz="1200" b="1" dirty="0">
                <a:solidFill>
                  <a:srgbClr val="1A3C6D"/>
                </a:solidFill>
                <a:latin typeface="Microsoft YaHei" pitchFamily="34" charset="0"/>
                <a:ea typeface="Microsoft YaHei" pitchFamily="34" charset="-122"/>
                <a:cs typeface="Microsoft YaHei" pitchFamily="34" charset="-120"/>
              </a:rPr>
              <a:t>摘  要</a:t>
            </a:r>
            <a:endParaRPr lang="en-US" sz="1200" dirty="0"/>
          </a:p>
        </p:txBody>
      </p:sp>
      <p:sp>
        <p:nvSpPr>
          <p:cNvPr id="13" name="Text 11"/>
          <p:cNvSpPr/>
          <p:nvPr/>
        </p:nvSpPr>
        <p:spPr>
          <a:xfrm>
            <a:off x="640080" y="2715768"/>
            <a:ext cx="7863840" cy="1828800"/>
          </a:xfrm>
          <a:prstGeom prst="rect">
            <a:avLst/>
          </a:prstGeom>
          <a:noFill/>
          <a:ln/>
        </p:spPr>
        <p:txBody>
          <a:bodyPr wrap="square" lIns="0" tIns="0" rIns="0" bIns="0" rtlCol="0" anchor="t"/>
          <a:lstStyle/>
          <a:p>
            <a:pPr indent="0" marL="0">
              <a:buNone/>
            </a:pPr>
            <a:r>
              <a:rPr lang="en-US" sz="950" b="1" dirty="0">
                <a:solidFill>
                  <a:srgbClr val="DC2626"/>
                </a:solidFill>
                <a:latin typeface="Microsoft YaHei" pitchFamily="34" charset="0"/>
                <a:ea typeface="Microsoft YaHei" pitchFamily="34" charset="-122"/>
                <a:cs typeface="Microsoft YaHei" pitchFamily="34" charset="-120"/>
              </a:rPr>
              <a:t>【目的】</a:t>
            </a:r>
            <a:pPr indent="0" marL="0">
              <a:buNone/>
            </a:pPr>
            <a:r>
              <a:rPr lang="en-US" sz="950" dirty="0">
                <a:solidFill>
                  <a:srgbClr val="333333"/>
                </a:solidFill>
                <a:latin typeface="Microsoft YaHei" pitchFamily="34" charset="0"/>
                <a:ea typeface="Microsoft YaHei" pitchFamily="34" charset="-122"/>
                <a:cs typeface="Microsoft YaHei" pitchFamily="34" charset="-120"/>
              </a:rPr>
              <a:t>针对轨道车辆组装作业中多车型混线生产、工序复杂、工艺路线差异显著及制造资源高度异构带来的分布式异构柔性作业车间调度挑战, 提出一种两阶段多智能体深度强化学习方法.</a:t>
            </a:r>
            <a:pPr indent="0" marL="0">
              <a:buNone/>
            </a:pPr>
            <a:r>
              <a:rPr lang="en-US" sz="950" b="1" dirty="0">
                <a:solidFill>
                  <a:srgbClr val="D97706"/>
                </a:solidFill>
                <a:latin typeface="Microsoft YaHei" pitchFamily="34" charset="0"/>
                <a:ea typeface="Microsoft YaHei" pitchFamily="34" charset="-122"/>
                <a:cs typeface="Microsoft YaHei" pitchFamily="34" charset="-120"/>
              </a:rPr>
              <a:t>【建模】</a:t>
            </a:r>
            <a:endParaRPr lang="en-US" sz="950" dirty="0"/>
          </a:p>
          <a:p>
            <a:pPr indent="0" marL="0">
              <a:buNone/>
            </a:pPr>
            <a:r>
              <a:rPr lang="en-US" sz="950" dirty="0">
                <a:solidFill>
                  <a:srgbClr val="333333"/>
                </a:solidFill>
                <a:latin typeface="Microsoft YaHei" pitchFamily="34" charset="0"/>
                <a:ea typeface="Microsoft YaHei" pitchFamily="34" charset="-122"/>
                <a:cs typeface="Microsoft YaHei" pitchFamily="34" charset="-120"/>
              </a:rPr>
              <a:t>将调度流程建模为多阶段马尔可夫决策过程, 决策涵盖工件分配、工序排序和机器选择, 通过奖励设计引导智能体最小化全局最大完工时间.</a:t>
            </a:r>
            <a:pPr indent="0" marL="0">
              <a:buNone/>
            </a:pPr>
            <a:r>
              <a:rPr lang="en-US" sz="950" b="1" dirty="0">
                <a:solidFill>
                  <a:srgbClr val="1E3A5F"/>
                </a:solidFill>
                <a:latin typeface="Microsoft YaHei" pitchFamily="34" charset="0"/>
                <a:ea typeface="Microsoft YaHei" pitchFamily="34" charset="-122"/>
                <a:cs typeface="Microsoft YaHei" pitchFamily="34" charset="-120"/>
              </a:rPr>
              <a:t>【方法-分层】</a:t>
            </a:r>
            <a:endParaRPr lang="en-US" sz="950" dirty="0"/>
          </a:p>
          <a:p>
            <a:pPr indent="0" marL="0">
              <a:buNone/>
            </a:pPr>
            <a:r>
              <a:rPr lang="en-US" sz="950" dirty="0">
                <a:solidFill>
                  <a:srgbClr val="333333"/>
                </a:solidFill>
                <a:latin typeface="Microsoft YaHei" pitchFamily="34" charset="0"/>
                <a:ea typeface="Microsoft YaHei" pitchFamily="34" charset="-122"/>
                <a:cs typeface="Microsoft YaHei" pitchFamily="34" charset="-120"/>
              </a:rPr>
              <a:t>上层智能体基于分层异构图注意力网络提取产线全局状态, 实现工件在不同组装线或工区间的合理分配与负载均衡；下层智能体采用双智能体协作策略, 利用基于图神经网络的编码器-解码器结构捕捉工序间前后约束及资源占用等依赖关系, 实现局部优化.</a:t>
            </a:r>
            <a:pPr indent="0" marL="0">
              <a:buNone/>
            </a:pPr>
            <a:r>
              <a:rPr lang="en-US" sz="950" b="1" dirty="0">
                <a:solidFill>
                  <a:srgbClr val="059669"/>
                </a:solidFill>
                <a:latin typeface="Microsoft YaHei" pitchFamily="34" charset="0"/>
                <a:ea typeface="Microsoft YaHei" pitchFamily="34" charset="-122"/>
                <a:cs typeface="Microsoft YaHei" pitchFamily="34" charset="-120"/>
              </a:rPr>
              <a:t>【结果+结论】</a:t>
            </a:r>
            <a:endParaRPr lang="en-US" sz="950" dirty="0"/>
          </a:p>
          <a:p>
            <a:pPr indent="0" marL="0">
              <a:buNone/>
            </a:pPr>
            <a:r>
              <a:rPr lang="en-US" sz="950" dirty="0">
                <a:solidFill>
                  <a:srgbClr val="333333"/>
                </a:solidFill>
                <a:latin typeface="Microsoft YaHei" pitchFamily="34" charset="0"/>
                <a:ea typeface="Microsoft YaHei" pitchFamily="34" charset="-122"/>
                <a:cs typeface="Microsoft YaHei" pitchFamily="34" charset="-120"/>
              </a:rPr>
              <a:t>基于实际作业场景数据, 通过计算验证该方法在缩短制造周期方面的有效性, 展现出良好的泛化能力.</a:t>
            </a:r>
            <a:endParaRPr lang="en-US" sz="950" dirty="0"/>
          </a:p>
        </p:txBody>
      </p:sp>
      <p:sp>
        <p:nvSpPr>
          <p:cNvPr id="14" name="Text 12"/>
          <p:cNvSpPr/>
          <p:nvPr/>
        </p:nvSpPr>
        <p:spPr>
          <a:xfrm>
            <a:off x="640080" y="4572000"/>
            <a:ext cx="7863840" cy="274320"/>
          </a:xfrm>
          <a:prstGeom prst="rect">
            <a:avLst/>
          </a:prstGeom>
          <a:noFill/>
          <a:ln/>
        </p:spPr>
        <p:txBody>
          <a:bodyPr wrap="square" lIns="0" tIns="0" rIns="0" bIns="0" rtlCol="0" anchor="ctr"/>
          <a:lstStyle/>
          <a:p>
            <a:pPr indent="0" marL="0">
              <a:buNone/>
            </a:pPr>
            <a:r>
              <a:rPr lang="en-US" sz="950" dirty="0">
                <a:solidFill>
                  <a:srgbClr val="555555"/>
                </a:solidFill>
                <a:latin typeface="Microsoft YaHei" pitchFamily="34" charset="0"/>
                <a:ea typeface="Microsoft YaHei" pitchFamily="34" charset="-122"/>
                <a:cs typeface="Microsoft YaHei" pitchFamily="34" charset="-120"/>
              </a:rPr>
              <a:t>关键词：深度强化学习; 异构资源; 多智能体; 分布式调度; 柔性作业车间; 图神经网络</a:t>
            </a:r>
            <a:endParaRPr lang="en-US" sz="950" dirty="0"/>
          </a:p>
        </p:txBody>
      </p:sp>
      <p:sp>
        <p:nvSpPr>
          <p:cNvPr id="15" name="Shape 13"/>
          <p:cNvSpPr/>
          <p:nvPr/>
        </p:nvSpPr>
        <p:spPr>
          <a:xfrm>
            <a:off x="457200" y="4846320"/>
            <a:ext cx="8229600" cy="274320"/>
          </a:xfrm>
          <a:prstGeom prst="rect">
            <a:avLst>
              <a:gd name="adj" fmla="val 13333"/>
            </a:avLst>
          </a:prstGeom>
          <a:solidFill>
            <a:srgbClr val="FFF3CD"/>
          </a:solidFill>
          <a:ln/>
        </p:spPr>
      </p:sp>
      <p:sp>
        <p:nvSpPr>
          <p:cNvPr id="16" name="Text 14"/>
          <p:cNvSpPr/>
          <p:nvPr/>
        </p:nvSpPr>
        <p:spPr>
          <a:xfrm>
            <a:off x="640080" y="4846320"/>
            <a:ext cx="7863840" cy="274320"/>
          </a:xfrm>
          <a:prstGeom prst="rect">
            <a:avLst/>
          </a:prstGeom>
          <a:noFill/>
          <a:ln/>
        </p:spPr>
        <p:txBody>
          <a:bodyPr wrap="square" lIns="0" tIns="0" rIns="0" bIns="0" rtlCol="0" anchor="ctr"/>
          <a:lstStyle/>
          <a:p>
            <a:pPr indent="0" marL="0">
              <a:buNone/>
            </a:pPr>
            <a:r>
              <a:rPr lang="en-US" sz="900" dirty="0">
                <a:solidFill>
                  <a:srgbClr val="856404"/>
                </a:solidFill>
                <a:latin typeface="Microsoft YaHei" pitchFamily="34" charset="0"/>
                <a:ea typeface="Microsoft YaHei" pitchFamily="34" charset="-122"/>
                <a:cs typeface="Microsoft YaHei" pitchFamily="34" charset="-120"/>
              </a:rPr>
              <a:t>✓ 亮点："上层-下层" 分层描述清晰 ✓ 用MDP形式化建模 ✓ 关键词含"图神经网络"—与LE-DEGN高度相关</a:t>
            </a:r>
            <a:endParaRPr lang="en-US" sz="900" dirty="0"/>
          </a:p>
        </p:txBody>
      </p:sp>
      <p:sp>
        <p:nvSpPr>
          <p:cNvPr id="1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案例二分析：方法与LE-DEGN的对照学习</a:t>
            </a:r>
            <a:endParaRPr lang="en-US" sz="2800" dirty="0"/>
          </a:p>
        </p:txBody>
      </p:sp>
      <p:sp>
        <p:nvSpPr>
          <p:cNvPr id="4" name="Shape 2"/>
          <p:cNvSpPr/>
          <p:nvPr/>
        </p:nvSpPr>
        <p:spPr>
          <a:xfrm>
            <a:off x="731520" y="868680"/>
            <a:ext cx="1463040" cy="27432"/>
          </a:xfrm>
          <a:prstGeom prst="rect">
            <a:avLst/>
          </a:prstGeom>
          <a:solidFill>
            <a:srgbClr val="0D9488"/>
          </a:solidFill>
          <a:ln/>
        </p:spPr>
      </p:sp>
      <p:sp>
        <p:nvSpPr>
          <p:cNvPr id="5" name="Shape 3"/>
          <p:cNvSpPr/>
          <p:nvPr/>
        </p:nvSpPr>
        <p:spPr>
          <a:xfrm>
            <a:off x="457200" y="1097280"/>
            <a:ext cx="4023360" cy="1828800"/>
          </a:xfrm>
          <a:prstGeom prst="rect">
            <a:avLst>
              <a:gd name="adj" fmla="val 4000"/>
            </a:avLst>
          </a:prstGeom>
          <a:solidFill>
            <a:srgbClr val="F8FAFC"/>
          </a:solidFill>
          <a:ln/>
        </p:spPr>
      </p:sp>
      <p:sp>
        <p:nvSpPr>
          <p:cNvPr id="6" name="Shape 4"/>
          <p:cNvSpPr/>
          <p:nvPr/>
        </p:nvSpPr>
        <p:spPr>
          <a:xfrm>
            <a:off x="457200" y="1097280"/>
            <a:ext cx="4023360" cy="45720"/>
          </a:xfrm>
          <a:prstGeom prst="rect">
            <a:avLst/>
          </a:prstGeom>
          <a:solidFill>
            <a:srgbClr val="1E3A5F"/>
          </a:solidFill>
          <a:ln/>
        </p:spPr>
      </p:sp>
      <p:sp>
        <p:nvSpPr>
          <p:cNvPr id="7" name="Text 5"/>
          <p:cNvSpPr/>
          <p:nvPr/>
        </p:nvSpPr>
        <p:spPr>
          <a:xfrm>
            <a:off x="640080" y="1234440"/>
            <a:ext cx="365760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该论文的分层描述方法</a:t>
            </a:r>
            <a:endParaRPr lang="en-US" sz="1500" dirty="0"/>
          </a:p>
        </p:txBody>
      </p:sp>
      <p:sp>
        <p:nvSpPr>
          <p:cNvPr id="8" name="Text 6"/>
          <p:cNvSpPr/>
          <p:nvPr/>
        </p:nvSpPr>
        <p:spPr>
          <a:xfrm>
            <a:off x="640080" y="1600200"/>
            <a:ext cx="3657600" cy="118872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建模层："将调度流程建模为多阶段MDP"</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上层：异构图注意力网络 → 全局状态 + 负载均衡</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下层：双智能体 + GNN编解码器 → 局部优化</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LE-DEGN也可用"线图转换→ERFM全局规划→LHH局部逃逸"描述</a:t>
            </a:r>
            <a:endParaRPr lang="en-US" sz="1100" dirty="0"/>
          </a:p>
        </p:txBody>
      </p:sp>
      <p:sp>
        <p:nvSpPr>
          <p:cNvPr id="9" name="Shape 7"/>
          <p:cNvSpPr/>
          <p:nvPr/>
        </p:nvSpPr>
        <p:spPr>
          <a:xfrm>
            <a:off x="4663440" y="1097280"/>
            <a:ext cx="4023360" cy="1828800"/>
          </a:xfrm>
          <a:prstGeom prst="rect">
            <a:avLst>
              <a:gd name="adj" fmla="val 4000"/>
            </a:avLst>
          </a:prstGeom>
          <a:solidFill>
            <a:srgbClr val="F8FAFC"/>
          </a:solidFill>
          <a:ln/>
        </p:spPr>
      </p:sp>
      <p:sp>
        <p:nvSpPr>
          <p:cNvPr id="10" name="Shape 8"/>
          <p:cNvSpPr/>
          <p:nvPr/>
        </p:nvSpPr>
        <p:spPr>
          <a:xfrm>
            <a:off x="4663440" y="1097280"/>
            <a:ext cx="4023360" cy="45720"/>
          </a:xfrm>
          <a:prstGeom prst="rect">
            <a:avLst/>
          </a:prstGeom>
          <a:solidFill>
            <a:srgbClr val="0D9488"/>
          </a:solidFill>
          <a:ln/>
        </p:spPr>
      </p:sp>
      <p:sp>
        <p:nvSpPr>
          <p:cNvPr id="11" name="Text 9"/>
          <p:cNvSpPr/>
          <p:nvPr/>
        </p:nvSpPr>
        <p:spPr>
          <a:xfrm>
            <a:off x="4846320" y="1234440"/>
            <a:ext cx="365760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LE-DEGN三层对照改写</a:t>
            </a:r>
            <a:endParaRPr lang="en-US" sz="1500" dirty="0"/>
          </a:p>
        </p:txBody>
      </p:sp>
      <p:sp>
        <p:nvSpPr>
          <p:cNvPr id="12" name="Text 10"/>
          <p:cNvSpPr/>
          <p:nvPr/>
        </p:nvSpPr>
        <p:spPr>
          <a:xfrm>
            <a:off x="4846320" y="1600200"/>
            <a:ext cx="3657600" cy="118872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问题建模层："将MCPP路由建模为边上的节点排序问题"</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宏观规划层：ERFM通过惩罚偏置自注意力编码13维边特征</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微观逃逸层：LHH通过GSES循环自适应选择逃逸策略</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先建模、再分层，每层说清输入输出</a:t>
            </a:r>
            <a:endParaRPr lang="en-US" sz="1100" dirty="0"/>
          </a:p>
        </p:txBody>
      </p:sp>
      <p:sp>
        <p:nvSpPr>
          <p:cNvPr id="13" name="Shape 11"/>
          <p:cNvSpPr/>
          <p:nvPr/>
        </p:nvSpPr>
        <p:spPr>
          <a:xfrm>
            <a:off x="457200" y="3200400"/>
            <a:ext cx="8046720" cy="1554480"/>
          </a:xfrm>
          <a:prstGeom prst="rect">
            <a:avLst>
              <a:gd name="adj" fmla="val 4706"/>
            </a:avLst>
          </a:prstGeom>
          <a:solidFill>
            <a:srgbClr val="F8FAFC"/>
          </a:solidFill>
          <a:ln/>
        </p:spPr>
      </p:sp>
      <p:sp>
        <p:nvSpPr>
          <p:cNvPr id="14" name="Shape 12"/>
          <p:cNvSpPr/>
          <p:nvPr/>
        </p:nvSpPr>
        <p:spPr>
          <a:xfrm>
            <a:off x="457200" y="3200400"/>
            <a:ext cx="8046720" cy="45720"/>
          </a:xfrm>
          <a:prstGeom prst="rect">
            <a:avLst/>
          </a:prstGeom>
          <a:solidFill>
            <a:srgbClr val="059669"/>
          </a:solidFill>
          <a:ln/>
        </p:spPr>
      </p:sp>
      <p:sp>
        <p:nvSpPr>
          <p:cNvPr id="15" name="Text 13"/>
          <p:cNvSpPr/>
          <p:nvPr/>
        </p:nvSpPr>
        <p:spPr>
          <a:xfrm>
            <a:off x="640080" y="3337560"/>
            <a:ext cx="768096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写作启示</a:t>
            </a:r>
            <a:endParaRPr lang="en-US" sz="1500" dirty="0"/>
          </a:p>
        </p:txBody>
      </p:sp>
      <p:sp>
        <p:nvSpPr>
          <p:cNvPr id="16" name="Text 14"/>
          <p:cNvSpPr/>
          <p:nvPr/>
        </p:nvSpPr>
        <p:spPr>
          <a:xfrm>
            <a:off x="640080" y="3703320"/>
            <a:ext cx="7680960" cy="91440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"将...建模为...决策过程" → 这种形式化开头非常有力，LE-DEGN应在方法部分开头也用类似句式</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"上层...下层..." → 递进结构让读者立刻理解各模块的职责分工，比平铺直叙好得多</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该论文有"图神经网络"关键词 → 说明控制与决策接受GNN类方法，LE-DEGN的ERFM(Transformer+GNN)完全对口</a:t>
            </a:r>
            <a:endParaRPr lang="en-US" sz="1100" dirty="0"/>
          </a:p>
        </p:txBody>
      </p:sp>
      <p:sp>
        <p:nvSpPr>
          <p:cNvPr id="1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endParaRPr lang="en-US" sz="2800" dirty="0"/>
          </a:p>
        </p:txBody>
      </p:sp>
      <p:sp>
        <p:nvSpPr>
          <p:cNvPr id="4" name="Shape 2"/>
          <p:cNvSpPr/>
          <p:nvPr/>
        </p:nvSpPr>
        <p:spPr>
          <a:xfrm>
            <a:off x="731520" y="868680"/>
            <a:ext cx="1463040" cy="27432"/>
          </a:xfrm>
          <a:prstGeom prst="rect">
            <a:avLst/>
          </a:prstGeom>
          <a:solidFill>
            <a:srgbClr val="0D9488"/>
          </a:solidFill>
          <a:ln/>
        </p:spPr>
      </p:sp>
      <p:sp>
        <p:nvSpPr>
          <p:cNvPr id="5" name="Shape 3"/>
          <p:cNvSpPr/>
          <p:nvPr/>
        </p:nvSpPr>
        <p:spPr>
          <a:xfrm>
            <a:off x="457200" y="274320"/>
            <a:ext cx="8229600" cy="640080"/>
          </a:xfrm>
          <a:prstGeom prst="rect">
            <a:avLst>
              <a:gd name="adj" fmla="val 8571"/>
            </a:avLst>
          </a:prstGeom>
          <a:solidFill>
            <a:srgbClr val="003D4F"/>
          </a:solidFill>
          <a:ln/>
        </p:spPr>
      </p:sp>
      <p:sp>
        <p:nvSpPr>
          <p:cNvPr id="6" name="Text 4"/>
          <p:cNvSpPr/>
          <p:nvPr/>
        </p:nvSpPr>
        <p:spPr>
          <a:xfrm>
            <a:off x="640080" y="292608"/>
            <a:ext cx="7863840" cy="274320"/>
          </a:xfrm>
          <a:prstGeom prst="rect">
            <a:avLst/>
          </a:prstGeom>
          <a:noFill/>
          <a:ln/>
        </p:spPr>
        <p:txBody>
          <a:bodyPr wrap="square" lIns="0" tIns="0" rIns="0" bIns="0" rtlCol="0" anchor="ctr"/>
          <a:lstStyle/>
          <a:p>
            <a:pPr indent="0" marL="0">
              <a:buNone/>
            </a:pPr>
            <a:r>
              <a:rPr lang="en-US" sz="1100" b="1" dirty="0">
                <a:solidFill>
                  <a:srgbClr val="80D4C8"/>
                </a:solidFill>
                <a:latin typeface="Arial" pitchFamily="34" charset="0"/>
                <a:ea typeface="Arial" pitchFamily="34" charset="-122"/>
                <a:cs typeface="Arial" pitchFamily="34" charset="-120"/>
              </a:rPr>
              <a:t>Transportation Research Part E: Logistics and Transportation Review</a:t>
            </a:r>
            <a:endParaRPr lang="en-US" sz="1100" dirty="0"/>
          </a:p>
        </p:txBody>
      </p:sp>
      <p:sp>
        <p:nvSpPr>
          <p:cNvPr id="7" name="Text 5"/>
          <p:cNvSpPr/>
          <p:nvPr/>
        </p:nvSpPr>
        <p:spPr>
          <a:xfrm>
            <a:off x="640080" y="566928"/>
            <a:ext cx="7863840" cy="274320"/>
          </a:xfrm>
          <a:prstGeom prst="rect">
            <a:avLst/>
          </a:prstGeom>
          <a:noFill/>
          <a:ln/>
        </p:spPr>
        <p:txBody>
          <a:bodyPr wrap="square" lIns="0" tIns="0" rIns="0" bIns="0" rtlCol="0" anchor="ctr"/>
          <a:lstStyle/>
          <a:p>
            <a:pPr indent="0" marL="0">
              <a:buNone/>
            </a:pPr>
            <a:r>
              <a:rPr lang="en-US" sz="900" dirty="0">
                <a:solidFill>
                  <a:srgbClr val="80AAA0"/>
                </a:solidFill>
                <a:latin typeface="Arial" pitchFamily="34" charset="0"/>
                <a:ea typeface="Arial" pitchFamily="34" charset="-122"/>
                <a:cs typeface="Arial" pitchFamily="34" charset="-120"/>
              </a:rPr>
              <a:t>Volume 200, 2025  |  SCI Q1 · IF≈10.6  |  Elsevier</a:t>
            </a:r>
            <a:endParaRPr lang="en-US" sz="900" dirty="0"/>
          </a:p>
        </p:txBody>
      </p:sp>
      <p:sp>
        <p:nvSpPr>
          <p:cNvPr id="8" name="Text 6"/>
          <p:cNvSpPr/>
          <p:nvPr/>
        </p:nvSpPr>
        <p:spPr>
          <a:xfrm>
            <a:off x="457200" y="1051560"/>
            <a:ext cx="8229600" cy="640080"/>
          </a:xfrm>
          <a:prstGeom prst="rect">
            <a:avLst/>
          </a:prstGeom>
          <a:noFill/>
          <a:ln/>
        </p:spPr>
        <p:txBody>
          <a:bodyPr wrap="square" lIns="0" tIns="0" rIns="0" bIns="0" rtlCol="0" anchor="ctr"/>
          <a:lstStyle/>
          <a:p>
            <a:pPr algn="ctr" indent="0" marL="0">
              <a:buNone/>
            </a:pPr>
            <a:r>
              <a:rPr lang="en-US" sz="1400" b="1" dirty="0">
                <a:solidFill>
                  <a:srgbClr val="1A1A1A"/>
                </a:solidFill>
                <a:latin typeface="Arial" pitchFamily="34" charset="0"/>
                <a:ea typeface="Arial" pitchFamily="34" charset="-122"/>
                <a:cs typeface="Arial" pitchFamily="34" charset="-120"/>
              </a:rPr>
              <a:t>Collaborative optimization of vehicle formation and timetable for modular autonomous bus considering demand uncertainty based on a data-driven continuous approximate method</a:t>
            </a:r>
            <a:endParaRPr lang="en-US" sz="1400" dirty="0"/>
          </a:p>
        </p:txBody>
      </p:sp>
      <p:sp>
        <p:nvSpPr>
          <p:cNvPr id="9" name="Shape 7"/>
          <p:cNvSpPr/>
          <p:nvPr/>
        </p:nvSpPr>
        <p:spPr>
          <a:xfrm>
            <a:off x="457200" y="1828800"/>
            <a:ext cx="8229600" cy="45720"/>
          </a:xfrm>
          <a:prstGeom prst="rect">
            <a:avLst/>
          </a:prstGeom>
          <a:solidFill>
            <a:srgbClr val="0D9488"/>
          </a:solidFill>
          <a:ln/>
        </p:spPr>
      </p:sp>
      <p:sp>
        <p:nvSpPr>
          <p:cNvPr id="10" name="Text 8"/>
          <p:cNvSpPr/>
          <p:nvPr/>
        </p:nvSpPr>
        <p:spPr>
          <a:xfrm>
            <a:off x="640080" y="1920240"/>
            <a:ext cx="1828800" cy="320040"/>
          </a:xfrm>
          <a:prstGeom prst="rect">
            <a:avLst/>
          </a:prstGeom>
          <a:noFill/>
          <a:ln/>
        </p:spPr>
        <p:txBody>
          <a:bodyPr wrap="square" lIns="0" tIns="0" rIns="0" bIns="0" rtlCol="0" anchor="ctr"/>
          <a:lstStyle/>
          <a:p>
            <a:pPr indent="0" marL="0">
              <a:buNone/>
            </a:pPr>
            <a:r>
              <a:rPr lang="en-US" sz="1100" b="1" dirty="0">
                <a:solidFill>
                  <a:srgbClr val="003D4F"/>
                </a:solidFill>
                <a:latin typeface="Arial" pitchFamily="34" charset="0"/>
                <a:ea typeface="Arial" pitchFamily="34" charset="-122"/>
                <a:cs typeface="Arial" pitchFamily="34" charset="-120"/>
              </a:rPr>
              <a:t>ABSTRACT</a:t>
            </a:r>
            <a:endParaRPr lang="en-US" sz="1100" dirty="0"/>
          </a:p>
        </p:txBody>
      </p:sp>
      <p:sp>
        <p:nvSpPr>
          <p:cNvPr id="11" name="Text 9"/>
          <p:cNvSpPr/>
          <p:nvPr/>
        </p:nvSpPr>
        <p:spPr>
          <a:xfrm>
            <a:off x="640080" y="2240280"/>
            <a:ext cx="7863840" cy="2377440"/>
          </a:xfrm>
          <a:prstGeom prst="rect">
            <a:avLst/>
          </a:prstGeom>
          <a:noFill/>
          <a:ln/>
        </p:spPr>
        <p:txBody>
          <a:bodyPr wrap="square" lIns="0" tIns="0" rIns="0" bIns="0" rtlCol="0" anchor="t"/>
          <a:lstStyle/>
          <a:p>
            <a:pPr indent="0" marL="0">
              <a:buNone/>
            </a:pPr>
            <a:r>
              <a:rPr lang="en-US" sz="900" b="1" dirty="0">
                <a:solidFill>
                  <a:srgbClr val="DC2626"/>
                </a:solidFill>
                <a:latin typeface="Arial" pitchFamily="34" charset="0"/>
                <a:ea typeface="Arial" pitchFamily="34" charset="-122"/>
                <a:cs typeface="Arial" pitchFamily="34" charset="-120"/>
              </a:rPr>
              <a:t>【Problem】</a:t>
            </a:r>
            <a:pPr indent="0" marL="0">
              <a:buNone/>
            </a:pPr>
            <a:r>
              <a:rPr lang="en-US" sz="900" dirty="0">
                <a:solidFill>
                  <a:srgbClr val="333333"/>
                </a:solidFill>
                <a:latin typeface="Arial" pitchFamily="34" charset="0"/>
                <a:ea typeface="Arial" pitchFamily="34" charset="-122"/>
                <a:cs typeface="Arial" pitchFamily="34" charset="-120"/>
              </a:rPr>
              <a:t> The emerging modular autonomous vehicle (MAV) provides new opportunities to address the imbalance between supply and demand in public transportation. The continuous approximation (CA) model can efficiently solve the optimal time-varying headway, but the current CA model for MAV corridors does not consider demand uncertainty, and its vehicle formation method still has limitations.</a:t>
            </a:r>
            <a:pPr indent="0" marL="0">
              <a:buNone/>
            </a:pPr>
            <a:r>
              <a:rPr lang="en-US" sz="900" b="1" dirty="0">
                <a:solidFill>
                  <a:srgbClr val="C05600"/>
                </a:solidFill>
                <a:latin typeface="Arial" pitchFamily="34" charset="0"/>
                <a:ea typeface="Arial" pitchFamily="34" charset="-122"/>
                <a:cs typeface="Arial" pitchFamily="34" charset="-120"/>
              </a:rPr>
              <a:t>【Purpose】</a:t>
            </a:r>
            <a:endParaRPr lang="en-US" sz="900" dirty="0"/>
          </a:p>
          <a:p>
            <a:pPr indent="0" marL="0">
              <a:buNone/>
            </a:pPr>
            <a:r>
              <a:rPr lang="en-US" sz="900" dirty="0">
                <a:solidFill>
                  <a:srgbClr val="333333"/>
                </a:solidFill>
                <a:latin typeface="Arial" pitchFamily="34" charset="0"/>
                <a:ea typeface="Arial" pitchFamily="34" charset="-122"/>
                <a:cs typeface="Arial" pitchFamily="34" charset="-120"/>
              </a:rPr>
              <a:t> To solve these gaps, this paper proposes collaborative optimization of vehicle formation and timetable for modular autonomous bus considering demand uncertainty based on a data-driven continuous approximate method.</a:t>
            </a:r>
            <a:pPr indent="0" marL="0">
              <a:buNone/>
            </a:pPr>
            <a:r>
              <a:rPr lang="en-US" sz="900" b="1" dirty="0">
                <a:solidFill>
                  <a:srgbClr val="1E3A5F"/>
                </a:solidFill>
                <a:latin typeface="Arial" pitchFamily="34" charset="0"/>
                <a:ea typeface="Arial" pitchFamily="34" charset="-122"/>
                <a:cs typeface="Arial" pitchFamily="34" charset="-120"/>
              </a:rPr>
              <a:t>【Method - First...Second...Then...Finally】</a:t>
            </a:r>
            <a:endParaRPr lang="en-US" sz="900" dirty="0"/>
          </a:p>
          <a:p>
            <a:pPr indent="0" marL="0">
              <a:buNone/>
            </a:pPr>
            <a:r>
              <a:rPr lang="en-US" sz="900" dirty="0">
                <a:solidFill>
                  <a:srgbClr val="333333"/>
                </a:solidFill>
                <a:latin typeface="Arial" pitchFamily="34" charset="0"/>
                <a:ea typeface="Arial" pitchFamily="34" charset="-122"/>
                <a:cs typeface="Arial" pitchFamily="34" charset="-120"/>
              </a:rPr>
              <a:t> First, a time-dependent passenger flow disturbance parameter is introduced to capture the uncertainty demand, and the CA model is extended. Second, data-driven stochastic optimization methods (i.e., stochastic programming and distributed robust optimization) are developed. Then, a mixed integer linear programming (MILP) model is developed to obtain the optimal vehicle formation. Finally, two numerical experiments were conducted to verify the effectiveness.</a:t>
            </a:r>
            <a:pPr indent="0" marL="0">
              <a:buNone/>
            </a:pPr>
            <a:r>
              <a:rPr lang="en-US" sz="900" b="1" dirty="0">
                <a:solidFill>
                  <a:srgbClr val="059669"/>
                </a:solidFill>
                <a:latin typeface="Arial" pitchFamily="34" charset="0"/>
                <a:ea typeface="Arial" pitchFamily="34" charset="-122"/>
                <a:cs typeface="Arial" pitchFamily="34" charset="-120"/>
              </a:rPr>
              <a:t>【Results】</a:t>
            </a:r>
            <a:endParaRPr lang="en-US" sz="900" dirty="0"/>
          </a:p>
          <a:p>
            <a:pPr indent="0" marL="0">
              <a:buNone/>
            </a:pPr>
            <a:r>
              <a:rPr lang="en-US" sz="900" dirty="0">
                <a:solidFill>
                  <a:srgbClr val="333333"/>
                </a:solidFill>
                <a:latin typeface="Arial" pitchFamily="34" charset="0"/>
                <a:ea typeface="Arial" pitchFamily="34" charset="-122"/>
                <a:cs typeface="Arial" pitchFamily="34" charset="-120"/>
              </a:rPr>
              <a:t> Results show that: (1) the proposed vehicle formation model achieves up to a 9.8% reduction in average total system cost compared to the benchmark model. (2) the proposed method achieves a reduction of over 90% in both the sample standard deviation and the interquartile range.</a:t>
            </a:r>
            <a:pPr indent="0" marL="0">
              <a:buNone/>
            </a:pPr>
            <a:r>
              <a:rPr lang="en-US" sz="900" b="1" dirty="0">
                <a:solidFill>
                  <a:srgbClr val="7C3AED"/>
                </a:solidFill>
                <a:latin typeface="Arial" pitchFamily="34" charset="0"/>
                <a:ea typeface="Arial" pitchFamily="34" charset="-122"/>
                <a:cs typeface="Arial" pitchFamily="34" charset="-120"/>
              </a:rPr>
              <a:t>【Contribution】</a:t>
            </a:r>
            <a:endParaRPr lang="en-US" sz="900" dirty="0"/>
          </a:p>
          <a:p>
            <a:pPr indent="0" marL="0">
              <a:buNone/>
            </a:pPr>
            <a:r>
              <a:rPr lang="en-US" sz="900" dirty="0">
                <a:solidFill>
                  <a:srgbClr val="333333"/>
                </a:solidFill>
                <a:latin typeface="Arial" pitchFamily="34" charset="0"/>
                <a:ea typeface="Arial" pitchFamily="34" charset="-122"/>
                <a:cs typeface="Arial" pitchFamily="34" charset="-120"/>
              </a:rPr>
              <a:t> In summary, the proposed method can provide theoretical support for modular bus operation and scheduling under passenger flow uncertainty.</a:t>
            </a:r>
            <a:endParaRPr lang="en-US" sz="900" dirty="0"/>
          </a:p>
        </p:txBody>
      </p:sp>
      <p:sp>
        <p:nvSpPr>
          <p:cNvPr id="12" name="Text 10"/>
          <p:cNvSpPr/>
          <p:nvPr/>
        </p:nvSpPr>
        <p:spPr>
          <a:xfrm>
            <a:off x="640080" y="4617720"/>
            <a:ext cx="7863840" cy="228600"/>
          </a:xfrm>
          <a:prstGeom prst="rect">
            <a:avLst/>
          </a:prstGeom>
          <a:noFill/>
          <a:ln/>
        </p:spPr>
        <p:txBody>
          <a:bodyPr wrap="square" lIns="0" tIns="0" rIns="0" bIns="0" rtlCol="0" anchor="ctr"/>
          <a:lstStyle/>
          <a:p>
            <a:pPr indent="0" marL="0">
              <a:buNone/>
            </a:pPr>
            <a:r>
              <a:rPr lang="en-US" sz="850" dirty="0">
                <a:solidFill>
                  <a:srgbClr val="555555"/>
                </a:solidFill>
                <a:latin typeface="Arial" pitchFamily="34" charset="0"/>
                <a:ea typeface="Arial" pitchFamily="34" charset="-122"/>
                <a:cs typeface="Arial" pitchFamily="34" charset="-120"/>
              </a:rPr>
              <a:t>Keywords: Modular autonomous bus; Vehicle formation; Timetable optimization; Continuous approximation; Demand uncertainty; Stochastic programming</a:t>
            </a:r>
            <a:endParaRPr lang="en-US" sz="850" dirty="0"/>
          </a:p>
        </p:txBody>
      </p:sp>
      <p:sp>
        <p:nvSpPr>
          <p:cNvPr id="13" name="Shape 11"/>
          <p:cNvSpPr/>
          <p:nvPr/>
        </p:nvSpPr>
        <p:spPr>
          <a:xfrm>
            <a:off x="457200" y="4846320"/>
            <a:ext cx="8229600" cy="274320"/>
          </a:xfrm>
          <a:prstGeom prst="rect">
            <a:avLst>
              <a:gd name="adj" fmla="val 13333"/>
            </a:avLst>
          </a:prstGeom>
          <a:solidFill>
            <a:srgbClr val="FFF3CD"/>
          </a:solidFill>
          <a:ln/>
        </p:spPr>
      </p:sp>
      <p:sp>
        <p:nvSpPr>
          <p:cNvPr id="14" name="Text 12"/>
          <p:cNvSpPr/>
          <p:nvPr/>
        </p:nvSpPr>
        <p:spPr>
          <a:xfrm>
            <a:off x="640080" y="4846320"/>
            <a:ext cx="7863840" cy="274320"/>
          </a:xfrm>
          <a:prstGeom prst="rect">
            <a:avLst/>
          </a:prstGeom>
          <a:noFill/>
          <a:ln/>
        </p:spPr>
        <p:txBody>
          <a:bodyPr wrap="square" lIns="0" tIns="0" rIns="0" bIns="0" rtlCol="0" anchor="ctr"/>
          <a:lstStyle/>
          <a:p>
            <a:pPr indent="0" marL="0">
              <a:buNone/>
            </a:pPr>
            <a:r>
              <a:rPr lang="en-US" sz="900" dirty="0">
                <a:solidFill>
                  <a:srgbClr val="856404"/>
                </a:solidFill>
                <a:latin typeface="Arial" pitchFamily="34" charset="0"/>
                <a:ea typeface="Arial" pitchFamily="34" charset="-122"/>
                <a:cs typeface="Arial" pitchFamily="34" charset="-120"/>
              </a:rPr>
              <a:t>✓ First-Then-Finally递进 ✓ 9.8%+90%双重化结果 ✓ "provide theoretical support for..." 意义收敛 ✓ 6个精准关键词</a:t>
            </a:r>
            <a:endParaRPr lang="en-US" sz="900" dirty="0"/>
          </a:p>
        </p:txBody>
      </p:sp>
      <p:sp>
        <p:nvSpPr>
          <p:cNvPr id="15"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三篇案例写作规律提炼与LE-DEGN改进方案</a:t>
            </a:r>
            <a:endParaRPr lang="en-US" sz="2800" dirty="0"/>
          </a:p>
        </p:txBody>
      </p:sp>
      <p:sp>
        <p:nvSpPr>
          <p:cNvPr id="4" name="Shape 2"/>
          <p:cNvSpPr/>
          <p:nvPr/>
        </p:nvSpPr>
        <p:spPr>
          <a:xfrm>
            <a:off x="731520" y="868680"/>
            <a:ext cx="1463040" cy="27432"/>
          </a:xfrm>
          <a:prstGeom prst="rect">
            <a:avLst/>
          </a:prstGeom>
          <a:solidFill>
            <a:srgbClr val="0D9488"/>
          </a:solidFill>
          <a:ln/>
        </p:spPr>
      </p:sp>
      <p:sp>
        <p:nvSpPr>
          <p:cNvPr id="5" name="Shape 3"/>
          <p:cNvSpPr/>
          <p:nvPr/>
        </p:nvSpPr>
        <p:spPr>
          <a:xfrm>
            <a:off x="731520" y="1143000"/>
            <a:ext cx="73152" cy="777240"/>
          </a:xfrm>
          <a:prstGeom prst="rect">
            <a:avLst/>
          </a:prstGeom>
          <a:solidFill>
            <a:srgbClr val="DC2626"/>
          </a:solidFill>
          <a:ln/>
        </p:spPr>
      </p:sp>
      <p:sp>
        <p:nvSpPr>
          <p:cNvPr id="6" name="Text 4"/>
          <p:cNvSpPr/>
          <p:nvPr/>
        </p:nvSpPr>
        <p:spPr>
          <a:xfrm>
            <a:off x="1005840" y="1097280"/>
            <a:ext cx="7315200" cy="274320"/>
          </a:xfrm>
          <a:prstGeom prst="rect">
            <a:avLst/>
          </a:prstGeom>
          <a:noFill/>
          <a:ln/>
        </p:spPr>
        <p:txBody>
          <a:bodyPr wrap="square" lIns="0" tIns="0" rIns="0" bIns="0" rtlCol="0" anchor="ctr"/>
          <a:lstStyle/>
          <a:p>
            <a:pPr indent="0" marL="0">
              <a:buNone/>
            </a:pPr>
            <a:r>
              <a:rPr lang="en-US" sz="1400" b="1" dirty="0">
                <a:solidFill>
                  <a:srgbClr val="DC2626"/>
                </a:solidFill>
                <a:latin typeface="Microsoft YaHei" pitchFamily="34" charset="0"/>
                <a:ea typeface="Microsoft YaHei" pitchFamily="34" charset="-122"/>
                <a:cs typeface="Microsoft YaHei" pitchFamily="34" charset="-120"/>
              </a:rPr>
              <a:t>规律1：问题驱动开头</a:t>
            </a:r>
            <a:endParaRPr lang="en-US" sz="1400" dirty="0"/>
          </a:p>
        </p:txBody>
      </p:sp>
      <p:sp>
        <p:nvSpPr>
          <p:cNvPr id="7" name="Text 5"/>
          <p:cNvSpPr/>
          <p:nvPr/>
        </p:nvSpPr>
        <p:spPr>
          <a:xfrm>
            <a:off x="1005840" y="1371600"/>
            <a:ext cx="7132320" cy="594360"/>
          </a:xfrm>
          <a:prstGeom prst="rect">
            <a:avLst/>
          </a:prstGeom>
          <a:noFill/>
          <a:ln/>
        </p:spPr>
        <p:txBody>
          <a:bodyPr wrap="square" lIns="0" tIns="0" rIns="0" bIns="0" rtlCol="0" anchor="ctr"/>
          <a:lstStyle/>
          <a:p>
            <a:pPr indent="0" marL="0">
              <a:buNone/>
            </a:pPr>
            <a:r>
              <a:rPr lang="en-US" sz="1000" dirty="0">
                <a:solidFill>
                  <a:srgbClr val="334155"/>
                </a:solidFill>
                <a:latin typeface="Microsoft YaHei" pitchFamily="34" charset="0"/>
                <a:ea typeface="Microsoft YaHei" pitchFamily="34" charset="-122"/>
                <a:cs typeface="Microsoft YaHei" pitchFamily="34" charset="-120"/>
              </a:rPr>
              <a:t>三篇均以"针对..."/"To address..."/"The emerging..."开头 —— 一句话锚定具体问题。LE-DEGN原文"混合单向/双向...构成重大组合挑战"太泛，应改为"针对混合单向/双向城市路网中街景采集车遍历路径优化面临的动态拥堵与运动学约束挑战"</a:t>
            </a:r>
            <a:endParaRPr lang="en-US" sz="1000" dirty="0"/>
          </a:p>
        </p:txBody>
      </p:sp>
      <p:sp>
        <p:nvSpPr>
          <p:cNvPr id="8" name="Shape 6"/>
          <p:cNvSpPr/>
          <p:nvPr/>
        </p:nvSpPr>
        <p:spPr>
          <a:xfrm>
            <a:off x="731520" y="2103120"/>
            <a:ext cx="73152" cy="777240"/>
          </a:xfrm>
          <a:prstGeom prst="rect">
            <a:avLst/>
          </a:prstGeom>
          <a:solidFill>
            <a:srgbClr val="1E3A5F"/>
          </a:solidFill>
          <a:ln/>
        </p:spPr>
      </p:sp>
      <p:sp>
        <p:nvSpPr>
          <p:cNvPr id="9" name="Text 7"/>
          <p:cNvSpPr/>
          <p:nvPr/>
        </p:nvSpPr>
        <p:spPr>
          <a:xfrm>
            <a:off x="1005840" y="2057400"/>
            <a:ext cx="7315200" cy="274320"/>
          </a:xfrm>
          <a:prstGeom prst="rect">
            <a:avLst/>
          </a:prstGeom>
          <a:noFill/>
          <a:ln/>
        </p:spPr>
        <p:txBody>
          <a:bodyPr wrap="square" lIns="0" tIns="0" rIns="0" bIns="0" rtlCol="0" anchor="ctr"/>
          <a:lstStyle/>
          <a:p>
            <a:pPr indent="0" marL="0">
              <a:buNone/>
            </a:pPr>
            <a:r>
              <a:rPr lang="en-US" sz="1400" b="1" dirty="0">
                <a:solidFill>
                  <a:srgbClr val="1E3A5F"/>
                </a:solidFill>
                <a:latin typeface="Microsoft YaHei" pitchFamily="34" charset="0"/>
                <a:ea typeface="Microsoft YaHei" pitchFamily="34" charset="-122"/>
                <a:cs typeface="Microsoft YaHei" pitchFamily="34" charset="-120"/>
              </a:rPr>
              <a:t>规律2：方法层次递进</a:t>
            </a:r>
            <a:endParaRPr lang="en-US" sz="1400" dirty="0"/>
          </a:p>
        </p:txBody>
      </p:sp>
      <p:sp>
        <p:nvSpPr>
          <p:cNvPr id="10" name="Text 8"/>
          <p:cNvSpPr/>
          <p:nvPr/>
        </p:nvSpPr>
        <p:spPr>
          <a:xfrm>
            <a:off x="1005840" y="2331720"/>
            <a:ext cx="7132320" cy="594360"/>
          </a:xfrm>
          <a:prstGeom prst="rect">
            <a:avLst/>
          </a:prstGeom>
          <a:noFill/>
          <a:ln/>
        </p:spPr>
        <p:txBody>
          <a:bodyPr wrap="square" lIns="0" tIns="0" rIns="0" bIns="0" rtlCol="0" anchor="ctr"/>
          <a:lstStyle/>
          <a:p>
            <a:pPr indent="0" marL="0">
              <a:buNone/>
            </a:pPr>
            <a:r>
              <a:rPr lang="en-US" sz="1000" dirty="0">
                <a:solidFill>
                  <a:srgbClr val="334155"/>
                </a:solidFill>
                <a:latin typeface="Microsoft YaHei" pitchFamily="34" charset="0"/>
                <a:ea typeface="Microsoft YaHei" pitchFamily="34" charset="-122"/>
                <a:cs typeface="Microsoft YaHei" pitchFamily="34" charset="-120"/>
              </a:rPr>
              <a:t>案例1: 构建模型→设计算法 | 案例2: 建模→上层→下层 | 案例3: First→Second→Then→Finally。LE-DEGN应改为"首先通过线图转换建立ERFM...然后设计SA-DGWN预测拥堵...接着构建LHH实现自适应逃逸..."</a:t>
            </a:r>
            <a:endParaRPr lang="en-US" sz="1000" dirty="0"/>
          </a:p>
        </p:txBody>
      </p:sp>
      <p:sp>
        <p:nvSpPr>
          <p:cNvPr id="11" name="Shape 9"/>
          <p:cNvSpPr/>
          <p:nvPr/>
        </p:nvSpPr>
        <p:spPr>
          <a:xfrm>
            <a:off x="731520" y="3063240"/>
            <a:ext cx="73152" cy="777240"/>
          </a:xfrm>
          <a:prstGeom prst="rect">
            <a:avLst/>
          </a:prstGeom>
          <a:solidFill>
            <a:srgbClr val="059669"/>
          </a:solidFill>
          <a:ln/>
        </p:spPr>
      </p:sp>
      <p:sp>
        <p:nvSpPr>
          <p:cNvPr id="12" name="Text 10"/>
          <p:cNvSpPr/>
          <p:nvPr/>
        </p:nvSpPr>
        <p:spPr>
          <a:xfrm>
            <a:off x="1005840" y="3017520"/>
            <a:ext cx="7315200" cy="274320"/>
          </a:xfrm>
          <a:prstGeom prst="rect">
            <a:avLst/>
          </a:prstGeom>
          <a:noFill/>
          <a:ln/>
        </p:spPr>
        <p:txBody>
          <a:bodyPr wrap="square" lIns="0" tIns="0" rIns="0" bIns="0" rtlCol="0" anchor="ctr"/>
          <a:lstStyle/>
          <a:p>
            <a:pPr indent="0" marL="0">
              <a:buNone/>
            </a:pPr>
            <a:r>
              <a:rPr lang="en-US" sz="1400" b="1" dirty="0">
                <a:solidFill>
                  <a:srgbClr val="059669"/>
                </a:solidFill>
                <a:latin typeface="Microsoft YaHei" pitchFamily="34" charset="0"/>
                <a:ea typeface="Microsoft YaHei" pitchFamily="34" charset="-122"/>
                <a:cs typeface="Microsoft YaHei" pitchFamily="34" charset="-120"/>
              </a:rPr>
              <a:t>规律3：结果量化充分</a:t>
            </a:r>
            <a:endParaRPr lang="en-US" sz="1400" dirty="0"/>
          </a:p>
        </p:txBody>
      </p:sp>
      <p:sp>
        <p:nvSpPr>
          <p:cNvPr id="13" name="Text 11"/>
          <p:cNvSpPr/>
          <p:nvPr/>
        </p:nvSpPr>
        <p:spPr>
          <a:xfrm>
            <a:off x="1005840" y="3291840"/>
            <a:ext cx="7132320" cy="594360"/>
          </a:xfrm>
          <a:prstGeom prst="rect">
            <a:avLst/>
          </a:prstGeom>
          <a:noFill/>
          <a:ln/>
        </p:spPr>
        <p:txBody>
          <a:bodyPr wrap="square" lIns="0" tIns="0" rIns="0" bIns="0" rtlCol="0" anchor="ctr"/>
          <a:lstStyle/>
          <a:p>
            <a:pPr indent="0" marL="0">
              <a:buNone/>
            </a:pPr>
            <a:r>
              <a:rPr lang="en-US" sz="1000" dirty="0">
                <a:solidFill>
                  <a:srgbClr val="334155"/>
                </a:solidFill>
                <a:latin typeface="Microsoft YaHei" pitchFamily="34" charset="0"/>
                <a:ea typeface="Microsoft YaHei" pitchFamily="34" charset="-122"/>
                <a:cs typeface="Microsoft YaHei" pitchFamily="34" charset="-120"/>
              </a:rPr>
              <a:t>案例1给出5组降幅(4.59~10.77%) | 案例3给出9.8%+90%双重指标。LE-DEGN已有12.1%和16.3%，但描述需改为"一句结论 + 关键数字 + 解释"结构</a:t>
            </a:r>
            <a:endParaRPr lang="en-US" sz="1000" dirty="0"/>
          </a:p>
        </p:txBody>
      </p:sp>
      <p:sp>
        <p:nvSpPr>
          <p:cNvPr id="14" name="Shape 12"/>
          <p:cNvSpPr/>
          <p:nvPr/>
        </p:nvSpPr>
        <p:spPr>
          <a:xfrm>
            <a:off x="731520" y="4023360"/>
            <a:ext cx="73152" cy="777240"/>
          </a:xfrm>
          <a:prstGeom prst="rect">
            <a:avLst/>
          </a:prstGeom>
          <a:solidFill>
            <a:srgbClr val="7C3AED"/>
          </a:solidFill>
          <a:ln/>
        </p:spPr>
      </p:sp>
      <p:sp>
        <p:nvSpPr>
          <p:cNvPr id="15" name="Text 13"/>
          <p:cNvSpPr/>
          <p:nvPr/>
        </p:nvSpPr>
        <p:spPr>
          <a:xfrm>
            <a:off x="1005840" y="3977640"/>
            <a:ext cx="7315200" cy="274320"/>
          </a:xfrm>
          <a:prstGeom prst="rect">
            <a:avLst/>
          </a:prstGeom>
          <a:noFill/>
          <a:ln/>
        </p:spPr>
        <p:txBody>
          <a:bodyPr wrap="square" lIns="0" tIns="0" rIns="0" bIns="0" rtlCol="0" anchor="ctr"/>
          <a:lstStyle/>
          <a:p>
            <a:pPr indent="0" marL="0">
              <a:buNone/>
            </a:pPr>
            <a:r>
              <a:rPr lang="en-US" sz="1400" b="1" dirty="0">
                <a:solidFill>
                  <a:srgbClr val="7C3AED"/>
                </a:solidFill>
                <a:latin typeface="Microsoft YaHei" pitchFamily="34" charset="0"/>
                <a:ea typeface="Microsoft YaHei" pitchFamily="34" charset="-122"/>
                <a:cs typeface="Microsoft YaHei" pitchFamily="34" charset="-120"/>
              </a:rPr>
              <a:t>规律4：贡献有意义收敛</a:t>
            </a:r>
            <a:endParaRPr lang="en-US" sz="1400" dirty="0"/>
          </a:p>
        </p:txBody>
      </p:sp>
      <p:sp>
        <p:nvSpPr>
          <p:cNvPr id="16" name="Text 14"/>
          <p:cNvSpPr/>
          <p:nvPr/>
        </p:nvSpPr>
        <p:spPr>
          <a:xfrm>
            <a:off x="1005840" y="4251960"/>
            <a:ext cx="7132320" cy="594360"/>
          </a:xfrm>
          <a:prstGeom prst="rect">
            <a:avLst/>
          </a:prstGeom>
          <a:noFill/>
          <a:ln/>
        </p:spPr>
        <p:txBody>
          <a:bodyPr wrap="square" lIns="0" tIns="0" rIns="0" bIns="0" rtlCol="0" anchor="ctr"/>
          <a:lstStyle/>
          <a:p>
            <a:pPr indent="0" marL="0">
              <a:buNone/>
            </a:pPr>
            <a:r>
              <a:rPr lang="en-US" sz="1000" dirty="0">
                <a:solidFill>
                  <a:srgbClr val="334155"/>
                </a:solidFill>
                <a:latin typeface="Microsoft YaHei" pitchFamily="34" charset="0"/>
                <a:ea typeface="Microsoft YaHei" pitchFamily="34" charset="-122"/>
                <a:cs typeface="Microsoft YaHei" pitchFamily="34" charset="-120"/>
              </a:rPr>
              <a:t>案例1结尾"降低物流配送总成本，减少碳排放" | 案例3结尾"provide theoretical support for..."。LE-DEGN应以"为动态城市路由提供了兼顾学习表征与预测感知的有效实用方案"收尾</a:t>
            </a:r>
            <a:endParaRPr lang="en-US" sz="1000" dirty="0"/>
          </a:p>
        </p:txBody>
      </p:sp>
      <p:sp>
        <p:nvSpPr>
          <p:cNvPr id="1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当前论文初稿问题诊断</a:t>
            </a:r>
            <a:endParaRPr lang="en-US" sz="2800" dirty="0"/>
          </a:p>
        </p:txBody>
      </p:sp>
      <p:sp>
        <p:nvSpPr>
          <p:cNvPr id="4" name="Shape 2"/>
          <p:cNvSpPr/>
          <p:nvPr/>
        </p:nvSpPr>
        <p:spPr>
          <a:xfrm>
            <a:off x="731520" y="868680"/>
            <a:ext cx="1463040" cy="27432"/>
          </a:xfrm>
          <a:prstGeom prst="rect">
            <a:avLst/>
          </a:prstGeom>
          <a:solidFill>
            <a:srgbClr val="0D9488"/>
          </a:solidFill>
          <a:ln/>
        </p:spPr>
      </p:sp>
      <p:sp>
        <p:nvSpPr>
          <p:cNvPr id="5" name="Shape 3"/>
          <p:cNvSpPr/>
          <p:nvPr/>
        </p:nvSpPr>
        <p:spPr>
          <a:xfrm>
            <a:off x="731520" y="1097280"/>
            <a:ext cx="73152" cy="640080"/>
          </a:xfrm>
          <a:prstGeom prst="rect">
            <a:avLst/>
          </a:prstGeom>
          <a:solidFill>
            <a:srgbClr val="DC2626"/>
          </a:solidFill>
          <a:ln/>
        </p:spPr>
      </p:sp>
      <p:sp>
        <p:nvSpPr>
          <p:cNvPr id="6" name="Text 4"/>
          <p:cNvSpPr/>
          <p:nvPr/>
        </p:nvSpPr>
        <p:spPr>
          <a:xfrm>
            <a:off x="1005840" y="1097280"/>
            <a:ext cx="7315200" cy="274320"/>
          </a:xfrm>
          <a:prstGeom prst="rect">
            <a:avLst/>
          </a:prstGeom>
          <a:noFill/>
          <a:ln/>
        </p:spPr>
        <p:txBody>
          <a:bodyPr wrap="square" lIns="0" tIns="0" rIns="0" bIns="0" rtlCol="0" anchor="ctr"/>
          <a:lstStyle/>
          <a:p>
            <a:pPr indent="0" marL="0">
              <a:buNone/>
            </a:pPr>
            <a:r>
              <a:rPr lang="en-US" sz="1400" b="1" dirty="0">
                <a:solidFill>
                  <a:srgbClr val="DC2626"/>
                </a:solidFill>
                <a:latin typeface="Microsoft YaHei" pitchFamily="34" charset="0"/>
                <a:ea typeface="Microsoft YaHei" pitchFamily="34" charset="-122"/>
                <a:cs typeface="Microsoft YaHei" pitchFamily="34" charset="-120"/>
              </a:rPr>
              <a:t>问题一：问题锚点不清晰</a:t>
            </a:r>
            <a:endParaRPr lang="en-US" sz="1400" dirty="0"/>
          </a:p>
        </p:txBody>
      </p:sp>
      <p:sp>
        <p:nvSpPr>
          <p:cNvPr id="7" name="Text 5"/>
          <p:cNvSpPr/>
          <p:nvPr/>
        </p:nvSpPr>
        <p:spPr>
          <a:xfrm>
            <a:off x="1005840" y="1389888"/>
            <a:ext cx="7132320" cy="384048"/>
          </a:xfrm>
          <a:prstGeom prst="rect">
            <a:avLst/>
          </a:prstGeom>
          <a:noFill/>
          <a:ln/>
        </p:spPr>
        <p:txBody>
          <a:bodyPr wrap="square" lIns="0" tIns="0" rIns="0" bIns="0" rtlCol="0" anchor="ctr"/>
          <a:lstStyle/>
          <a:p>
            <a:pPr indent="0" marL="0">
              <a:buNone/>
            </a:pPr>
            <a:r>
              <a:rPr lang="en-US" sz="1000" dirty="0">
                <a:solidFill>
                  <a:srgbClr val="334155"/>
                </a:solidFill>
                <a:latin typeface="Microsoft YaHei" pitchFamily="34" charset="0"/>
                <a:ea typeface="Microsoft YaHei" pitchFamily="34" charset="-122"/>
                <a:cs typeface="Microsoft YaHei" pitchFamily="34" charset="-120"/>
              </a:rPr>
              <a:t>摘要开头太模糊。好的开篇应一句话说清"在什么场景下、解决什么具体问题、为什么困难"。参照三篇案例的"针对...提出..."句式重写。</a:t>
            </a:r>
            <a:endParaRPr lang="en-US" sz="1000" dirty="0"/>
          </a:p>
        </p:txBody>
      </p:sp>
      <p:sp>
        <p:nvSpPr>
          <p:cNvPr id="8" name="Shape 6"/>
          <p:cNvSpPr/>
          <p:nvPr/>
        </p:nvSpPr>
        <p:spPr>
          <a:xfrm>
            <a:off x="731520" y="1865376"/>
            <a:ext cx="73152" cy="640080"/>
          </a:xfrm>
          <a:prstGeom prst="rect">
            <a:avLst/>
          </a:prstGeom>
          <a:solidFill>
            <a:srgbClr val="D97706"/>
          </a:solidFill>
          <a:ln/>
        </p:spPr>
      </p:sp>
      <p:sp>
        <p:nvSpPr>
          <p:cNvPr id="9" name="Text 7"/>
          <p:cNvSpPr/>
          <p:nvPr/>
        </p:nvSpPr>
        <p:spPr>
          <a:xfrm>
            <a:off x="1005840" y="1865376"/>
            <a:ext cx="7315200" cy="274320"/>
          </a:xfrm>
          <a:prstGeom prst="rect">
            <a:avLst/>
          </a:prstGeom>
          <a:noFill/>
          <a:ln/>
        </p:spPr>
        <p:txBody>
          <a:bodyPr wrap="square" lIns="0" tIns="0" rIns="0" bIns="0" rtlCol="0" anchor="ctr"/>
          <a:lstStyle/>
          <a:p>
            <a:pPr indent="0" marL="0">
              <a:buNone/>
            </a:pPr>
            <a:r>
              <a:rPr lang="en-US" sz="1400" b="1" dirty="0">
                <a:solidFill>
                  <a:srgbClr val="D97706"/>
                </a:solidFill>
                <a:latin typeface="Microsoft YaHei" pitchFamily="34" charset="0"/>
                <a:ea typeface="Microsoft YaHei" pitchFamily="34" charset="-122"/>
                <a:cs typeface="Microsoft YaHei" pitchFamily="34" charset="-120"/>
              </a:rPr>
              <a:t>问题二：三模块关系扁平</a:t>
            </a:r>
            <a:endParaRPr lang="en-US" sz="1400" dirty="0"/>
          </a:p>
        </p:txBody>
      </p:sp>
      <p:sp>
        <p:nvSpPr>
          <p:cNvPr id="10" name="Text 8"/>
          <p:cNvSpPr/>
          <p:nvPr/>
        </p:nvSpPr>
        <p:spPr>
          <a:xfrm>
            <a:off x="1005840" y="2157984"/>
            <a:ext cx="7132320" cy="384048"/>
          </a:xfrm>
          <a:prstGeom prst="rect">
            <a:avLst/>
          </a:prstGeom>
          <a:noFill/>
          <a:ln/>
        </p:spPr>
        <p:txBody>
          <a:bodyPr wrap="square" lIns="0" tIns="0" rIns="0" bIns="0" rtlCol="0" anchor="ctr"/>
          <a:lstStyle/>
          <a:p>
            <a:pPr indent="0" marL="0">
              <a:buNone/>
            </a:pPr>
            <a:r>
              <a:rPr lang="en-US" sz="1000" dirty="0">
                <a:solidFill>
                  <a:srgbClr val="334155"/>
                </a:solidFill>
                <a:latin typeface="Microsoft YaHei" pitchFamily="34" charset="0"/>
                <a:ea typeface="Microsoft YaHei" pitchFamily="34" charset="-122"/>
                <a:cs typeface="Microsoft YaHei" pitchFamily="34" charset="-120"/>
              </a:rPr>
              <a:t>ERFM、SA-DGWN、LHH 描述堆砌，看不出递进。学习案例2的"上层→下层"和案例3的"First→Then→Finally"串联方式。</a:t>
            </a:r>
            <a:endParaRPr lang="en-US" sz="1000" dirty="0"/>
          </a:p>
        </p:txBody>
      </p:sp>
      <p:sp>
        <p:nvSpPr>
          <p:cNvPr id="11" name="Shape 9"/>
          <p:cNvSpPr/>
          <p:nvPr/>
        </p:nvSpPr>
        <p:spPr>
          <a:xfrm>
            <a:off x="731520" y="2633472"/>
            <a:ext cx="73152" cy="640080"/>
          </a:xfrm>
          <a:prstGeom prst="rect">
            <a:avLst/>
          </a:prstGeom>
          <a:solidFill>
            <a:srgbClr val="DC2626"/>
          </a:solidFill>
          <a:ln/>
        </p:spPr>
      </p:sp>
      <p:sp>
        <p:nvSpPr>
          <p:cNvPr id="12" name="Text 10"/>
          <p:cNvSpPr/>
          <p:nvPr/>
        </p:nvSpPr>
        <p:spPr>
          <a:xfrm>
            <a:off x="1005840" y="2633472"/>
            <a:ext cx="7315200" cy="274320"/>
          </a:xfrm>
          <a:prstGeom prst="rect">
            <a:avLst/>
          </a:prstGeom>
          <a:noFill/>
          <a:ln/>
        </p:spPr>
        <p:txBody>
          <a:bodyPr wrap="square" lIns="0" tIns="0" rIns="0" bIns="0" rtlCol="0" anchor="ctr"/>
          <a:lstStyle/>
          <a:p>
            <a:pPr indent="0" marL="0">
              <a:buNone/>
            </a:pPr>
            <a:r>
              <a:rPr lang="en-US" sz="1400" b="1" dirty="0">
                <a:solidFill>
                  <a:srgbClr val="DC2626"/>
                </a:solidFill>
                <a:latin typeface="Microsoft YaHei" pitchFamily="34" charset="0"/>
                <a:ea typeface="Microsoft YaHei" pitchFamily="34" charset="-122"/>
                <a:cs typeface="Microsoft YaHei" pitchFamily="34" charset="-120"/>
              </a:rPr>
              <a:t>问题三："语言赋能"动机不明</a:t>
            </a:r>
            <a:endParaRPr lang="en-US" sz="1400" dirty="0"/>
          </a:p>
        </p:txBody>
      </p:sp>
      <p:sp>
        <p:nvSpPr>
          <p:cNvPr id="13" name="Text 11"/>
          <p:cNvSpPr/>
          <p:nvPr/>
        </p:nvSpPr>
        <p:spPr>
          <a:xfrm>
            <a:off x="1005840" y="2926080"/>
            <a:ext cx="7132320" cy="384048"/>
          </a:xfrm>
          <a:prstGeom prst="rect">
            <a:avLst/>
          </a:prstGeom>
          <a:noFill/>
          <a:ln/>
        </p:spPr>
        <p:txBody>
          <a:bodyPr wrap="square" lIns="0" tIns="0" rIns="0" bIns="0" rtlCol="0" anchor="ctr"/>
          <a:lstStyle/>
          <a:p>
            <a:pPr indent="0" marL="0">
              <a:buNone/>
            </a:pPr>
            <a:r>
              <a:rPr lang="en-US" sz="1000" dirty="0">
                <a:solidFill>
                  <a:srgbClr val="334155"/>
                </a:solidFill>
                <a:latin typeface="Microsoft YaHei" pitchFamily="34" charset="0"/>
                <a:ea typeface="Microsoft YaHei" pitchFamily="34" charset="-122"/>
                <a:cs typeface="Microsoft YaHei" pitchFamily="34" charset="-120"/>
              </a:rPr>
              <a:t>为什么需要LLM？与路网约束的关系是什么？案例3开头就说清"MAV provides new opportunities...but CA model does not consider..."→先肯定价值，再指出缺口。</a:t>
            </a:r>
            <a:endParaRPr lang="en-US" sz="1000" dirty="0"/>
          </a:p>
        </p:txBody>
      </p:sp>
      <p:sp>
        <p:nvSpPr>
          <p:cNvPr id="14" name="Shape 12"/>
          <p:cNvSpPr/>
          <p:nvPr/>
        </p:nvSpPr>
        <p:spPr>
          <a:xfrm>
            <a:off x="731520" y="3401568"/>
            <a:ext cx="73152" cy="640080"/>
          </a:xfrm>
          <a:prstGeom prst="rect">
            <a:avLst/>
          </a:prstGeom>
          <a:solidFill>
            <a:srgbClr val="DC2626"/>
          </a:solidFill>
          <a:ln/>
        </p:spPr>
      </p:sp>
      <p:sp>
        <p:nvSpPr>
          <p:cNvPr id="15" name="Text 13"/>
          <p:cNvSpPr/>
          <p:nvPr/>
        </p:nvSpPr>
        <p:spPr>
          <a:xfrm>
            <a:off x="1005840" y="3401568"/>
            <a:ext cx="7315200" cy="274320"/>
          </a:xfrm>
          <a:prstGeom prst="rect">
            <a:avLst/>
          </a:prstGeom>
          <a:noFill/>
          <a:ln/>
        </p:spPr>
        <p:txBody>
          <a:bodyPr wrap="square" lIns="0" tIns="0" rIns="0" bIns="0" rtlCol="0" anchor="ctr"/>
          <a:lstStyle/>
          <a:p>
            <a:pPr indent="0" marL="0">
              <a:buNone/>
            </a:pPr>
            <a:r>
              <a:rPr lang="en-US" sz="1400" b="1" dirty="0">
                <a:solidFill>
                  <a:srgbClr val="DC2626"/>
                </a:solidFill>
                <a:latin typeface="Microsoft YaHei" pitchFamily="34" charset="0"/>
                <a:ea typeface="Microsoft YaHei" pitchFamily="34" charset="-122"/>
                <a:cs typeface="Microsoft YaHei" pitchFamily="34" charset="-120"/>
              </a:rPr>
              <a:t>问题四：引言过长缺少聚焦</a:t>
            </a:r>
            <a:endParaRPr lang="en-US" sz="1400" dirty="0"/>
          </a:p>
        </p:txBody>
      </p:sp>
      <p:sp>
        <p:nvSpPr>
          <p:cNvPr id="16" name="Text 14"/>
          <p:cNvSpPr/>
          <p:nvPr/>
        </p:nvSpPr>
        <p:spPr>
          <a:xfrm>
            <a:off x="1005840" y="3694176"/>
            <a:ext cx="7132320" cy="384048"/>
          </a:xfrm>
          <a:prstGeom prst="rect">
            <a:avLst/>
          </a:prstGeom>
          <a:noFill/>
          <a:ln/>
        </p:spPr>
        <p:txBody>
          <a:bodyPr wrap="square" lIns="0" tIns="0" rIns="0" bIns="0" rtlCol="0" anchor="ctr"/>
          <a:lstStyle/>
          <a:p>
            <a:pPr indent="0" marL="0">
              <a:buNone/>
            </a:pPr>
            <a:r>
              <a:rPr lang="en-US" sz="1000" dirty="0">
                <a:solidFill>
                  <a:srgbClr val="334155"/>
                </a:solidFill>
                <a:latin typeface="Microsoft YaHei" pitchFamily="34" charset="0"/>
                <a:ea typeface="Microsoft YaHei" pitchFamily="34" charset="-122"/>
                <a:cs typeface="Microsoft YaHei" pitchFamily="34" charset="-120"/>
              </a:rPr>
              <a:t>引言从2001年Google Street View写起，铺垫过长。案例2引言3段就切入正题。LE-DEGN应压缩为3~4段：背景→挑战→方法→贡献。</a:t>
            </a:r>
            <a:endParaRPr lang="en-US" sz="1000" dirty="0"/>
          </a:p>
        </p:txBody>
      </p:sp>
      <p:sp>
        <p:nvSpPr>
          <p:cNvPr id="17" name="Shape 15"/>
          <p:cNvSpPr/>
          <p:nvPr/>
        </p:nvSpPr>
        <p:spPr>
          <a:xfrm>
            <a:off x="731520" y="4169664"/>
            <a:ext cx="73152" cy="640080"/>
          </a:xfrm>
          <a:prstGeom prst="rect">
            <a:avLst/>
          </a:prstGeom>
          <a:solidFill>
            <a:srgbClr val="D97706"/>
          </a:solidFill>
          <a:ln/>
        </p:spPr>
      </p:sp>
      <p:sp>
        <p:nvSpPr>
          <p:cNvPr id="18" name="Text 16"/>
          <p:cNvSpPr/>
          <p:nvPr/>
        </p:nvSpPr>
        <p:spPr>
          <a:xfrm>
            <a:off x="1005840" y="4169664"/>
            <a:ext cx="7315200" cy="274320"/>
          </a:xfrm>
          <a:prstGeom prst="rect">
            <a:avLst/>
          </a:prstGeom>
          <a:noFill/>
          <a:ln/>
        </p:spPr>
        <p:txBody>
          <a:bodyPr wrap="square" lIns="0" tIns="0" rIns="0" bIns="0" rtlCol="0" anchor="ctr"/>
          <a:lstStyle/>
          <a:p>
            <a:pPr indent="0" marL="0">
              <a:buNone/>
            </a:pPr>
            <a:r>
              <a:rPr lang="en-US" sz="1400" b="1" dirty="0">
                <a:solidFill>
                  <a:srgbClr val="D97706"/>
                </a:solidFill>
                <a:latin typeface="Microsoft YaHei" pitchFamily="34" charset="0"/>
                <a:ea typeface="Microsoft YaHei" pitchFamily="34" charset="-122"/>
                <a:cs typeface="Microsoft YaHei" pitchFamily="34" charset="-120"/>
              </a:rPr>
              <a:t>问题五：结果描述需结构化重组</a:t>
            </a:r>
            <a:endParaRPr lang="en-US" sz="1400" dirty="0"/>
          </a:p>
        </p:txBody>
      </p:sp>
      <p:sp>
        <p:nvSpPr>
          <p:cNvPr id="19" name="Text 17"/>
          <p:cNvSpPr/>
          <p:nvPr/>
        </p:nvSpPr>
        <p:spPr>
          <a:xfrm>
            <a:off x="1005840" y="4462272"/>
            <a:ext cx="7132320" cy="384048"/>
          </a:xfrm>
          <a:prstGeom prst="rect">
            <a:avLst/>
          </a:prstGeom>
          <a:noFill/>
          <a:ln/>
        </p:spPr>
        <p:txBody>
          <a:bodyPr wrap="square" lIns="0" tIns="0" rIns="0" bIns="0" rtlCol="0" anchor="ctr"/>
          <a:lstStyle/>
          <a:p>
            <a:pPr indent="0" marL="0">
              <a:buNone/>
            </a:pPr>
            <a:r>
              <a:rPr lang="en-US" sz="1000" dirty="0">
                <a:solidFill>
                  <a:srgbClr val="334155"/>
                </a:solidFill>
                <a:latin typeface="Microsoft YaHei" pitchFamily="34" charset="0"/>
                <a:ea typeface="Microsoft YaHei" pitchFamily="34" charset="-122"/>
                <a:cs typeface="Microsoft YaHei" pitchFamily="34" charset="-120"/>
              </a:rPr>
              <a:t>案例1结果段"与5种算法对比，成本降至...降幅分别为..."一目了然。LE-DEGN需按"结论→数字→解释"结构重组每个结果段落。</a:t>
            </a:r>
            <a:endParaRPr lang="en-US" sz="1000" dirty="0"/>
          </a:p>
        </p:txBody>
      </p:sp>
      <p:sp>
        <p:nvSpPr>
          <p:cNvPr id="20"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一个月论文+代码优化计划 - 概览</a:t>
            </a:r>
            <a:endParaRPr lang="en-US" sz="2800" dirty="0"/>
          </a:p>
        </p:txBody>
      </p:sp>
      <p:sp>
        <p:nvSpPr>
          <p:cNvPr id="4" name="Shape 2"/>
          <p:cNvSpPr/>
          <p:nvPr/>
        </p:nvSpPr>
        <p:spPr>
          <a:xfrm>
            <a:off x="731520" y="868680"/>
            <a:ext cx="1463040" cy="27432"/>
          </a:xfrm>
          <a:prstGeom prst="rect">
            <a:avLst/>
          </a:prstGeom>
          <a:solidFill>
            <a:srgbClr val="0D9488"/>
          </a:solidFill>
          <a:ln/>
        </p:spPr>
      </p:sp>
      <p:sp>
        <p:nvSpPr>
          <p:cNvPr id="5" name="Shape 3"/>
          <p:cNvSpPr/>
          <p:nvPr/>
        </p:nvSpPr>
        <p:spPr>
          <a:xfrm>
            <a:off x="457200" y="1097280"/>
            <a:ext cx="1920240" cy="3566160"/>
          </a:xfrm>
          <a:prstGeom prst="rect">
            <a:avLst>
              <a:gd name="adj" fmla="val 3810"/>
            </a:avLst>
          </a:prstGeom>
          <a:solidFill>
            <a:srgbClr val="F8FAFC"/>
          </a:solidFill>
          <a:ln/>
        </p:spPr>
      </p:sp>
      <p:sp>
        <p:nvSpPr>
          <p:cNvPr id="6" name="Shape 4"/>
          <p:cNvSpPr/>
          <p:nvPr/>
        </p:nvSpPr>
        <p:spPr>
          <a:xfrm>
            <a:off x="457200" y="1097280"/>
            <a:ext cx="1920240" cy="45720"/>
          </a:xfrm>
          <a:prstGeom prst="rect">
            <a:avLst/>
          </a:prstGeom>
          <a:solidFill>
            <a:srgbClr val="1E3A5F"/>
          </a:solidFill>
          <a:ln/>
        </p:spPr>
      </p:sp>
      <p:sp>
        <p:nvSpPr>
          <p:cNvPr id="7" name="Text 5"/>
          <p:cNvSpPr/>
          <p:nvPr/>
        </p:nvSpPr>
        <p:spPr>
          <a:xfrm>
            <a:off x="640080" y="1234440"/>
            <a:ext cx="155448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第1周 (6/30-7/6)</a:t>
            </a:r>
            <a:endParaRPr lang="en-US" sz="1500" dirty="0"/>
          </a:p>
        </p:txBody>
      </p:sp>
      <p:sp>
        <p:nvSpPr>
          <p:cNvPr id="8" name="Text 6"/>
          <p:cNvSpPr/>
          <p:nvPr/>
        </p:nvSpPr>
        <p:spPr>
          <a:xfrm>
            <a:off x="640080" y="1600200"/>
            <a:ext cx="1554480" cy="2926080"/>
          </a:xfrm>
          <a:prstGeom prst="rect">
            <a:avLst/>
          </a:prstGeom>
          <a:noFill/>
          <a:ln/>
        </p:spPr>
        <p:txBody>
          <a:bodyPr wrap="square" lIns="0" tIns="0" rIns="0" bIns="0" rtlCol="0" anchor="ctr"/>
          <a:lstStyle/>
          <a:p>
            <a:pPr indent="0" marL="0">
              <a:buNone/>
            </a:pPr>
            <a:r>
              <a:rPr lang="en-US" sz="1100" dirty="0">
                <a:solidFill>
                  <a:srgbClr val="334155"/>
                </a:solidFill>
                <a:latin typeface="Microsoft YaHei" pitchFamily="34" charset="0"/>
                <a:ea typeface="Microsoft YaHei" pitchFamily="34" charset="-122"/>
                <a:cs typeface="Microsoft YaHei" pitchFamily="34" charset="-120"/>
              </a:rPr>
              <a:t>精读3篇目标期刊论文</a:t>
            </a:r>
            <a:endParaRPr lang="en-US" sz="1100" dirty="0"/>
          </a:p>
          <a:p>
            <a:pPr indent="0" marL="0">
              <a:buNone/>
            </a:pPr>
            <a:r>
              <a:rPr lang="en-US" sz="1100" dirty="0">
                <a:solidFill>
                  <a:srgbClr val="334155"/>
                </a:solidFill>
                <a:latin typeface="Microsoft YaHei" pitchFamily="34" charset="0"/>
                <a:ea typeface="Microsoft YaHei" pitchFamily="34" charset="-122"/>
                <a:cs typeface="Microsoft YaHei" pitchFamily="34" charset="-120"/>
              </a:rPr>
              <a:t>分析写作规律</a:t>
            </a:r>
            <a:endParaRPr lang="en-US" sz="1100" dirty="0"/>
          </a:p>
          <a:p>
            <a:pPr indent="0" marL="0">
              <a:buNone/>
            </a:pPr>
            <a:r>
              <a:rPr lang="en-US" sz="1100" dirty="0">
                <a:solidFill>
                  <a:srgbClr val="334155"/>
                </a:solidFill>
                <a:latin typeface="Microsoft YaHei" pitchFamily="34" charset="0"/>
                <a:ea typeface="Microsoft YaHei" pitchFamily="34" charset="-122"/>
                <a:cs typeface="Microsoft YaHei" pitchFamily="34" charset="-120"/>
              </a:rPr>
              <a:t>收集句式模板</a:t>
            </a:r>
            <a:endParaRPr lang="en-US" sz="1100" dirty="0"/>
          </a:p>
          <a:p>
            <a:pPr indent="0" marL="0">
              <a:buNone/>
            </a:pPr>
            <a:r>
              <a:rPr lang="en-US" sz="1100" dirty="0">
                <a:solidFill>
                  <a:srgbClr val="334155"/>
                </a:solidFill>
                <a:latin typeface="Microsoft YaHei" pitchFamily="34" charset="0"/>
                <a:ea typeface="Microsoft YaHei" pitchFamily="34" charset="-122"/>
                <a:cs typeface="Microsoft YaHei" pitchFamily="34" charset="-120"/>
              </a:rPr>
              <a:t>重写摘要</a:t>
            </a:r>
            <a:endParaRPr lang="en-US" sz="1100" dirty="0"/>
          </a:p>
        </p:txBody>
      </p:sp>
      <p:sp>
        <p:nvSpPr>
          <p:cNvPr id="9" name="Shape 7"/>
          <p:cNvSpPr/>
          <p:nvPr/>
        </p:nvSpPr>
        <p:spPr>
          <a:xfrm>
            <a:off x="2560320" y="1097280"/>
            <a:ext cx="1920240" cy="3566160"/>
          </a:xfrm>
          <a:prstGeom prst="rect">
            <a:avLst>
              <a:gd name="adj" fmla="val 3810"/>
            </a:avLst>
          </a:prstGeom>
          <a:solidFill>
            <a:srgbClr val="F8FAFC"/>
          </a:solidFill>
          <a:ln/>
        </p:spPr>
      </p:sp>
      <p:sp>
        <p:nvSpPr>
          <p:cNvPr id="10" name="Shape 8"/>
          <p:cNvSpPr/>
          <p:nvPr/>
        </p:nvSpPr>
        <p:spPr>
          <a:xfrm>
            <a:off x="2560320" y="1097280"/>
            <a:ext cx="1920240" cy="45720"/>
          </a:xfrm>
          <a:prstGeom prst="rect">
            <a:avLst/>
          </a:prstGeom>
          <a:solidFill>
            <a:srgbClr val="0D9488"/>
          </a:solidFill>
          <a:ln/>
        </p:spPr>
      </p:sp>
      <p:sp>
        <p:nvSpPr>
          <p:cNvPr id="11" name="Text 9"/>
          <p:cNvSpPr/>
          <p:nvPr/>
        </p:nvSpPr>
        <p:spPr>
          <a:xfrm>
            <a:off x="2743200" y="1234440"/>
            <a:ext cx="155448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第2周 (7/7-7/13)</a:t>
            </a:r>
            <a:endParaRPr lang="en-US" sz="1500" dirty="0"/>
          </a:p>
        </p:txBody>
      </p:sp>
      <p:sp>
        <p:nvSpPr>
          <p:cNvPr id="12" name="Text 10"/>
          <p:cNvSpPr/>
          <p:nvPr/>
        </p:nvSpPr>
        <p:spPr>
          <a:xfrm>
            <a:off x="2743200" y="1600200"/>
            <a:ext cx="1554480" cy="2926080"/>
          </a:xfrm>
          <a:prstGeom prst="rect">
            <a:avLst/>
          </a:prstGeom>
          <a:noFill/>
          <a:ln/>
        </p:spPr>
        <p:txBody>
          <a:bodyPr wrap="square" lIns="0" tIns="0" rIns="0" bIns="0" rtlCol="0" anchor="ctr"/>
          <a:lstStyle/>
          <a:p>
            <a:pPr indent="0" marL="0">
              <a:buNone/>
            </a:pPr>
            <a:r>
              <a:rPr lang="en-US" sz="1100" dirty="0">
                <a:solidFill>
                  <a:srgbClr val="334155"/>
                </a:solidFill>
                <a:latin typeface="Microsoft YaHei" pitchFamily="34" charset="0"/>
                <a:ea typeface="Microsoft YaHei" pitchFamily="34" charset="-122"/>
                <a:cs typeface="Microsoft YaHei" pitchFamily="34" charset="-120"/>
              </a:rPr>
              <a:t>重写引言(4段)</a:t>
            </a:r>
            <a:endParaRPr lang="en-US" sz="1100" dirty="0"/>
          </a:p>
          <a:p>
            <a:pPr indent="0" marL="0">
              <a:buNone/>
            </a:pPr>
            <a:r>
              <a:rPr lang="en-US" sz="1100" dirty="0">
                <a:solidFill>
                  <a:srgbClr val="334155"/>
                </a:solidFill>
                <a:latin typeface="Microsoft YaHei" pitchFamily="34" charset="0"/>
                <a:ea typeface="Microsoft YaHei" pitchFamily="34" charset="-122"/>
                <a:cs typeface="Microsoft YaHei" pitchFamily="34" charset="-120"/>
              </a:rPr>
              <a:t>重构文献综述(4层)</a:t>
            </a:r>
            <a:endParaRPr lang="en-US" sz="1100" dirty="0"/>
          </a:p>
          <a:p>
            <a:pPr indent="0" marL="0">
              <a:buNone/>
            </a:pPr>
            <a:r>
              <a:rPr lang="en-US" sz="1100" dirty="0">
                <a:solidFill>
                  <a:srgbClr val="334155"/>
                </a:solidFill>
                <a:latin typeface="Microsoft YaHei" pitchFamily="34" charset="0"/>
                <a:ea typeface="Microsoft YaHei" pitchFamily="34" charset="-122"/>
                <a:cs typeface="Microsoft YaHei" pitchFamily="34" charset="-120"/>
              </a:rPr>
              <a:t>优化方法+实验描述</a:t>
            </a:r>
            <a:endParaRPr lang="en-US" sz="1100" dirty="0"/>
          </a:p>
        </p:txBody>
      </p:sp>
      <p:sp>
        <p:nvSpPr>
          <p:cNvPr id="13" name="Shape 11"/>
          <p:cNvSpPr/>
          <p:nvPr/>
        </p:nvSpPr>
        <p:spPr>
          <a:xfrm>
            <a:off x="4663440" y="1097280"/>
            <a:ext cx="1920240" cy="3566160"/>
          </a:xfrm>
          <a:prstGeom prst="rect">
            <a:avLst>
              <a:gd name="adj" fmla="val 3810"/>
            </a:avLst>
          </a:prstGeom>
          <a:solidFill>
            <a:srgbClr val="F8FAFC"/>
          </a:solidFill>
          <a:ln/>
        </p:spPr>
      </p:sp>
      <p:sp>
        <p:nvSpPr>
          <p:cNvPr id="14" name="Shape 12"/>
          <p:cNvSpPr/>
          <p:nvPr/>
        </p:nvSpPr>
        <p:spPr>
          <a:xfrm>
            <a:off x="4663440" y="1097280"/>
            <a:ext cx="1920240" cy="45720"/>
          </a:xfrm>
          <a:prstGeom prst="rect">
            <a:avLst/>
          </a:prstGeom>
          <a:solidFill>
            <a:srgbClr val="7C3AED"/>
          </a:solidFill>
          <a:ln/>
        </p:spPr>
      </p:sp>
      <p:sp>
        <p:nvSpPr>
          <p:cNvPr id="15" name="Text 13"/>
          <p:cNvSpPr/>
          <p:nvPr/>
        </p:nvSpPr>
        <p:spPr>
          <a:xfrm>
            <a:off x="4846320" y="1234440"/>
            <a:ext cx="155448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第3周 (7/14-7/20)</a:t>
            </a:r>
            <a:endParaRPr lang="en-US" sz="1500" dirty="0"/>
          </a:p>
        </p:txBody>
      </p:sp>
      <p:sp>
        <p:nvSpPr>
          <p:cNvPr id="16" name="Text 14"/>
          <p:cNvSpPr/>
          <p:nvPr/>
        </p:nvSpPr>
        <p:spPr>
          <a:xfrm>
            <a:off x="4846320" y="1600200"/>
            <a:ext cx="1554480" cy="2926080"/>
          </a:xfrm>
          <a:prstGeom prst="rect">
            <a:avLst/>
          </a:prstGeom>
          <a:noFill/>
          <a:ln/>
        </p:spPr>
        <p:txBody>
          <a:bodyPr wrap="square" lIns="0" tIns="0" rIns="0" bIns="0" rtlCol="0" anchor="ctr"/>
          <a:lstStyle/>
          <a:p>
            <a:pPr indent="0" marL="0">
              <a:buNone/>
            </a:pPr>
            <a:r>
              <a:rPr lang="en-US" sz="1100" dirty="0">
                <a:solidFill>
                  <a:srgbClr val="334155"/>
                </a:solidFill>
                <a:latin typeface="Microsoft YaHei" pitchFamily="34" charset="0"/>
                <a:ea typeface="Microsoft YaHei" pitchFamily="34" charset="-122"/>
                <a:cs typeface="Microsoft YaHei" pitchFamily="34" charset="-120"/>
              </a:rPr>
              <a:t>代码模块化重构</a:t>
            </a:r>
            <a:endParaRPr lang="en-US" sz="1100" dirty="0"/>
          </a:p>
          <a:p>
            <a:pPr indent="0" marL="0">
              <a:buNone/>
            </a:pPr>
            <a:r>
              <a:rPr lang="en-US" sz="1100" dirty="0">
                <a:solidFill>
                  <a:srgbClr val="334155"/>
                </a:solidFill>
                <a:latin typeface="Microsoft YaHei" pitchFamily="34" charset="0"/>
                <a:ea typeface="Microsoft YaHei" pitchFamily="34" charset="-122"/>
                <a:cs typeface="Microsoft YaHei" pitchFamily="34" charset="-120"/>
              </a:rPr>
              <a:t>新增2个基线</a:t>
            </a:r>
            <a:endParaRPr lang="en-US" sz="1100" dirty="0"/>
          </a:p>
          <a:p>
            <a:pPr indent="0" marL="0">
              <a:buNone/>
            </a:pPr>
            <a:r>
              <a:rPr lang="en-US" sz="1100" dirty="0">
                <a:solidFill>
                  <a:srgbClr val="334155"/>
                </a:solidFill>
                <a:latin typeface="Microsoft YaHei" pitchFamily="34" charset="0"/>
                <a:ea typeface="Microsoft YaHei" pitchFamily="34" charset="-122"/>
                <a:cs typeface="Microsoft YaHei" pitchFamily="34" charset="-120"/>
              </a:rPr>
              <a:t>补全实验数据</a:t>
            </a:r>
            <a:endParaRPr lang="en-US" sz="1100" dirty="0"/>
          </a:p>
          <a:p>
            <a:pPr indent="0" marL="0">
              <a:buNone/>
            </a:pPr>
            <a:r>
              <a:rPr lang="en-US" sz="1100" dirty="0">
                <a:solidFill>
                  <a:srgbClr val="334155"/>
                </a:solidFill>
                <a:latin typeface="Microsoft YaHei" pitchFamily="34" charset="0"/>
                <a:ea typeface="Microsoft YaHei" pitchFamily="34" charset="-122"/>
                <a:cs typeface="Microsoft YaHei" pitchFamily="34" charset="-120"/>
              </a:rPr>
              <a:t>生成高质量图表</a:t>
            </a:r>
            <a:endParaRPr lang="en-US" sz="1100" dirty="0"/>
          </a:p>
        </p:txBody>
      </p:sp>
      <p:sp>
        <p:nvSpPr>
          <p:cNvPr id="17" name="Shape 15"/>
          <p:cNvSpPr/>
          <p:nvPr/>
        </p:nvSpPr>
        <p:spPr>
          <a:xfrm>
            <a:off x="6766560" y="1097280"/>
            <a:ext cx="1920240" cy="3566160"/>
          </a:xfrm>
          <a:prstGeom prst="rect">
            <a:avLst>
              <a:gd name="adj" fmla="val 3810"/>
            </a:avLst>
          </a:prstGeom>
          <a:solidFill>
            <a:srgbClr val="F8FAFC"/>
          </a:solidFill>
          <a:ln/>
        </p:spPr>
      </p:sp>
      <p:sp>
        <p:nvSpPr>
          <p:cNvPr id="18" name="Shape 16"/>
          <p:cNvSpPr/>
          <p:nvPr/>
        </p:nvSpPr>
        <p:spPr>
          <a:xfrm>
            <a:off x="6766560" y="1097280"/>
            <a:ext cx="1920240" cy="45720"/>
          </a:xfrm>
          <a:prstGeom prst="rect">
            <a:avLst/>
          </a:prstGeom>
          <a:solidFill>
            <a:srgbClr val="059669"/>
          </a:solidFill>
          <a:ln/>
        </p:spPr>
      </p:sp>
      <p:sp>
        <p:nvSpPr>
          <p:cNvPr id="19" name="Text 17"/>
          <p:cNvSpPr/>
          <p:nvPr/>
        </p:nvSpPr>
        <p:spPr>
          <a:xfrm>
            <a:off x="6949440" y="1234440"/>
            <a:ext cx="155448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第4周 (7/21-7/27)</a:t>
            </a:r>
            <a:endParaRPr lang="en-US" sz="1500" dirty="0"/>
          </a:p>
        </p:txBody>
      </p:sp>
      <p:sp>
        <p:nvSpPr>
          <p:cNvPr id="20" name="Text 18"/>
          <p:cNvSpPr/>
          <p:nvPr/>
        </p:nvSpPr>
        <p:spPr>
          <a:xfrm>
            <a:off x="6949440" y="1600200"/>
            <a:ext cx="1554480" cy="2926080"/>
          </a:xfrm>
          <a:prstGeom prst="rect">
            <a:avLst/>
          </a:prstGeom>
          <a:noFill/>
          <a:ln/>
        </p:spPr>
        <p:txBody>
          <a:bodyPr wrap="square" lIns="0" tIns="0" rIns="0" bIns="0" rtlCol="0" anchor="ctr"/>
          <a:lstStyle/>
          <a:p>
            <a:pPr indent="0" marL="0">
              <a:buNone/>
            </a:pPr>
            <a:r>
              <a:rPr lang="en-US" sz="1100" dirty="0">
                <a:solidFill>
                  <a:srgbClr val="334155"/>
                </a:solidFill>
                <a:latin typeface="Microsoft YaHei" pitchFamily="34" charset="0"/>
                <a:ea typeface="Microsoft YaHei" pitchFamily="34" charset="-122"/>
                <a:cs typeface="Microsoft YaHei" pitchFamily="34" charset="-120"/>
              </a:rPr>
              <a:t>全文语言润色</a:t>
            </a:r>
            <a:endParaRPr lang="en-US" sz="1100" dirty="0"/>
          </a:p>
          <a:p>
            <a:pPr indent="0" marL="0">
              <a:buNone/>
            </a:pPr>
            <a:r>
              <a:rPr lang="en-US" sz="1100" dirty="0">
                <a:solidFill>
                  <a:srgbClr val="334155"/>
                </a:solidFill>
                <a:latin typeface="Microsoft YaHei" pitchFamily="34" charset="0"/>
                <a:ea typeface="Microsoft YaHei" pitchFamily="34" charset="-122"/>
                <a:cs typeface="Microsoft YaHei" pitchFamily="34" charset="-120"/>
              </a:rPr>
              <a:t>格式排版</a:t>
            </a:r>
            <a:endParaRPr lang="en-US" sz="1100" dirty="0"/>
          </a:p>
          <a:p>
            <a:pPr indent="0" marL="0">
              <a:buNone/>
            </a:pPr>
            <a:r>
              <a:rPr lang="en-US" sz="1100" dirty="0">
                <a:solidFill>
                  <a:srgbClr val="334155"/>
                </a:solidFill>
                <a:latin typeface="Microsoft YaHei" pitchFamily="34" charset="0"/>
                <a:ea typeface="Microsoft YaHei" pitchFamily="34" charset="-122"/>
                <a:cs typeface="Microsoft YaHei" pitchFamily="34" charset="-120"/>
              </a:rPr>
              <a:t>准备Cover Letter等</a:t>
            </a:r>
            <a:endParaRPr lang="en-US" sz="1100" dirty="0"/>
          </a:p>
          <a:p>
            <a:pPr indent="0" marL="0">
              <a:buNone/>
            </a:pPr>
            <a:r>
              <a:rPr lang="en-US" sz="1100" dirty="0">
                <a:solidFill>
                  <a:srgbClr val="334155"/>
                </a:solidFill>
                <a:latin typeface="Microsoft YaHei" pitchFamily="34" charset="0"/>
                <a:ea typeface="Microsoft YaHei" pitchFamily="34" charset="-122"/>
                <a:cs typeface="Microsoft YaHei" pitchFamily="34" charset="-120"/>
              </a:rPr>
              <a:t>内部审阅</a:t>
            </a:r>
            <a:endParaRPr lang="en-US" sz="1100" dirty="0"/>
          </a:p>
        </p:txBody>
      </p:sp>
      <p:sp>
        <p:nvSpPr>
          <p:cNvPr id="21"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关键里程碑与检查清单</a:t>
            </a:r>
            <a:endParaRPr lang="en-US" sz="2800" dirty="0"/>
          </a:p>
        </p:txBody>
      </p:sp>
      <p:sp>
        <p:nvSpPr>
          <p:cNvPr id="4" name="Shape 2"/>
          <p:cNvSpPr/>
          <p:nvPr/>
        </p:nvSpPr>
        <p:spPr>
          <a:xfrm>
            <a:off x="731520" y="868680"/>
            <a:ext cx="1463040" cy="27432"/>
          </a:xfrm>
          <a:prstGeom prst="rect">
            <a:avLst/>
          </a:prstGeom>
          <a:solidFill>
            <a:srgbClr val="0D9488"/>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731520"/>
                <a:gridCol w="914400"/>
                <a:gridCol w="6583680"/>
              </a:tblGrid>
              <a:tr h="0">
                <a:tc>
                  <a:txBody>
                    <a:bodyPr/>
                    <a:lstStyle/>
                    <a:p>
                      <a:pPr indent="0" marL="0">
                        <a:buNone/>
                      </a:pPr>
                      <a:r>
                        <a:rPr lang="en-US" sz="1100" b="1" dirty="0">
                          <a:solidFill>
                            <a:srgbClr val="FFFFFF"/>
                          </a:solidFill>
                          <a:latin typeface="Microsoft YaHei" pitchFamily="34" charset="0"/>
                          <a:ea typeface="Microsoft YaHei" pitchFamily="34" charset="-122"/>
                          <a:cs typeface="Microsoft YaHei" pitchFamily="34" charset="-120"/>
                        </a:rPr>
                        <a:t>节点</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indent="0" marL="0">
                        <a:buNone/>
                      </a:pPr>
                      <a:r>
                        <a:rPr lang="en-US" sz="1100" b="1" dirty="0">
                          <a:solidFill>
                            <a:srgbClr val="FFFFFF"/>
                          </a:solidFill>
                          <a:latin typeface="Microsoft YaHei" pitchFamily="34" charset="0"/>
                          <a:ea typeface="Microsoft YaHei" pitchFamily="34" charset="-122"/>
                          <a:cs typeface="Microsoft YaHei" pitchFamily="34" charset="-120"/>
                        </a:rPr>
                        <a:t>日期</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indent="0" marL="0">
                        <a:buNone/>
                      </a:pPr>
                      <a:r>
                        <a:rPr lang="en-US" sz="1100" b="1" dirty="0">
                          <a:solidFill>
                            <a:srgbClr val="FFFFFF"/>
                          </a:solidFill>
                          <a:latin typeface="Microsoft YaHei" pitchFamily="34" charset="0"/>
                          <a:ea typeface="Microsoft YaHei" pitchFamily="34" charset="-122"/>
                          <a:cs typeface="Microsoft YaHei" pitchFamily="34" charset="-120"/>
                        </a:rPr>
                        <a:t>交付物 / 检查项</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r>
              <a:tr h="0">
                <a:tc>
                  <a:txBody>
                    <a:bodyPr/>
                    <a:lstStyle/>
                    <a:p>
                      <a:pPr indent="0" marL="0">
                        <a:buNone/>
                      </a:pPr>
                      <a:r>
                        <a:rPr lang="en-US" sz="1100" b="1" dirty="0">
                          <a:solidFill>
                            <a:srgbClr val="1E3A5F"/>
                          </a:solidFill>
                          <a:latin typeface="Microsoft YaHei" pitchFamily="34" charset="0"/>
                          <a:ea typeface="Microsoft YaHei" pitchFamily="34" charset="-122"/>
                          <a:cs typeface="Microsoft YaHei" pitchFamily="34" charset="-120"/>
                        </a:rPr>
                        <a:t>W1</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7"/>
                    </a:solidFill>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7/6</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7"/>
                    </a:solidFill>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完成3篇论文精读 + 句式模板库 + 两套摘要定稿</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7"/>
                    </a:solidFill>
                  </a:tcPr>
                </a:tc>
              </a:tr>
              <a:tr h="0">
                <a:tc>
                  <a:txBody>
                    <a:bodyPr/>
                    <a:lstStyle/>
                    <a:p>
                      <a:pPr indent="0" marL="0">
                        <a:buNone/>
                      </a:pPr>
                      <a:r>
                        <a:rPr lang="en-US" sz="1100" b="1" dirty="0">
                          <a:solidFill>
                            <a:srgbClr val="1E3A5F"/>
                          </a:solidFill>
                          <a:latin typeface="Microsoft YaHei" pitchFamily="34" charset="0"/>
                          <a:ea typeface="Microsoft YaHei" pitchFamily="34" charset="-122"/>
                          <a:cs typeface="Microsoft YaHei" pitchFamily="34" charset="-120"/>
                        </a:rPr>
                        <a:t>W2</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7/13</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引言重写完成 + 文献综述重构完成 + 方法部分加设计动机</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E3A5F"/>
                          </a:solidFill>
                          <a:latin typeface="Microsoft YaHei" pitchFamily="34" charset="0"/>
                          <a:ea typeface="Microsoft YaHei" pitchFamily="34" charset="-122"/>
                          <a:cs typeface="Microsoft YaHei" pitchFamily="34" charset="-120"/>
                        </a:rPr>
                        <a:t>W3</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7"/>
                    </a:solidFill>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7/20</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7"/>
                    </a:solidFill>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代码重构(6模块) + 2个新基线 + 全部图表无placeholder</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7"/>
                    </a:solidFill>
                  </a:tcPr>
                </a:tc>
              </a:tr>
              <a:tr h="0">
                <a:tc>
                  <a:txBody>
                    <a:bodyPr/>
                    <a:lstStyle/>
                    <a:p>
                      <a:pPr indent="0" marL="0">
                        <a:buNone/>
                      </a:pPr>
                      <a:r>
                        <a:rPr lang="en-US" sz="1100" b="1" dirty="0">
                          <a:solidFill>
                            <a:srgbClr val="1E3A5F"/>
                          </a:solidFill>
                          <a:latin typeface="Microsoft YaHei" pitchFamily="34" charset="0"/>
                          <a:ea typeface="Microsoft YaHei" pitchFamily="34" charset="-122"/>
                          <a:cs typeface="Microsoft YaHei" pitchFamily="34" charset="-120"/>
                        </a:rPr>
                        <a:t>W4</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7/27</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Microsoft YaHei" pitchFamily="34" charset="0"/>
                          <a:ea typeface="Microsoft YaHei" pitchFamily="34" charset="-122"/>
                          <a:cs typeface="Microsoft YaHei" pitchFamily="34" charset="-120"/>
                        </a:rPr>
                        <a:t>全文润色+排版+投稿材料齐全+内部审阅通过</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6"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核心写作建议速查卡</a:t>
            </a:r>
            <a:endParaRPr lang="en-US" sz="2800" dirty="0"/>
          </a:p>
        </p:txBody>
      </p:sp>
      <p:sp>
        <p:nvSpPr>
          <p:cNvPr id="4" name="Shape 2"/>
          <p:cNvSpPr/>
          <p:nvPr/>
        </p:nvSpPr>
        <p:spPr>
          <a:xfrm>
            <a:off x="731520" y="868680"/>
            <a:ext cx="1463040" cy="27432"/>
          </a:xfrm>
          <a:prstGeom prst="rect">
            <a:avLst/>
          </a:prstGeom>
          <a:solidFill>
            <a:srgbClr val="0D9488"/>
          </a:solidFill>
          <a:ln/>
        </p:spPr>
      </p:sp>
      <p:sp>
        <p:nvSpPr>
          <p:cNvPr id="5" name="Shape 3"/>
          <p:cNvSpPr/>
          <p:nvPr/>
        </p:nvSpPr>
        <p:spPr>
          <a:xfrm>
            <a:off x="457200" y="1097280"/>
            <a:ext cx="4023360" cy="1463040"/>
          </a:xfrm>
          <a:prstGeom prst="rect">
            <a:avLst>
              <a:gd name="adj" fmla="val 5000"/>
            </a:avLst>
          </a:prstGeom>
          <a:solidFill>
            <a:srgbClr val="F8FAFC"/>
          </a:solidFill>
          <a:ln/>
        </p:spPr>
      </p:sp>
      <p:sp>
        <p:nvSpPr>
          <p:cNvPr id="6" name="Shape 4"/>
          <p:cNvSpPr/>
          <p:nvPr/>
        </p:nvSpPr>
        <p:spPr>
          <a:xfrm>
            <a:off x="457200" y="1097280"/>
            <a:ext cx="4023360" cy="45720"/>
          </a:xfrm>
          <a:prstGeom prst="rect">
            <a:avLst/>
          </a:prstGeom>
          <a:solidFill>
            <a:srgbClr val="0D9488"/>
          </a:solidFill>
          <a:ln/>
        </p:spPr>
      </p:sp>
      <p:sp>
        <p:nvSpPr>
          <p:cNvPr id="7" name="Text 5"/>
          <p:cNvSpPr/>
          <p:nvPr/>
        </p:nvSpPr>
        <p:spPr>
          <a:xfrm>
            <a:off x="640080" y="1234440"/>
            <a:ext cx="365760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摘 要 (Abstract)</a:t>
            </a:r>
            <a:endParaRPr lang="en-US" sz="1500" dirty="0"/>
          </a:p>
        </p:txBody>
      </p:sp>
      <p:sp>
        <p:nvSpPr>
          <p:cNvPr id="8" name="Text 6"/>
          <p:cNvSpPr/>
          <p:nvPr/>
        </p:nvSpPr>
        <p:spPr>
          <a:xfrm>
            <a:off x="640080" y="1600200"/>
            <a:ext cx="3657600" cy="82296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一句话说清具体问题场景</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方法有递进逻辑 (首先→然后→接着→最后)</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结果必须有具体数字 (12.1%, 16.3%, 0.98)</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结论有明确意义收敛</a:t>
            </a:r>
            <a:endParaRPr lang="en-US" sz="1100" dirty="0"/>
          </a:p>
        </p:txBody>
      </p:sp>
      <p:sp>
        <p:nvSpPr>
          <p:cNvPr id="9" name="Shape 7"/>
          <p:cNvSpPr/>
          <p:nvPr/>
        </p:nvSpPr>
        <p:spPr>
          <a:xfrm>
            <a:off x="4663440" y="1097280"/>
            <a:ext cx="4023360" cy="1463040"/>
          </a:xfrm>
          <a:prstGeom prst="rect">
            <a:avLst>
              <a:gd name="adj" fmla="val 5000"/>
            </a:avLst>
          </a:prstGeom>
          <a:solidFill>
            <a:srgbClr val="F8FAFC"/>
          </a:solidFill>
          <a:ln/>
        </p:spPr>
      </p:sp>
      <p:sp>
        <p:nvSpPr>
          <p:cNvPr id="10" name="Shape 8"/>
          <p:cNvSpPr/>
          <p:nvPr/>
        </p:nvSpPr>
        <p:spPr>
          <a:xfrm>
            <a:off x="4663440" y="1097280"/>
            <a:ext cx="4023360" cy="45720"/>
          </a:xfrm>
          <a:prstGeom prst="rect">
            <a:avLst/>
          </a:prstGeom>
          <a:solidFill>
            <a:srgbClr val="1E3A5F"/>
          </a:solidFill>
          <a:ln/>
        </p:spPr>
      </p:sp>
      <p:sp>
        <p:nvSpPr>
          <p:cNvPr id="11" name="Text 9"/>
          <p:cNvSpPr/>
          <p:nvPr/>
        </p:nvSpPr>
        <p:spPr>
          <a:xfrm>
            <a:off x="4846320" y="1234440"/>
            <a:ext cx="365760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引 言 (Introduction)</a:t>
            </a:r>
            <a:endParaRPr lang="en-US" sz="1500" dirty="0"/>
          </a:p>
        </p:txBody>
      </p:sp>
      <p:sp>
        <p:nvSpPr>
          <p:cNvPr id="12" name="Text 10"/>
          <p:cNvSpPr/>
          <p:nvPr/>
        </p:nvSpPr>
        <p:spPr>
          <a:xfrm>
            <a:off x="4846320" y="1600200"/>
            <a:ext cx="3657600" cy="82296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第1段：大问题背景 (2-3句)</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第2段：具体挑战与现有方法不足</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第3段：本文方法与核心创新</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第4段：主要贡献 (1, 2, 3列举)</a:t>
            </a:r>
            <a:endParaRPr lang="en-US" sz="1100" dirty="0"/>
          </a:p>
        </p:txBody>
      </p:sp>
      <p:sp>
        <p:nvSpPr>
          <p:cNvPr id="13" name="Shape 11"/>
          <p:cNvSpPr/>
          <p:nvPr/>
        </p:nvSpPr>
        <p:spPr>
          <a:xfrm>
            <a:off x="457200" y="2834640"/>
            <a:ext cx="4023360" cy="1463040"/>
          </a:xfrm>
          <a:prstGeom prst="rect">
            <a:avLst>
              <a:gd name="adj" fmla="val 5000"/>
            </a:avLst>
          </a:prstGeom>
          <a:solidFill>
            <a:srgbClr val="F8FAFC"/>
          </a:solidFill>
          <a:ln/>
        </p:spPr>
      </p:sp>
      <p:sp>
        <p:nvSpPr>
          <p:cNvPr id="14" name="Shape 12"/>
          <p:cNvSpPr/>
          <p:nvPr/>
        </p:nvSpPr>
        <p:spPr>
          <a:xfrm>
            <a:off x="457200" y="2834640"/>
            <a:ext cx="4023360" cy="45720"/>
          </a:xfrm>
          <a:prstGeom prst="rect">
            <a:avLst/>
          </a:prstGeom>
          <a:solidFill>
            <a:srgbClr val="059669"/>
          </a:solidFill>
          <a:ln/>
        </p:spPr>
      </p:sp>
      <p:sp>
        <p:nvSpPr>
          <p:cNvPr id="15" name="Text 13"/>
          <p:cNvSpPr/>
          <p:nvPr/>
        </p:nvSpPr>
        <p:spPr>
          <a:xfrm>
            <a:off x="640080" y="2971800"/>
            <a:ext cx="365760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方 法 (Method)</a:t>
            </a:r>
            <a:endParaRPr lang="en-US" sz="1500" dirty="0"/>
          </a:p>
        </p:txBody>
      </p:sp>
      <p:sp>
        <p:nvSpPr>
          <p:cNvPr id="16" name="Text 14"/>
          <p:cNvSpPr/>
          <p:nvPr/>
        </p:nvSpPr>
        <p:spPr>
          <a:xfrm>
            <a:off x="640080" y="3337560"/>
            <a:ext cx="3657600" cy="82296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每个模块前写"设计动机"段落</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公式要有清晰符号定义表</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网络结构图 + 算法伪代码</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避免公式堆砌无解释</a:t>
            </a:r>
            <a:endParaRPr lang="en-US" sz="1100" dirty="0"/>
          </a:p>
        </p:txBody>
      </p:sp>
      <p:sp>
        <p:nvSpPr>
          <p:cNvPr id="17" name="Shape 15"/>
          <p:cNvSpPr/>
          <p:nvPr/>
        </p:nvSpPr>
        <p:spPr>
          <a:xfrm>
            <a:off x="4663440" y="2834640"/>
            <a:ext cx="4023360" cy="1463040"/>
          </a:xfrm>
          <a:prstGeom prst="rect">
            <a:avLst>
              <a:gd name="adj" fmla="val 5000"/>
            </a:avLst>
          </a:prstGeom>
          <a:solidFill>
            <a:srgbClr val="F8FAFC"/>
          </a:solidFill>
          <a:ln/>
        </p:spPr>
      </p:sp>
      <p:sp>
        <p:nvSpPr>
          <p:cNvPr id="18" name="Shape 16"/>
          <p:cNvSpPr/>
          <p:nvPr/>
        </p:nvSpPr>
        <p:spPr>
          <a:xfrm>
            <a:off x="4663440" y="2834640"/>
            <a:ext cx="4023360" cy="45720"/>
          </a:xfrm>
          <a:prstGeom prst="rect">
            <a:avLst/>
          </a:prstGeom>
          <a:solidFill>
            <a:srgbClr val="7C3AED"/>
          </a:solidFill>
          <a:ln/>
        </p:spPr>
      </p:sp>
      <p:sp>
        <p:nvSpPr>
          <p:cNvPr id="19" name="Text 17"/>
          <p:cNvSpPr/>
          <p:nvPr/>
        </p:nvSpPr>
        <p:spPr>
          <a:xfrm>
            <a:off x="4846320" y="2971800"/>
            <a:ext cx="3657600" cy="365760"/>
          </a:xfrm>
          <a:prstGeom prst="rect">
            <a:avLst/>
          </a:prstGeom>
          <a:noFill/>
          <a:ln/>
        </p:spPr>
        <p:txBody>
          <a:bodyPr wrap="square" lIns="0" tIns="0" rIns="0" bIns="0" rtlCol="0" anchor="ctr"/>
          <a:lstStyle/>
          <a:p>
            <a:pPr indent="0" marL="0">
              <a:buNone/>
            </a:pPr>
            <a:r>
              <a:rPr lang="en-US" sz="1500" b="1" dirty="0">
                <a:solidFill>
                  <a:srgbClr val="1B2838"/>
                </a:solidFill>
                <a:latin typeface="Microsoft YaHei" pitchFamily="34" charset="0"/>
                <a:ea typeface="Microsoft YaHei" pitchFamily="34" charset="-122"/>
                <a:cs typeface="Microsoft YaHei" pitchFamily="34" charset="-120"/>
              </a:rPr>
              <a:t>实 验 (Experiment)</a:t>
            </a:r>
            <a:endParaRPr lang="en-US" sz="1500" dirty="0"/>
          </a:p>
        </p:txBody>
      </p:sp>
      <p:sp>
        <p:nvSpPr>
          <p:cNvPr id="20" name="Text 18"/>
          <p:cNvSpPr/>
          <p:nvPr/>
        </p:nvSpPr>
        <p:spPr>
          <a:xfrm>
            <a:off x="4846320" y="3337560"/>
            <a:ext cx="3657600" cy="822960"/>
          </a:xfrm>
          <a:prstGeom prst="rect">
            <a:avLst/>
          </a:prstGeom>
          <a:noFill/>
          <a:ln/>
        </p:spPr>
        <p:txBody>
          <a:bodyPr wrap="square" lIns="0" tIns="0" rIns="0" bIns="0" rtlCol="0" anchor="t"/>
          <a:lstStyle/>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结果段结构：结论→数字→解释</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消融实验验证每个模块贡献</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统计显著性 (多次运行+误差棒)</a:t>
            </a:r>
            <a:endParaRPr lang="en-US" sz="1100" dirty="0"/>
          </a:p>
          <a:p>
            <a:pPr indent="0" marL="0">
              <a:spcAft>
                <a:spcPts val="400"/>
              </a:spcAft>
              <a:buNone/>
            </a:pPr>
            <a:r>
              <a:rPr lang="en-US" sz="1100" dirty="0">
                <a:solidFill>
                  <a:srgbClr val="334155"/>
                </a:solidFill>
                <a:latin typeface="Microsoft YaHei" pitchFamily="34" charset="0"/>
                <a:ea typeface="Microsoft YaHei" pitchFamily="34" charset="-122"/>
                <a:cs typeface="Microsoft YaHei" pitchFamily="34" charset="-120"/>
              </a:rPr>
              <a:t>✔ 与SOTA方法的公平对比</a:t>
            </a:r>
            <a:endParaRPr lang="en-US" sz="1100" dirty="0"/>
          </a:p>
        </p:txBody>
      </p:sp>
      <p:sp>
        <p:nvSpPr>
          <p:cNvPr id="21"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838"/>
        </a:solidFill>
      </p:bgPr>
    </p:bg>
    <p:spTree>
      <p:nvGrpSpPr>
        <p:cNvPr id="1" name=""/>
        <p:cNvGrpSpPr/>
        <p:nvPr/>
      </p:nvGrpSpPr>
      <p:grpSpPr>
        <a:xfrm>
          <a:off x="0" y="0"/>
          <a:ext cx="0" cy="0"/>
          <a:chOff x="0" y="0"/>
          <a:chExt cx="0" cy="0"/>
        </a:xfrm>
      </p:grpSpPr>
      <p:sp>
        <p:nvSpPr>
          <p:cNvPr id="2" name="Text 0"/>
          <p:cNvSpPr/>
          <p:nvPr/>
        </p:nvSpPr>
        <p:spPr>
          <a:xfrm>
            <a:off x="914400" y="1645920"/>
            <a:ext cx="7315200" cy="914400"/>
          </a:xfrm>
          <a:prstGeom prst="rect">
            <a:avLst/>
          </a:prstGeom>
          <a:noFill/>
          <a:ln/>
        </p:spPr>
        <p:txBody>
          <a:bodyPr wrap="square" lIns="0" tIns="0" rIns="0" bIns="0" rtlCol="0" anchor="ctr"/>
          <a:lstStyle/>
          <a:p>
            <a:pPr algn="ctr" indent="0" marL="0">
              <a:buNone/>
            </a:pPr>
            <a:r>
              <a:rPr lang="en-US" sz="4000" b="1" dirty="0">
                <a:solidFill>
                  <a:srgbClr val="FFFFFF"/>
                </a:solidFill>
                <a:latin typeface="Microsoft YaHei" pitchFamily="34" charset="0"/>
                <a:ea typeface="Microsoft YaHei" pitchFamily="34" charset="-122"/>
                <a:cs typeface="Microsoft YaHei" pitchFamily="34" charset="-120"/>
              </a:rPr>
              <a:t>谢谢！欢迎讨论</a:t>
            </a:r>
            <a:endParaRPr lang="en-US" sz="4000" dirty="0"/>
          </a:p>
        </p:txBody>
      </p:sp>
      <p:sp>
        <p:nvSpPr>
          <p:cNvPr id="3" name="Shape 1"/>
          <p:cNvSpPr/>
          <p:nvPr/>
        </p:nvSpPr>
        <p:spPr>
          <a:xfrm>
            <a:off x="3200400" y="2651760"/>
            <a:ext cx="2743200" cy="36576"/>
          </a:xfrm>
          <a:prstGeom prst="rect">
            <a:avLst/>
          </a:prstGeom>
          <a:solidFill>
            <a:srgbClr val="0D9488"/>
          </a:solidFill>
          <a:ln/>
        </p:spPr>
      </p:sp>
      <p:sp>
        <p:nvSpPr>
          <p:cNvPr id="4" name="Text 2"/>
          <p:cNvSpPr/>
          <p:nvPr/>
        </p:nvSpPr>
        <p:spPr>
          <a:xfrm>
            <a:off x="914400" y="2926080"/>
            <a:ext cx="7315200" cy="822960"/>
          </a:xfrm>
          <a:prstGeom prst="rect">
            <a:avLst/>
          </a:prstGeom>
          <a:noFill/>
          <a:ln/>
        </p:spPr>
        <p:txBody>
          <a:bodyPr wrap="square" lIns="0" tIns="0" rIns="0" bIns="0" rtlCol="0" anchor="ctr"/>
          <a:lstStyle/>
          <a:p>
            <a:pPr algn="ctr" indent="0" marL="0">
              <a:buNone/>
            </a:pPr>
            <a:r>
              <a:rPr lang="en-US" sz="1600" dirty="0">
                <a:solidFill>
                  <a:srgbClr val="64748B"/>
                </a:solidFill>
                <a:latin typeface="Microsoft YaHei" pitchFamily="34" charset="0"/>
                <a:ea typeface="Microsoft YaHei" pitchFamily="34" charset="-122"/>
                <a:cs typeface="Microsoft YaHei" pitchFamily="34" charset="-120"/>
              </a:rPr>
              <a:t>LE-DEGN: 语言赋能动态边中心图网络</a:t>
            </a:r>
            <a:endParaRPr lang="en-US" sz="1600" dirty="0"/>
          </a:p>
          <a:p>
            <a:pPr algn="ctr" indent="0" marL="0">
              <a:buNone/>
            </a:pPr>
            <a:r>
              <a:rPr lang="en-US" sz="1600" dirty="0">
                <a:solidFill>
                  <a:srgbClr val="64748B"/>
                </a:solidFill>
                <a:latin typeface="Microsoft YaHei" pitchFamily="34" charset="0"/>
                <a:ea typeface="Microsoft YaHei" pitchFamily="34" charset="-122"/>
                <a:cs typeface="Microsoft YaHei" pitchFamily="34" charset="-120"/>
              </a:rPr>
              <a:t>混合城市车辆路径优化</a:t>
            </a:r>
            <a:endParaRPr lang="en-US" sz="1600" dirty="0"/>
          </a:p>
        </p:txBody>
      </p:sp>
      <p:sp>
        <p:nvSpPr>
          <p:cNvPr id="5" name="Text 3"/>
          <p:cNvSpPr/>
          <p:nvPr/>
        </p:nvSpPr>
        <p:spPr>
          <a:xfrm>
            <a:off x="914400" y="3931920"/>
            <a:ext cx="7315200" cy="457200"/>
          </a:xfrm>
          <a:prstGeom prst="rect">
            <a:avLst/>
          </a:prstGeom>
          <a:noFill/>
          <a:ln/>
        </p:spPr>
        <p:txBody>
          <a:bodyPr wrap="square" lIns="0" tIns="0" rIns="0" bIns="0" rtlCol="0" anchor="ctr"/>
          <a:lstStyle/>
          <a:p>
            <a:pPr algn="ctr" indent="0" marL="0">
              <a:buNone/>
            </a:pPr>
            <a:r>
              <a:rPr lang="en-US" sz="1400" dirty="0">
                <a:solidFill>
                  <a:srgbClr val="0D9488"/>
                </a:solidFill>
                <a:latin typeface="Arial" pitchFamily="34" charset="0"/>
                <a:ea typeface="Arial" pitchFamily="34" charset="-122"/>
                <a:cs typeface="Arial" pitchFamily="34" charset="-120"/>
              </a:rPr>
              <a:t>Questions &amp; Discussion</a:t>
            </a:r>
            <a:endParaRPr lang="en-US" sz="1400" dirty="0"/>
          </a:p>
        </p:txBody>
      </p:sp>
      <p:sp>
        <p:nvSpPr>
          <p:cNvPr id="6"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学术论文写作规律学习与论文修改计划</dc:title>
  <dc:subject>PptxGenJS Presentation</dc:subject>
  <dc:creator>LE-DEGN Research</dc:creator>
  <cp:lastModifiedBy>LE-DEGN Research</cp:lastModifiedBy>
  <cp:revision>1</cp:revision>
  <dcterms:created xsi:type="dcterms:W3CDTF">2026-06-30T09:50:52Z</dcterms:created>
  <dcterms:modified xsi:type="dcterms:W3CDTF">2026-06-30T09:50:52Z</dcterms:modified>
</cp:coreProperties>
</file>